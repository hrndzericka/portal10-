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RA2. Relacione con el RA1: ya saben qué es la nube; ahora verán cómo se organiza por dentro y cómo se protege cada capa, desde el edificio hasta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ruta del RA2. Cada bloque tiene ejemplos y un caso práctico.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ransomware, uno de los ataques más comunes contra organizaciones en Costa Rica. Pregunte qué medidas habrían evitado el daño: respaldos separados, MFA, parches, capacitación.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Repase la tríada CID con los ejemplos del colegio. Cada control que veremos protege una o varias de estas tres propiedades.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Estudios muestran que si una página tarda más de 3 segundos, muchas personas la abandonan. Rendimiento y seguridad van de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Recalque que la seguridad no es solo un gasto: protege la reputación, que es uno de los activos más valiosos de una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vertical (un carro más potente) de horizontal (más carros). En la nube se prefiere la horizontal porque no tiene límite práctico.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abstracción aparece dos veces en el programa; aquí se trata como concepto de organización y más adelante en relación con la portabilidad.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¿qué tareas repetitivas del laboratorio se podrían automatizar? Por ejemplo, crear 30 VM idénticas con un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el motor de control con la torre de control de un aeropuerto: no vuela los aviones, pero decide quién despega, cuándo y por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controles son también herramientas de seguridad: un cambio brusco en el consumo o el rendimiento suele ser la primera señal de un ataque.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HDDC funciona, pero es rígido y depende mucho del personal. Es el punto de partida para entender el SDDC.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la diferencia: en el HDDC el hardware manda; en el SDDC el software manda y el hardware es genérico e intercambiable.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¿el laboratorio del colegio es más parecido a un HDDC o a un SDDC? (HDDC: equipos físicos configurados a mano).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HCI es como un celular moderno que reemplazó cámara, GPS, reproductor de música y agenda: todo en un solo aparato.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¿qué pasaría si un proveedor sube mucho los precios y no podemos sacar nuestros datos? Por eso la portabilidad es un criterio al elegir proveedor.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Varios gobiernos (por ejemplo EE. UU. y Reino Unido) adoptaron políticas Cloud First. En Costa Rica las instituciones evalúan cada vez más soluciones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tabla de abajo hacia arriba: mientras más subimos de IaaS a SaaS, más capas pasan al proveedor. Pero la fila de datos y usuarios nunca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IaaS requiere personal técnico que sepa administrar servidores.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fugas de datos en apps móviles vienen de bases de datos PaaS mal configuradas.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SaaS la seguridad del cliente es sobre todo gestión de identidades y de permisos.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resumen para el cuaderno. Conecta con el Cotidiano N.º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las 6 fases. En las siguientes diapositivas se sigue un mismo ejemplo por todas las fases: el expediente de un estudiante.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pasaría si no se clasifica el dato: nadie sabría que debe protegerse especialmente.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Recalque que borrar un archivo 'a la papelera' no es destruirlo. En la nube, eliminar la llave de cifrado garantiza que ninguna copia sea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tiempo, muestre en vivo cómo un archivo cifrado con 7-Zip se ve como caracteres sin sentido. Conecta con el Cotidiano N.º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identifiquen el candado en la barra del navegador: significa que los datos viajan cifrados (en tránsito).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hash no es cifrado en sentido estricto porque no se puede revertir. Por eso se usa para guardar contraseñas: el sistema compara hashes, nunca guarda la contraseña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integra los tres tipos: asimétrico, simétrico y hash. Advierta que aun así conviene evitar redes públicas para trámites sensibles o usar VPN.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si pierdo la llave de un archivo cifrado del lado del cliente, ¿puede el proveedor recuperarlo? No. Por eso las llaves también se respaldan de forma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Asegurar la infraestructura es trabajo por capas (defensa en profundidad): si una capa falla, otra detiene el ataque.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el hardening del proyecto CloudSegura CR. Si es posible, muestre en la VM del laboratorio cómo se ven los intentos fallidos de acceso en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en la nube la red también es virtual (SDN) y se administra desde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Dibuje el diagrama en la pizarra: Internet → WAF → subred pública → subred privada.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registros no hay forma de investigar un incidente. Deben estar activados desde el primer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caso ocurre con frecuencia. Muestre que GitHub y los proveedores escanean llaves expuestas, pero la mejor defensa es no subirlas nunca. Conecta con el Cotidiano N.º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como salida de clase o como repaso antes del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los cotidianos 3 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UNDÉCIMO 11°-3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datos e infraestructura en la nube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nube y cómo se asegura, desde el hardware hasta el software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2: Distinguir la forma de organización nube y el aseguramiento desde la infraestructura hasta el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Conceptos clave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Rendimiento, competitividad, escalabilidad, abstracción, automatización, motor de control, HDDC, SDDC, hiperconvergentes, portabilidad, Cloud First.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IaaS · PaaS · SaaS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gestión y la seguridad según el servicio.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Ciclo de vida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almacenar, usar, compartir, archivar y destruir.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Cifrado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reposo, en tránsito y en uso; tipos y gestión de llaves.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Infraestructura y red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la infraestructura y administrar la red.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Gestión y credenciales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gestión y credenciales de administración.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la seguridad de los datos?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lunes, el personal de una clínica no puede abrir ningún expediente: todos los archivos tienen extensión .locked y aparece un mensaje pidiendo dinero en criptomonedas. Los respaldos estaban en el mismo servidor y también quedaron cifrados.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perdió la confidencialidad: los atacantes amenazan con publicar los expedientes.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perdió la integridad: los archivos fueron modificados (cifrados) sin permiso.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perdió la disponibilidad: la clínica no puede atender pacientes.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respaldos cifrados en la nube, separados y con MFA, se habría recuperado en horas.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 datos protege la confidencialidad, la integridad y la disponibilidad (CID).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datos en la nube: conceptos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para entender cómo funciona y se protege la nube.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seguridad de datos en la nube?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conjunto de políticas, tecnologías y controles que protegen la información almacenada, procesada o transmitida en la nube contra accesos no autorizados, pérdida, robo o alteración.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acceden las personas autorizadas. Ej.: solo el médico ve el expediente.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se alteran sin permiso. Ej.: nadie cambia una nota en el sistema.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están accesibles cuando se necesitan. Ej.: la matrícula funciona el día de matrícula.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en la nube es compartida: el proveedor protege la infraestructura y el cliente protege sus datos, accesos y configuraciones.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es la capacidad de un servicio de responder rápido y procesar el trabajo a tiempo. Se mide con indicadores como la latencia, el tiempo de respuesta, el ancho de banda y las operaciones por segundo.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que tarda un dato en ir y volver (ms). Menos es mejor.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 una página en cargar.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seguridad: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DDoS satura el servicio y destruye el rendimiento.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de seguridad (cifrado, antivirus) no deben volver lento el sistema.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en línea nota que su página tarda 12 segundos en cargar. Al revisar, descubre miles de peticiones falsas desde otros países: es un ataque DDoS. Activa la protección anti-DDoS del proveedor y vuelve a 1 segundo.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Competitividad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ventaja que obtiene una organización frente a otras al usar la nube: reduce costos, lanza productos más rápido y llega a más clientes. La seguridad es parte de esa ventaja porque genera confianza.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compra servidores: invierte ese dinero en su negocio.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un servicio nuevo en días, no en meses.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a todo el país o al mundo desde una página web.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prefiere la empresa que protege sus datos.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tiendas de electrónica compiten en línea. Una sufrió una fuga de tarjetas y salió en las noticias; la otra usa pagos cifrados y MFA. Los clientes se van con la segunda: la seguridad se convirtió en ventaja competitiva.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capacidad de aumentar o disminuir los recursos según la demanda, sin dejar de funcionar bien.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(scale up):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más potencia al mismo servidor: más CPU o más RAM.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(scale out):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más servidores iguales y repartir el trabajo.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(autoscaling):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agrega o quita servidores sola según reglas.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servidor nuevo debe nacer ya protegido (misma imagen segura y reglas).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matrícula universitario tiene 2 servidores. El día de matrícula, la regla de autoscaling agrega 8 más cuando la CPU pasa del 70 %, y en la noche los apaga. Todos usan la misma imagen segura.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Abstracción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abstracción consiste en ocultar la complejidad del hardware físico y mostrarle al usuario recursos lógicos simples: 'una máquina virtual', 'un disco de 100 GB', 'una base de datos'.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oculta: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 los servidores, cables, discos físicos, ubicación exacta.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 el usuario: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menú sencillo para crear y usar recursos.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usar la nube sin ser experto en hardware.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de seguridad: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cliente no ve el hardware, depende de los controles del proveedor y del SLA.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manejar un carro usamos volante, pedales y palanca. No necesitamos saber cómo funciona la inyección del motor: eso está abstraído. En la nube pedimos '1 VM con 4 GB' y no vemos el servidor físico.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ejecutar tareas sin intervención humana mediante scripts, reglas o herramientas: crear servidores, aplicar parches, hacer respaldos o responder a alertas.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se describe en un archivo (Terraform) y se crea igual siempre.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automáticos: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servidores se actualizan solos en un horario definido.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programados: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diarias sin que nadie lo recuerde.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errores humanos de configuración, una de las causas principales de incidentes.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 a las 2:00 a. m. una regla hace un respaldo cifrado de la base de datos del colegio y lo guarda en otra región. Si un día el respaldo falla, se envía un correo automático al encargado.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control para la gestión de datos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plataforma central (plano de control u orquestador) que administra los recursos y los datos de la nube: decide dónde se guardan, cuántas copias hay, quién accede y qué políticas se aplican.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eliminar recursos, replicar datos, aplicar políticas de acceso y de retención.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vCenter, OpenStack, la consola y APIs de AWS o Azure.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uniformes: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('cifrar todo disco nuevo') se aplica a todos los recursos.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controla el motor controla todo: debe protegerse con MFA y mínimo privilegio.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encargado de TI define en la consola: 'todos los archivos etiquetados como confidencial se cifran, se replican en 2 zonas y solo los ve el grupo Administración'. El motor aplica la regla a miles de archivos automáticamente.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consumo y control de rendimiento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4754880"/>
          </a:xfrm>
          <a:prstGeom prst="roundRect">
            <a:avLst>
              <a:gd name="adj" fmla="val 230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consumo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495284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y limita el uso de CPU, almacenamiento, tráfico y dinero. Se usan presupuestos y alertas. Ej.: alerta si la cuenta del colegio pasa de $50 al mes; un consumo anormal puede ser una cuenta robada usada para criptominería.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233008" y="1417320"/>
            <a:ext cx="5410048" cy="4754880"/>
          </a:xfrm>
          <a:prstGeom prst="roundRect">
            <a:avLst>
              <a:gd name="adj" fmla="val 230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7408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rendimiento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461608" y="2331720"/>
            <a:ext cx="495284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métricas como tiempo de respuesta, uso de CPU y disponibilidad para cumplir el SLA. Ej.: si la web tarda más de 3 s o la CPU pasa del 80 %, se envía una alerta. Herramientas: CloudWatch, Azure Monitor.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HDDC: centro de datos definido por hardware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Hardware-Defined Data Center es el centro de datos tradicional: cada función depende de un equipo físico específico, configurado manualmente.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y routers físicos configurados uno por uno.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físicos en la entrada de la red.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cabinas de discos dedicadas.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lentos: comprar, instalar y cablear equipo nuevo.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necesita separar la red de contabilidad. En su HDDC el técnico compra un switch, lo instala en el rack, pasa cables y configura el firewall a mano: tarda dos semanas.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SDDC: centro de datos definido por software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Data Center es un centro de datos donde el cómputo, el almacenamiento, la red y la seguridad están virtualizados y se controlan por software desde una consola central.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virtuales sobre hipervisores.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definida por software (SDN):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y firewalls virtuales creados con clics.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definido por software: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 de muchos servidores vistos como uno.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 y políticas automáticas por carga de trabajo.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empresa, con un SDDC, crea la red separada de contabilidad y su firewall virtual desde la consola en 10 minutos, sin tocar un solo cable. La nube pública es un gran SDDC.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HDDC vs. SDDC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HDDC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= un aparato físico.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manual, equipo por equipo.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semanas.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el perímetro (firewall de entrada).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proveedor de cada aparato.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SDDC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virtualizado y controlado por software.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central y automatizada.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minutos.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Microsegmentación: seguridad en cada carga.</a:t>
            </a:r>
            <a:endParaRPr lang="en-US" sz="19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genérico e intercambiable.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hiperconvergentes (HCI)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hiperconvergente integra cómputo, almacenamiento y red virtualizados en un mismo equipo (nodo). Varios nodos forman un clúster que se administra desde una sola consola.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+ cabina de discos + switches de almacenamiento por separado.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HCI: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trae todo; para crecer, se agrega otro nodo.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Nutanix, VMware vSAN, Azure Stack HCI.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componentes que proteger; si un nodo falla, los otros asumen la carga.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hospital regional reemplaza 10 equipos distintos por 3 nodos hiperconvergentes. Cuando un nodo se daña, los expedientes siguen disponibles en los otros dos mientras se repara.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Portabilidad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capacidad de mover datos y aplicaciones de un proveedor o entorno a otro sin tener que rehacerlos. Evita la dependencia de un solo proveedor (lock-in).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de datos: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la información en formatos estándar (CSV, JSON, SQL).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de aplicaciones: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y estándares abiertos que corren en cualquier nube.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abstracción: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app no depende de un hardware específico, se mueve fácilmente.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indicar cómo se devuelven los datos al terminar.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tiene su tienda en contenedores Docker en AWS. Azure le ofrece un mejor precio y en un fin de semana mueve los mismos contenedores sin reprogramar nada.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First (primero la nube)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estrategia en la que toda solución tecnológica nueva se evalúa primero para implementarse en la nube, y solo se usa infraestructura propia si hay una razón justificada.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en la nube? en lugar de ¿por qué sí?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rapidez, menos inversión en equipos, estándares comunes.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 de ubicación de datos, costos muy altos a largo plazo, sistemas antiguos.</a:t>
            </a:r>
            <a:endParaRPr lang="en-US" sz="2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buNone/>
            </a:pPr>
            <a:r>
              <a:rPr lang="en-US" sz="2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definir políticas de seguridad en la nube desde el diseño.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ministerio adopta Cloud First: antes de comprar servidores para un nuevo sistema de citas, el equipo debe justificar por qué no usar un servicio en la nube. Terminan usando SaaS y ahorran la compra.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según los servicios de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 y SaaS: quién administra y quién protege cada capa.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administra cada capa?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sitio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usuarios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/ middleware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operativo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Servidores, almacenamiento y red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Instalaciones físicas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los usuarios SIEMPRE son responsabilidad del cliente.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en IaaS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IaaS la organización alquila infraestructura y administra casi todo lo demás. Es el modelo con más control y más responsabilidad de seguridad para el cliente.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gestiona: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operativo, parches, antivirus, firewall de la VM, aplicaciones, usuarios y datos.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gestiona: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red física, hipervisor y data center.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del cliente: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seguridad, cifrado de discos, respaldos, monitoreo.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tiene su ERP en una VM de AWS. Sale un parche crítico de Windows Server: aplicarlo es responsabilidad de la empresa, no de AWS. Si no lo hace y la atacan, la culpa es suya.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en PaaS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PaaS el proveedor administra la plataforma y el cliente se concentra en su código y sus datos.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gestiona: </a:t>
            </a:r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seguro, dependencias, llaves y secretos, usuarios de la app y datos.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gestiona: </a:t>
            </a:r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operativo, parches, servidor web, base de datos administrada, escalado.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del cliente: </a:t>
            </a:r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entradas, no guardar contraseñas en el código, revisar permisos.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estudiantes publican una app en Firebase y dejan las reglas de la base de datos abiertas ('cualquiera puede leer y escribir'). Firebase funciona perfecto, pero cualquiera puede borrar los datos: el error es de configuración del cliente.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en SaaS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SaaS el proveedor administra toda la aplicación. El cliente gestiona su cuenta: quién entra, qué ve y qué comparte.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gestiona: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contraseñas, MFA, roles, permisos de compartir y qué datos sube.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gestiona: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aplicación, servidores, actualizaciones, disponibilidad.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del cliente: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MFA, revisar enlaces públicos, dar de baja cuentas de exfuncionarios.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docente se traslada de colegio, pero su cuenta institucional sigue activa con acceso a las notas de 200 estudiantes. Dar de baja esa cuenta es responsabilidad del colegio (cliente), no de Google.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seguridad del cliente según el servicio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de la pizza: IaaS = te alquilan la cocina · PaaS = masa y horno listos · SaaS = pizza a domicilio.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servidores, red y almacenamiento.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SO, parches, antivirus, firewall, cifrado de discos.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AWS EC2, Azure VM.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plataforma lista para su código.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código seguro, llaves y secretos, reglas de acceso.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App Engine, Heroku, Firebase.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aplicación completa.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contraseñas, MFA, permisos, qué datos sube.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Gmail, Microsoft 365, Zoom.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en la seguridad de los datos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fases, cada una con sus propios controles.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los datos (CSA)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la Cloud Security Alliance (CSA): el dato se protege durante toda su vida, no solo cuando se guarda.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(público, interno, confidencial), etiquetar y asignar un dueño.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38218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6818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681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35498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5435498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reposo, control de accesos y respaldos.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127797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56397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56397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225077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225077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mínimo privilegio y registros de actividad.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48056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HTTPS/TLS, prevención de fuga (DLP) y enlaces que caducan.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4338218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66818" y="448056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66818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435498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Archivar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435498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seguro y económico con retención legal.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8127797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56397" y="448056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56397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225077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9225077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seguro o destrucción criptográfica de la llave.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el expediente de un estudiante (fases 1–3)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se matricula en el colegio. La orientadora crea su expediente con datos personales, notas, información médica y datos de sus encargados, y lo guarda en el sistema en la nube del colegio.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Crear: el expediente se clasifica como CONFIDENCIAL y se asigna a Orientación como dueña.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74320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78892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Almacenar: se guarda cifrado (AES-256) en una carpeta con acceso solo para Orientación y Dirección; se respalda cada noche.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92040" y="406908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443484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411480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Usar: los docentes solo ven las notas de su materia; cada acceso queda registrado (quién, cuándo, qué).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responde a la pregunta: ¿qué puede salir mal aquí y cómo lo evito?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el expediente de un estudiante (fases 4–6)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termina el colegio. Durante sus años se compartió información con el MEP y con la familia; ahora el expediente debe conservarse unos años por ley y después eliminarse.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Compartir: se envía al MEP por un sistema con HTTPS; a la familia, por el portal con usuario y MFA, nunca por WhatsApp.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74320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78892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Archivar: al graduarse pasa a un almacenamiento de archivo, cifrado, de solo lectura y más barato, durante el plazo legal.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92040" y="406908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443484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411480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Destruir: al vencer el plazo se elimina con borrado seguro y se destruye la llave de cifrado; se deja constancia.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destrucción criptográfica (eliminar la llave) hace ilegible el dato aunque quede alguna copia.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cifrado de datos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tiene la llave tiene los datos.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cifrar?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es transformar información legible (texto plano) en información ilegible (texto cifrado) usando un algoritmo y una llave. Solo quien tiene la llave correcta puede descifrarla.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95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cifrado: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U2FsdGVkX1+8bQk3… (ilegible sin la llave)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 matemática (ej. AES).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 que abre el candado; debe protegerse.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una carta en una caja fuerte: aunque alguien robe la caja en el camino, no puede leer la carta sin la combinación.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 los datos y cómo se cifran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guardados en discos, bases de datos y respaldos. Se usa AES-256.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el disco de la VM y los respaldos del colegio cifrados.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viajando por la red. Se usa HTTPS con TLS 1.2/1.3 o VPN.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el candado del navegador al entrar a Classroom.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uso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mientras se procesan en la memoria. Computación confidencial y enclaves seguros.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bancos que procesan datos sin exponerlos ni al proveedor.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cifrado</a:t>
            </a:r>
            <a:endParaRPr lang="en-US" sz="3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19456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la nube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Simétrico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llave cifra y descifra; muy rápido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AES-128, AES-256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Discos, bases de datos, archivos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Asimétrico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Llave pública cifra; llave privada descifra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RSA, ECC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SSH, firmas digitales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Huella única e irreversible del dato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SHA-256, bcrypt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Contraseñas, verificar integridad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¿cómo viaja tu contraseña por HTTPS?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entra a su cuenta institucional desde la red Wi-Fi pública de un centro comercial. Alguien en la misma red intenta capturar el tráfico para robar contraseñas.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y el servidor se saludan; el servidor envía su certificado con su llave pública (asimétrico).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Acuerdan una llave de sesión secreta usando cifrado asimétrico.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(usuario, contraseña, páginas) viaja cifrado con AES usando esa llave (simétrico).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guarda solo el hash de la contraseña; el atacante en el Wi-Fi solo ve datos ilegibles.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combina los dos tipos: asimétrico para acordar la llave y simétrico para la velocidad.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llaves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nunca guardar llaves dentro del código ni junto a los datos que protegen.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del proveedor que crea, guarda y rota llaves. Ej.: AWS KMS, Azure Key Vault, Google Cloud KMS.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33008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6160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47408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hardware a prueba de manipulación que protege las llaves más críticas. Ej.: bancos.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548640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6003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"Trae tu propia llave": el cliente genera la llave y la carga al proveedor para tener más control.</a:t>
            </a:r>
            <a:endParaRPr lang="en-US" sz="1750" dirty="0"/>
          </a:p>
        </p:txBody>
      </p:sp>
      <p:sp>
        <p:nvSpPr>
          <p:cNvPr id="21" name="Shape 15"/>
          <p:cNvSpPr/>
          <p:nvPr/>
        </p:nvSpPr>
        <p:spPr>
          <a:xfrm>
            <a:off x="6233008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61608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460034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47408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del lado del cliente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61608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cifran antes de subirlos: el proveedor nunca ve el contenido. Ej.: 7-Zip con AES-256.</a:t>
            </a:r>
            <a:endParaRPr lang="en-US" sz="1750" dirty="0"/>
          </a:p>
        </p:txBody>
      </p:sp>
      <p:sp>
        <p:nvSpPr>
          <p:cNvPr id="26" name="Text 19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la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red, interfaces de gestión y credenciales.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Asegurando la infraestructura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física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cámaras, guardas y energía redundante. Responsabilidad del proveedor.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servicios innecesarios, cambiar claves por defecto y aplicar parches.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estricto entre VM de distintos clientes.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seguras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aprobadas para crear servidores ya protegidos.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Antimalware y EDR en cada servidor.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centralizados en un SIEM y respaldos en varias zonas.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hardening de un servidor nuevo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crea una VM con Ubuntu en la nube para su sitio web. Viene con el usuario por defecto, el puerto SSH abierto a todo Internet y sin actualizaciones. En menos de una hora empieza a recibir intentos de acceso de robots.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sistema y activar parches automáticos.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usuario propio, deshabilitar el acceso directo como root y usar llaves SSH en lugar de contraseña.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todos los puertos excepto 443 (HTTPS); SSH solo desde la IP del colegio o por bastion host.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antimalware y enviar los registros al monitoreo central.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sin hardening expuesto a Internet es atacado en minutos por programas automáticos.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la red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VNet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privada y aislada del cliente dentro de la nube.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pública (servidor web) y privada (base de datos).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y WAF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tráfico necesario (ej. puerto 443); el WAF frena inyección SQL y XSS.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Anti-DDoS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saturación del servicio.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enlace dedicado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 oficina con la nube de forma cifrada.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Microsegmentación: nunca confiar, siempre verificar.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37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red segura de una tienda en línea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en línea tiene un servidor web, una base de datos con clientes y un panel de administración. Hoy todo está en la misma red y la base de datos acepta conexiones desde Internet.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VPC con dos subredes: pública (servidor web) y privada (base de datos, sin acceso desde Internet).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Internet solo llega al puerto 443 del servidor web; la base de datos solo acepta conexiones del servidor web.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delante del sitio para bloquear inyección SQL; protección anti-DDoS activada.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 administración solo es accesible por VPN y con MFA.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la red limita el daño: si atacan el servidor web, la base de datos sigue aislada.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38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de gestión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medios para administrar los recursos de la nube: consola web, línea de comandos (CLI), APIs y SDK. Dan control total, por eso son el objetivo favorito de los atacantes.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HTTPS y, si es posible, desde redes o IP autorizadas.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queda registrada (AWS CloudTrail, Azure Activity Log).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corta duración y con permisos mínimos para las APIs.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punto de entrada protegido en vez de exponer SSH o RDP.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actividad muestra que a las 3:00 a. m. alguien desde otro país intentó borrar respaldos usando la consola. Gracias a MFA el intento falló y la alerta avisó al encargado.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39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Credenciales de administración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cuentas y llaves con permisos para administrar la nube. Si un atacante las obtiene, controla todo; por eso requieren la mayor protección.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root: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usarla en el día a día; protegerla con MFA y guardarla.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para todos los administradores.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solo con los permisos que necesita (roles IAM).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en un gestor de secretos, rotadas; nunca en el código ni en GitHub.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revocar accesos el mismo día que alguien sale de la organización.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practicante sube a GitHub un proyecto con la llave de administrador. En minutos, robots que buscan llaves la encuentran y crean servidores para minar criptomonedas. La factura llega a miles de dólares.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40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HDDC y SDDC? Dé un ejemplo.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4528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sistema hiperconvergente?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IaaS, ¿quién aplica los parches del sistema operativo?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 las 6 fases del ciclo de vida de los datos con un control.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al cifrado simétrico del asimétrico?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5888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3 buenas prácticas para credenciales de administración.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41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5029200" cy="5029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SDDC e hiperconvergencia: la infraestructura se controla por software.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IaaS a SaaS el cliente administra menos, pero sus datos siempre son su responsabilidad.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protege en todo su ciclo de vida.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en reposo y en tránsito; proteger las llaves.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mínimo privilegio + registros = base de la seguridad.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RA2 Seguridad de datos e infraestructura</dc:title>
  <dc:subject>PptxGenJS Presentation</dc:subject>
  <dc:creator>Ciberseguridad 11°-3</dc:creator>
  <cp:lastModifiedBy>Ciberseguridad 11°-3</cp:lastModifiedBy>
  <cp:revision>1</cp:revision>
  <dcterms:created xsi:type="dcterms:W3CDTF">2026-09-29T14:48:58Z</dcterms:created>
  <dcterms:modified xsi:type="dcterms:W3CDTF">2026-09-29T14:48:58Z</dcterms:modified>
</cp:coreProperties>
</file>