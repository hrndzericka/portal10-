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 el resultado de aprendizaje. Pregunte al grupo: ¿quién ha usado la nube hoy? La mayoría respondrá que no, aunque revisaron WhatsApp, Instagram o Google Drive. Use esa respuesta para mostrar que la nube está en todo lo que hacen.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hoja de ruta de la unidad. Cada bloque corresponde a un apartado del programa. Al final de cada bloque hay ejemplos y un caso práctico.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de enganche. Pida a los estudiantes que hagan su propia lista de servicios en la nube que usaron hoy. Pregunte: si se les pierde el celular, ¿qué recuperan y qué pierden? Lo que recuperan estaba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Recalque las tres ideas: acceso por Internet, bajo demanda y pago por uso. La analogía de la electricidad la propuso John McCarthy en 1961 y sigue siendo la mejor forma de explicarla.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la comparación antes/después para que entiendan por qué las empresas migran a la nube: rapidez, flexibilidad y cero inversión inicial en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Pida a los estudiantes que clasifiquen servicios que usan: Netflix (suscripción), Instagram (publicidad), Dropbox (freemium). Haga notar que cuando el servicio es gratis, normalmente el producto son nuestros datos o nuestra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Haga el cálculo con el grupo en la pizarra. Pregunte en qué caso convendría el servidor propio: cuando el uso es constante y muy alto durante muchos años, o cuando la ley exige tener los datos en sitio.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es posible, muestre VirtualBox en vivo. Deje claro el vocabulario host / guest / hipervisor, porque se usa en todo el resto de la unidad y en el cotidiano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Dibuje las capas en la pizarra como pisos de un edificio. El hipervisor es el administrador del edificio que asigna los apartamentos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por qué los programadores aman los contenedores: se acabó el 'en mi computadora sí funcionaba'. Netflix, Spotify y Mercado Libre ejecutan miles de contenedores.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reflexión: si necesito correr Windows y Linux en la misma computadora, ¿VM o contenedor? (VM, porque el contenedor comparte el kernel del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 un ejemplo real: al abrir Waze, la app consulta APIs de mapas, tráfico y reportes. Si hay tiempo, abra en el navegador una API pública del clima para que vean la respuesta en formato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Insista en que el cliente no puede delegar todo al proveedor: la configuración y los accesos son su responsabilidad.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Haga el cálculo del SLA: un mes tiene unos 43 200 minutos; el 0,1 % son 43 minutos. Si el proveedor se cae más, debe compensar al cliente con créditos.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tipo de fuga por mala configuración es la causa más común de incidentes en la nube. Mencione que también existen el bróker (intermediario), el auditor y el portador de red como otros roles del modelo NIST.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Recalque que la virtualización es la base de la nube: sin ella los proveedores no podrían dividir sus centros de datos entre millones de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Truco para recordar: tipo 1 = va de primero sobre el hardware; tipo 2 = va de segundo, encima del sistema operativo.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con un equipo de fútbol: si un jugador se lesiona, entra otro y el partido sigue. Las supercomputadoras también son clústeres gigantes.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 fotos de un CPD si es posible. Explique la clasificación Tier (I a IV) como medida de cuánto tiempo puede estar caído al año: un Tier IV casi nunca se detiene.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Aclare que CPD y data center significan lo mismo; el programa los menciona por separado para que conozcan ambos términos.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CRM se menciona en el programa porque es uno de los primeros programas empresariales que migró a la nube (Salesforce, 1999).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términos aparecerán en lecturas y en los cotidianos. Pida a los estudiantes que construyan un glosario.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virtualización nació porque los mainframes eran carísimos y había que compartirlos. Luego volvió con fuerza en los 2000 porque las empresas tenían cientos de servidores usando solo el 10–15 % de su capacidad.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numérico: una empresa con 10 servidores físicos al 15 % puede pasar a 2 servidores físicos con 5 VM cada uno. Ahorra 8 equipos, su electricidad y su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Pida que den un ejemplo del colegio para cada tipo. La VLAN es un ejemplo muy cercano: la red de estudiantes y la de administración van por el mismo cable pero separadas lógicamente.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Resuma: la nube es virtualización + automatización + Internet + un modelo de cobro por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VMware es la opción más común en bancos y empresas grandes de Costa Rica. Workstation Pro es gratuito para uso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Resalte que el código abierto permitió que la nube naciera con costos bajos. AWS luego desarrolló su propio hipervisor (Nitro).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 dónde se activa: Panel de control, Activar o desactivar características de Windows, Hyper-V (requiere Windows 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Conecte con el cotidiano 1. Recomiende 2 GB de RAM y 20 GB de disco para una distribución ligera como Lubuntu.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PC es parte de la historia: sirve para entender por qué existe la compatibilidad hacia atrás y cómo evolucionó Hyper-V.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rápida: ¿qué software recomendarían a un colegio, a un banco y a un estudiante en su casa? (VirtualBox o Hyper-V; VMware; VirtualBox).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NIST (Instituto Nacional de Estándares y Tecnología de EE. UU.) publicó en 2011 la definición oficial con estas 5 características. Si un servicio no las cumple, no es realmente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creó AWS porque tenía una infraestructura enorme para Navidad que el resto del año quedaba ociosa: decidió alquilarla. Esa es la esencia de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IaaS es lo más parecido a tener su propio servidor, pero alquilado. Es la opción que da más control y también más responsabilidad.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PaaS es ideal para programadores: se concentran en el código y no en administrar servidores.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SaaS es el modelo que más usan los estudiantes sin saberlo. Pregunte cuántos SaaS usan a diario.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la analogía de la pizza para cerrar los modelos de servicio. XaaS significa 'anything as a service': casi cualquier cosa se puede ofrecer como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CAPEX = gasto de capital (comprar equipo); OPEX = gasto operativo (pagar un servicio mensual). La nube convierte compras grandes en pagos pequeños y previsibles.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tema se profundiza en RA2 y RA3. Aquí basta con que comprendan la tríada CID y la importancia de MFA.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Pida que cada grupo investigue un caso de uso en una empresa costarricense y lo presente en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Relacione cada componente con una parte de una tienda en línea: cómputo = la página; almacenamiento = fotos; base de datos = productos y pedidos; red = el dominio; gestión = el panel; seguridad = los usuarios.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características se complementan con las 5 del NIST. Recalque el SLA: es lo que el cliente puede exigir.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real de desventaja: en diciembre de 2021 una falla en una región de AWS dejó sin servicio durante horas a muchas apps y sitios que dependían de ella. Por eso se recomienda usar varias zonas o regiones.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presente tres necesidades y pida que elijan la opción de contratación. Conecte con el cotidiano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nube pública es como el transporte público: barato, disponible y compartido.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nube privada es como tener carro propio: más control y comodidad, pero hay que pagarlo y mantenerlo.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híbrida es como tener carro propio y usar Uber cuando se necesita un viaje especial. También existen la nube comunitaria (compartida por organizaciones con intereses comunes) y el multicloud (usar varios proveedores públicos).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esta tabla como resumen para el examen. Pida que la copien en el cuaderno.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Resuelva el caso con el grupo antes del cotidiano 2 para que tengan un modelo. Luego cambie una variable (por ejemplo, si la cooperativa no tuviera técnico) y pregunte cómo cambia la recomendación.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las preguntas como salida de clase o como juego en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recordando el cotidiano 1 (laboratorio de VM) y el cotidiano 2 (consultoría de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slideLayout" Target="../slideLayouts/slideLayout1.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slideLayout" Target="../slideLayouts/slideLayout1.xml"/><Relationship Id="rId9"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slideLayout" Target="../slideLayouts/slideLayout1.xml"/><Relationship Id="rId9"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7863840" y="-1463040"/>
            <a:ext cx="5943600" cy="5943600"/>
          </a:xfrm>
          <a:prstGeom prst="ellipse">
            <a:avLst/>
          </a:prstGeom>
          <a:solidFill>
            <a:srgbClr val="13315C"/>
          </a:solidFill>
          <a:ln w="12700">
            <a:solidFill>
              <a:srgbClr val="13315C"/>
            </a:solidFill>
            <a:prstDash val="solid"/>
          </a:ln>
        </p:spPr>
      </p:sp>
      <p:sp>
        <p:nvSpPr>
          <p:cNvPr id="3" name="Shape 1"/>
          <p:cNvSpPr/>
          <p:nvPr/>
        </p:nvSpPr>
        <p:spPr>
          <a:xfrm>
            <a:off x="9509760" y="3566160"/>
            <a:ext cx="3840480" cy="3840480"/>
          </a:xfrm>
          <a:prstGeom prst="ellipse">
            <a:avLst/>
          </a:prstGeom>
          <a:solidFill>
            <a:srgbClr val="0E7C86">
              <a:alpha val="70000"/>
            </a:srgbClr>
          </a:solidFill>
          <a:ln w="12700">
            <a:solidFill>
              <a:srgbClr val="0E7C86">
                <a:alpha val="70000"/>
              </a:srgbClr>
            </a:solidFill>
            <a:prstDash val="solid"/>
          </a:ln>
        </p:spPr>
      </p:sp>
      <p:pic>
        <p:nvPicPr>
          <p:cNvPr id="4" name="Image 0" descr="preencoded.png">    </p:cNvPr>
          <p:cNvPicPr>
            <a:picLocks noChangeAspect="1"/>
          </p:cNvPicPr>
          <p:nvPr/>
        </p:nvPicPr>
        <p:blipFill>
          <a:blip r:embed="rId1"/>
          <a:stretch>
            <a:fillRect/>
          </a:stretch>
        </p:blipFill>
        <p:spPr>
          <a:xfrm>
            <a:off x="9326880" y="914400"/>
            <a:ext cx="2011680" cy="2011680"/>
          </a:xfrm>
          <a:prstGeom prst="rect">
            <a:avLst/>
          </a:prstGeom>
        </p:spPr>
      </p:pic>
      <p:sp>
        <p:nvSpPr>
          <p:cNvPr id="5" name="Text 2"/>
          <p:cNvSpPr txBox="1"/>
          <p:nvPr/>
        </p:nvSpPr>
        <p:spPr>
          <a:xfrm>
            <a:off x="548640" y="1097280"/>
            <a:ext cx="7315200" cy="365760"/>
          </a:xfrm>
          <a:prstGeom prst="rect">
            <a:avLst/>
          </a:prstGeom>
          <a:noFill/>
          <a:ln/>
        </p:spPr>
        <p:txBody>
          <a:bodyPr wrap="square" lIns="0" tIns="0" rIns="0" bIns="0" rtlCol="0" anchor="t"/>
          <a:lstStyle/>
          <a:p>
            <a:pPr indent="0" marL="0">
              <a:buNone/>
            </a:pPr>
            <a:r>
              <a:rPr lang="en-US" sz="1400" b="1" spc="300" kern="0" dirty="0">
                <a:solidFill>
                  <a:srgbClr val="F4A261"/>
                </a:solidFill>
                <a:latin typeface="Calibri" pitchFamily="34" charset="0"/>
                <a:ea typeface="Calibri" pitchFamily="34" charset="-122"/>
                <a:cs typeface="Calibri" pitchFamily="34" charset="-120"/>
              </a:rPr>
              <a:t>CIBERSEGURIDAD · UNDÉCIMO 11°-3</a:t>
            </a:r>
            <a:endParaRPr lang="en-US" sz="1400" dirty="0"/>
          </a:p>
        </p:txBody>
      </p:sp>
      <p:sp>
        <p:nvSpPr>
          <p:cNvPr id="6" name="Text 3"/>
          <p:cNvSpPr txBox="1"/>
          <p:nvPr/>
        </p:nvSpPr>
        <p:spPr>
          <a:xfrm>
            <a:off x="548640" y="1645920"/>
            <a:ext cx="7863840" cy="2011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Computación en la nube y virtualización</a:t>
            </a:r>
            <a:endParaRPr lang="en-US" sz="4400" dirty="0"/>
          </a:p>
        </p:txBody>
      </p:sp>
      <p:sp>
        <p:nvSpPr>
          <p:cNvPr id="7" name="Text 4"/>
          <p:cNvSpPr txBox="1"/>
          <p:nvPr/>
        </p:nvSpPr>
        <p:spPr>
          <a:xfrm>
            <a:off x="548640" y="3840480"/>
            <a:ext cx="7680960" cy="914400"/>
          </a:xfrm>
          <a:prstGeom prst="rect">
            <a:avLst/>
          </a:prstGeom>
          <a:noFill/>
          <a:ln/>
        </p:spPr>
        <p:txBody>
          <a:bodyPr wrap="square" lIns="0" tIns="0" rIns="0" bIns="0" rtlCol="0" anchor="t"/>
          <a:lstStyle/>
          <a:p>
            <a:pPr indent="0" marL="0">
              <a:buNone/>
            </a:pPr>
            <a:r>
              <a:rPr lang="en-US" sz="1800" dirty="0">
                <a:solidFill>
                  <a:srgbClr val="CFE3F0"/>
                </a:solidFill>
                <a:latin typeface="Calibri" pitchFamily="34" charset="0"/>
                <a:ea typeface="Calibri" pitchFamily="34" charset="-122"/>
                <a:cs typeface="Calibri" pitchFamily="34" charset="-120"/>
              </a:rPr>
              <a:t>Componentes, modelos de implementación y el rol de la virtualización</a:t>
            </a:r>
            <a:endParaRPr lang="en-US" sz="1800" dirty="0"/>
          </a:p>
        </p:txBody>
      </p:sp>
      <p:sp>
        <p:nvSpPr>
          <p:cNvPr id="8" name="Text 5"/>
          <p:cNvSpPr txBox="1"/>
          <p:nvPr/>
        </p:nvSpPr>
        <p:spPr>
          <a:xfrm>
            <a:off x="548640" y="5120640"/>
            <a:ext cx="7680960" cy="914400"/>
          </a:xfrm>
          <a:prstGeom prst="rect">
            <a:avLst/>
          </a:prstGeom>
          <a:noFill/>
          <a:ln/>
        </p:spPr>
        <p:txBody>
          <a:bodyPr wrap="square" lIns="0" tIns="0" rIns="0" bIns="0" rtlCol="0" anchor="t"/>
          <a:lstStyle/>
          <a:p>
            <a:pPr indent="0" marL="0">
              <a:buNone/>
            </a:pPr>
            <a:r>
              <a:rPr lang="en-US" sz="1300" i="1" dirty="0">
                <a:solidFill>
                  <a:srgbClr val="9FB3C8"/>
                </a:solidFill>
                <a:latin typeface="Calibri" pitchFamily="34" charset="0"/>
                <a:ea typeface="Calibri" pitchFamily="34" charset="-122"/>
                <a:cs typeface="Calibri" pitchFamily="34" charset="-120"/>
              </a:rPr>
              <a:t>Resultado de aprendizaje 1: Analizar los componentes de la computación de la nube y el rol de la virtualización mediante modelos de implementación.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Ruta de aprendizaje</a:t>
            </a:r>
            <a:endParaRPr lang="en-US" sz="3200" dirty="0"/>
          </a:p>
        </p:txBody>
      </p:sp>
      <p:sp>
        <p:nvSpPr>
          <p:cNvPr id="5" name="Shape 2"/>
          <p:cNvSpPr/>
          <p:nvPr/>
        </p:nvSpPr>
        <p:spPr>
          <a:xfrm>
            <a:off x="548640" y="1417320"/>
            <a:ext cx="3515258" cy="2240280"/>
          </a:xfrm>
          <a:prstGeom prst="roundRect">
            <a:avLst>
              <a:gd name="adj" fmla="val 4898"/>
            </a:avLst>
          </a:prstGeom>
          <a:solidFill>
            <a:srgbClr val="F1F7F9"/>
          </a:solidFill>
          <a:ln w="9525">
            <a:solidFill>
              <a:srgbClr val="DCE6EA"/>
            </a:solidFill>
            <a:prstDash val="solid"/>
          </a:ln>
        </p:spPr>
      </p:sp>
      <p:sp>
        <p:nvSpPr>
          <p:cNvPr id="6" name="Shape 3"/>
          <p:cNvSpPr/>
          <p:nvPr/>
        </p:nvSpPr>
        <p:spPr>
          <a:xfrm>
            <a:off x="777240" y="1645920"/>
            <a:ext cx="548640" cy="54864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19886" y="1788566"/>
            <a:ext cx="263347" cy="263347"/>
          </a:xfrm>
          <a:prstGeom prst="rect">
            <a:avLst/>
          </a:prstGeom>
        </p:spPr>
      </p:pic>
      <p:sp>
        <p:nvSpPr>
          <p:cNvPr id="8" name="Text 4"/>
          <p:cNvSpPr txBox="1"/>
          <p:nvPr/>
        </p:nvSpPr>
        <p:spPr>
          <a:xfrm>
            <a:off x="1463040"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1. Computación en la nube</a:t>
            </a:r>
            <a:endParaRPr lang="en-US" sz="1700" dirty="0"/>
          </a:p>
        </p:txBody>
      </p:sp>
      <p:sp>
        <p:nvSpPr>
          <p:cNvPr id="9" name="Text 5"/>
          <p:cNvSpPr txBox="1"/>
          <p:nvPr/>
        </p:nvSpPr>
        <p:spPr>
          <a:xfrm>
            <a:off x="777240"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Conceptos, cloud computing, modelos de negocio, máquina virtual, contenedor y API.</a:t>
            </a:r>
            <a:endParaRPr lang="en-US" sz="1750" dirty="0"/>
          </a:p>
        </p:txBody>
      </p:sp>
      <p:sp>
        <p:nvSpPr>
          <p:cNvPr id="10" name="Shape 6"/>
          <p:cNvSpPr/>
          <p:nvPr/>
        </p:nvSpPr>
        <p:spPr>
          <a:xfrm>
            <a:off x="4338218" y="1417320"/>
            <a:ext cx="3515258" cy="2240280"/>
          </a:xfrm>
          <a:prstGeom prst="roundRect">
            <a:avLst>
              <a:gd name="adj" fmla="val 4898"/>
            </a:avLst>
          </a:prstGeom>
          <a:solidFill>
            <a:srgbClr val="F1F7F9"/>
          </a:solidFill>
          <a:ln w="9525">
            <a:solidFill>
              <a:srgbClr val="DCE6EA"/>
            </a:solidFill>
            <a:prstDash val="solid"/>
          </a:ln>
        </p:spPr>
      </p:sp>
      <p:sp>
        <p:nvSpPr>
          <p:cNvPr id="11" name="Shape 7"/>
          <p:cNvSpPr/>
          <p:nvPr/>
        </p:nvSpPr>
        <p:spPr>
          <a:xfrm>
            <a:off x="4566818" y="1645920"/>
            <a:ext cx="548640" cy="548640"/>
          </a:xfrm>
          <a:prstGeom prst="ellipse">
            <a:avLst/>
          </a:prstGeom>
          <a:solidFill>
            <a:srgbClr val="0E7C86"/>
          </a:solidFill>
          <a:ln w="12700">
            <a:solidFill>
              <a:srgbClr val="0E7C86"/>
            </a:solidFill>
            <a:prstDash val="solid"/>
          </a:ln>
        </p:spPr>
      </p:sp>
      <p:pic>
        <p:nvPicPr>
          <p:cNvPr id="12" name="Image 2" descr="preencoded.png">    </p:cNvPr>
          <p:cNvPicPr>
            <a:picLocks noChangeAspect="1"/>
          </p:cNvPicPr>
          <p:nvPr/>
        </p:nvPicPr>
        <p:blipFill>
          <a:blip r:embed="rId3"/>
          <a:stretch>
            <a:fillRect/>
          </a:stretch>
        </p:blipFill>
        <p:spPr>
          <a:xfrm>
            <a:off x="4709465" y="1788566"/>
            <a:ext cx="263347" cy="263347"/>
          </a:xfrm>
          <a:prstGeom prst="rect">
            <a:avLst/>
          </a:prstGeom>
        </p:spPr>
      </p:pic>
      <p:sp>
        <p:nvSpPr>
          <p:cNvPr id="13" name="Text 8"/>
          <p:cNvSpPr txBox="1"/>
          <p:nvPr/>
        </p:nvSpPr>
        <p:spPr>
          <a:xfrm>
            <a:off x="5252618"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2. Roles del modelo</a:t>
            </a:r>
            <a:endParaRPr lang="en-US" sz="1700" dirty="0"/>
          </a:p>
        </p:txBody>
      </p:sp>
      <p:sp>
        <p:nvSpPr>
          <p:cNvPr id="14" name="Text 9"/>
          <p:cNvSpPr txBox="1"/>
          <p:nvPr/>
        </p:nvSpPr>
        <p:spPr>
          <a:xfrm>
            <a:off x="4566818"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Cliente final o consumidor y proveedor o prestador.</a:t>
            </a:r>
            <a:endParaRPr lang="en-US" sz="1750" dirty="0"/>
          </a:p>
        </p:txBody>
      </p:sp>
      <p:sp>
        <p:nvSpPr>
          <p:cNvPr id="15" name="Shape 10"/>
          <p:cNvSpPr/>
          <p:nvPr/>
        </p:nvSpPr>
        <p:spPr>
          <a:xfrm>
            <a:off x="8127797" y="1417320"/>
            <a:ext cx="3515258" cy="2240280"/>
          </a:xfrm>
          <a:prstGeom prst="roundRect">
            <a:avLst>
              <a:gd name="adj" fmla="val 4898"/>
            </a:avLst>
          </a:prstGeom>
          <a:solidFill>
            <a:srgbClr val="F1F7F9"/>
          </a:solidFill>
          <a:ln w="9525">
            <a:solidFill>
              <a:srgbClr val="DCE6EA"/>
            </a:solidFill>
            <a:prstDash val="solid"/>
          </a:ln>
        </p:spPr>
      </p:sp>
      <p:sp>
        <p:nvSpPr>
          <p:cNvPr id="16" name="Shape 11"/>
          <p:cNvSpPr/>
          <p:nvPr/>
        </p:nvSpPr>
        <p:spPr>
          <a:xfrm>
            <a:off x="8356397" y="1645920"/>
            <a:ext cx="548640" cy="548640"/>
          </a:xfrm>
          <a:prstGeom prst="ellipse">
            <a:avLst/>
          </a:prstGeom>
          <a:solidFill>
            <a:srgbClr val="0E7C86"/>
          </a:solidFill>
          <a:ln w="12700">
            <a:solidFill>
              <a:srgbClr val="0E7C86"/>
            </a:solidFill>
            <a:prstDash val="solid"/>
          </a:ln>
        </p:spPr>
      </p:sp>
      <p:pic>
        <p:nvPicPr>
          <p:cNvPr id="17" name="Image 3" descr="preencoded.png">    </p:cNvPr>
          <p:cNvPicPr>
            <a:picLocks noChangeAspect="1"/>
          </p:cNvPicPr>
          <p:nvPr/>
        </p:nvPicPr>
        <p:blipFill>
          <a:blip r:embed="rId4"/>
          <a:stretch>
            <a:fillRect/>
          </a:stretch>
        </p:blipFill>
        <p:spPr>
          <a:xfrm>
            <a:off x="8499043" y="1788566"/>
            <a:ext cx="263347" cy="263347"/>
          </a:xfrm>
          <a:prstGeom prst="rect">
            <a:avLst/>
          </a:prstGeom>
        </p:spPr>
      </p:pic>
      <p:sp>
        <p:nvSpPr>
          <p:cNvPr id="18" name="Text 12"/>
          <p:cNvSpPr txBox="1"/>
          <p:nvPr/>
        </p:nvSpPr>
        <p:spPr>
          <a:xfrm>
            <a:off x="9042197"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3. Virtualización</a:t>
            </a:r>
            <a:endParaRPr lang="en-US" sz="1700" dirty="0"/>
          </a:p>
        </p:txBody>
      </p:sp>
      <p:sp>
        <p:nvSpPr>
          <p:cNvPr id="19" name="Text 13"/>
          <p:cNvSpPr txBox="1"/>
          <p:nvPr/>
        </p:nvSpPr>
        <p:spPr>
          <a:xfrm>
            <a:off x="8356397"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Conceptos (clúster, CPD, CRM, data center), historia, ventajas, tipos y rol.</a:t>
            </a:r>
            <a:endParaRPr lang="en-US" sz="1750" dirty="0"/>
          </a:p>
        </p:txBody>
      </p:sp>
      <p:sp>
        <p:nvSpPr>
          <p:cNvPr id="20" name="Shape 14"/>
          <p:cNvSpPr/>
          <p:nvPr/>
        </p:nvSpPr>
        <p:spPr>
          <a:xfrm>
            <a:off x="548640" y="3931920"/>
            <a:ext cx="3515258" cy="2240280"/>
          </a:xfrm>
          <a:prstGeom prst="roundRect">
            <a:avLst>
              <a:gd name="adj" fmla="val 4898"/>
            </a:avLst>
          </a:prstGeom>
          <a:solidFill>
            <a:srgbClr val="F1F7F9"/>
          </a:solidFill>
          <a:ln w="9525">
            <a:solidFill>
              <a:srgbClr val="DCE6EA"/>
            </a:solidFill>
            <a:prstDash val="solid"/>
          </a:ln>
        </p:spPr>
      </p:sp>
      <p:sp>
        <p:nvSpPr>
          <p:cNvPr id="21" name="Shape 15"/>
          <p:cNvSpPr/>
          <p:nvPr/>
        </p:nvSpPr>
        <p:spPr>
          <a:xfrm>
            <a:off x="777240" y="4160520"/>
            <a:ext cx="548640" cy="548640"/>
          </a:xfrm>
          <a:prstGeom prst="ellipse">
            <a:avLst/>
          </a:prstGeom>
          <a:solidFill>
            <a:srgbClr val="0E7C86"/>
          </a:solidFill>
          <a:ln w="12700">
            <a:solidFill>
              <a:srgbClr val="0E7C86"/>
            </a:solidFill>
            <a:prstDash val="solid"/>
          </a:ln>
        </p:spPr>
      </p:sp>
      <p:pic>
        <p:nvPicPr>
          <p:cNvPr id="22" name="Image 4" descr="preencoded.png">    </p:cNvPr>
          <p:cNvPicPr>
            <a:picLocks noChangeAspect="1"/>
          </p:cNvPicPr>
          <p:nvPr/>
        </p:nvPicPr>
        <p:blipFill>
          <a:blip r:embed="rId5"/>
          <a:stretch>
            <a:fillRect/>
          </a:stretch>
        </p:blipFill>
        <p:spPr>
          <a:xfrm>
            <a:off x="919886" y="4303166"/>
            <a:ext cx="263347" cy="263347"/>
          </a:xfrm>
          <a:prstGeom prst="rect">
            <a:avLst/>
          </a:prstGeom>
        </p:spPr>
      </p:pic>
      <p:sp>
        <p:nvSpPr>
          <p:cNvPr id="23" name="Text 16"/>
          <p:cNvSpPr txBox="1"/>
          <p:nvPr/>
        </p:nvSpPr>
        <p:spPr>
          <a:xfrm>
            <a:off x="1463040"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4. Software</a:t>
            </a:r>
            <a:endParaRPr lang="en-US" sz="1700" dirty="0"/>
          </a:p>
        </p:txBody>
      </p:sp>
      <p:sp>
        <p:nvSpPr>
          <p:cNvPr id="24" name="Text 17"/>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VMware, Xen, Microsoft Hyper-V Server, VirtualBox y Virtual PC.</a:t>
            </a:r>
            <a:endParaRPr lang="en-US" sz="1750" dirty="0"/>
          </a:p>
        </p:txBody>
      </p:sp>
      <p:sp>
        <p:nvSpPr>
          <p:cNvPr id="25" name="Shape 18"/>
          <p:cNvSpPr/>
          <p:nvPr/>
        </p:nvSpPr>
        <p:spPr>
          <a:xfrm>
            <a:off x="4338218" y="3931920"/>
            <a:ext cx="3515258" cy="2240280"/>
          </a:xfrm>
          <a:prstGeom prst="roundRect">
            <a:avLst>
              <a:gd name="adj" fmla="val 4898"/>
            </a:avLst>
          </a:prstGeom>
          <a:solidFill>
            <a:srgbClr val="F1F7F9"/>
          </a:solidFill>
          <a:ln w="9525">
            <a:solidFill>
              <a:srgbClr val="DCE6EA"/>
            </a:solidFill>
            <a:prstDash val="solid"/>
          </a:ln>
        </p:spPr>
      </p:sp>
      <p:sp>
        <p:nvSpPr>
          <p:cNvPr id="26" name="Shape 19"/>
          <p:cNvSpPr/>
          <p:nvPr/>
        </p:nvSpPr>
        <p:spPr>
          <a:xfrm>
            <a:off x="4566818" y="4160520"/>
            <a:ext cx="548640" cy="548640"/>
          </a:xfrm>
          <a:prstGeom prst="ellipse">
            <a:avLst/>
          </a:prstGeom>
          <a:solidFill>
            <a:srgbClr val="0E7C86"/>
          </a:solidFill>
          <a:ln w="12700">
            <a:solidFill>
              <a:srgbClr val="0E7C86"/>
            </a:solidFill>
            <a:prstDash val="solid"/>
          </a:ln>
        </p:spPr>
      </p:sp>
      <p:pic>
        <p:nvPicPr>
          <p:cNvPr id="27" name="Image 5" descr="preencoded.png">    </p:cNvPr>
          <p:cNvPicPr>
            <a:picLocks noChangeAspect="1"/>
          </p:cNvPicPr>
          <p:nvPr/>
        </p:nvPicPr>
        <p:blipFill>
          <a:blip r:embed="rId6"/>
          <a:stretch>
            <a:fillRect/>
          </a:stretch>
        </p:blipFill>
        <p:spPr>
          <a:xfrm>
            <a:off x="4709465" y="4303166"/>
            <a:ext cx="263347" cy="263347"/>
          </a:xfrm>
          <a:prstGeom prst="rect">
            <a:avLst/>
          </a:prstGeom>
        </p:spPr>
      </p:pic>
      <p:sp>
        <p:nvSpPr>
          <p:cNvPr id="28" name="Text 20"/>
          <p:cNvSpPr txBox="1"/>
          <p:nvPr/>
        </p:nvSpPr>
        <p:spPr>
          <a:xfrm>
            <a:off x="5252618"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5. La nube en detalle</a:t>
            </a:r>
            <a:endParaRPr lang="en-US" sz="1700" dirty="0"/>
          </a:p>
        </p:txBody>
      </p:sp>
      <p:sp>
        <p:nvSpPr>
          <p:cNvPr id="29" name="Text 21"/>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Características, historia, tipos de soluciones, ventajas, seguridad y casos de uso.</a:t>
            </a:r>
            <a:endParaRPr lang="en-US" sz="1750" dirty="0"/>
          </a:p>
        </p:txBody>
      </p:sp>
      <p:sp>
        <p:nvSpPr>
          <p:cNvPr id="30" name="Shape 22"/>
          <p:cNvSpPr/>
          <p:nvPr/>
        </p:nvSpPr>
        <p:spPr>
          <a:xfrm>
            <a:off x="8127797" y="3931920"/>
            <a:ext cx="3515258" cy="2240280"/>
          </a:xfrm>
          <a:prstGeom prst="roundRect">
            <a:avLst>
              <a:gd name="adj" fmla="val 4898"/>
            </a:avLst>
          </a:prstGeom>
          <a:solidFill>
            <a:srgbClr val="F1F7F9"/>
          </a:solidFill>
          <a:ln w="9525">
            <a:solidFill>
              <a:srgbClr val="DCE6EA"/>
            </a:solidFill>
            <a:prstDash val="solid"/>
          </a:ln>
        </p:spPr>
      </p:sp>
      <p:sp>
        <p:nvSpPr>
          <p:cNvPr id="31" name="Shape 23"/>
          <p:cNvSpPr/>
          <p:nvPr/>
        </p:nvSpPr>
        <p:spPr>
          <a:xfrm>
            <a:off x="8356397" y="4160520"/>
            <a:ext cx="548640" cy="548640"/>
          </a:xfrm>
          <a:prstGeom prst="ellipse">
            <a:avLst/>
          </a:prstGeom>
          <a:solidFill>
            <a:srgbClr val="0E7C86"/>
          </a:solidFill>
          <a:ln w="12700">
            <a:solidFill>
              <a:srgbClr val="0E7C86"/>
            </a:solidFill>
            <a:prstDash val="solid"/>
          </a:ln>
        </p:spPr>
      </p:sp>
      <p:pic>
        <p:nvPicPr>
          <p:cNvPr id="32" name="Image 6" descr="preencoded.png">    </p:cNvPr>
          <p:cNvPicPr>
            <a:picLocks noChangeAspect="1"/>
          </p:cNvPicPr>
          <p:nvPr/>
        </p:nvPicPr>
        <p:blipFill>
          <a:blip r:embed="rId7"/>
          <a:stretch>
            <a:fillRect/>
          </a:stretch>
        </p:blipFill>
        <p:spPr>
          <a:xfrm>
            <a:off x="8499043" y="4303166"/>
            <a:ext cx="263347" cy="263347"/>
          </a:xfrm>
          <a:prstGeom prst="rect">
            <a:avLst/>
          </a:prstGeom>
        </p:spPr>
      </p:pic>
      <p:sp>
        <p:nvSpPr>
          <p:cNvPr id="33" name="Text 24"/>
          <p:cNvSpPr txBox="1"/>
          <p:nvPr/>
        </p:nvSpPr>
        <p:spPr>
          <a:xfrm>
            <a:off x="9042197"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6. Componentes y despliegue</a:t>
            </a:r>
            <a:endParaRPr lang="en-US" sz="1700" dirty="0"/>
          </a:p>
        </p:txBody>
      </p:sp>
      <p:sp>
        <p:nvSpPr>
          <p:cNvPr id="34" name="Text 25"/>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Características, ventajas, desventajas, contratación y nube pública, privada e híbrida.</a:t>
            </a:r>
            <a:endParaRPr lang="en-US" sz="1750" dirty="0"/>
          </a:p>
        </p:txBody>
      </p:sp>
      <p:sp>
        <p:nvSpPr>
          <p:cNvPr id="35" name="Text 26"/>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¿Dónde está la nube en tu día?</a:t>
            </a:r>
            <a:endParaRPr lang="en-US" sz="3200" dirty="0"/>
          </a:p>
        </p:txBody>
      </p:sp>
      <p:sp>
        <p:nvSpPr>
          <p:cNvPr id="5" name="Shape 2"/>
          <p:cNvSpPr/>
          <p:nvPr/>
        </p:nvSpPr>
        <p:spPr>
          <a:xfrm>
            <a:off x="548640" y="1417320"/>
            <a:ext cx="4023360" cy="3840480"/>
          </a:xfrm>
          <a:prstGeom prst="roundRect">
            <a:avLst>
              <a:gd name="adj" fmla="val 2857"/>
            </a:avLst>
          </a:prstGeom>
          <a:solidFill>
            <a:srgbClr val="0B2545"/>
          </a:solidFill>
          <a:ln w="12700">
            <a:solidFill>
              <a:srgbClr val="0B2545"/>
            </a:solidFill>
            <a:prstDash val="solid"/>
          </a:ln>
        </p:spPr>
      </p:sp>
      <p:sp>
        <p:nvSpPr>
          <p:cNvPr id="6" name="Shape 3"/>
          <p:cNvSpPr/>
          <p:nvPr/>
        </p:nvSpPr>
        <p:spPr>
          <a:xfrm>
            <a:off x="822960" y="1691640"/>
            <a:ext cx="548640" cy="548640"/>
          </a:xfrm>
          <a:prstGeom prst="ellipse">
            <a:avLst/>
          </a:prstGeom>
          <a:solidFill>
            <a:srgbClr val="F4A261"/>
          </a:solidFill>
          <a:ln w="12700">
            <a:solidFill>
              <a:srgbClr val="F4A261"/>
            </a:solidFill>
            <a:prstDash val="solid"/>
          </a:ln>
        </p:spPr>
      </p:sp>
      <p:pic>
        <p:nvPicPr>
          <p:cNvPr id="7" name="Image 1" descr="preencoded.png">    </p:cNvPr>
          <p:cNvPicPr>
            <a:picLocks noChangeAspect="1"/>
          </p:cNvPicPr>
          <p:nvPr/>
        </p:nvPicPr>
        <p:blipFill>
          <a:blip r:embed="rId2"/>
          <a:stretch>
            <a:fillRect/>
          </a:stretch>
        </p:blipFill>
        <p:spPr>
          <a:xfrm>
            <a:off x="965606" y="1834286"/>
            <a:ext cx="263347" cy="263347"/>
          </a:xfrm>
          <a:prstGeom prst="rect">
            <a:avLst/>
          </a:prstGeom>
        </p:spPr>
      </p:pic>
      <p:sp>
        <p:nvSpPr>
          <p:cNvPr id="8" name="Text 4"/>
          <p:cNvSpPr txBox="1"/>
          <p:nvPr/>
        </p:nvSpPr>
        <p:spPr>
          <a:xfrm>
            <a:off x="1508760" y="1691640"/>
            <a:ext cx="27432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Situación</a:t>
            </a:r>
            <a:endParaRPr lang="en-US" sz="1900" dirty="0"/>
          </a:p>
        </p:txBody>
      </p:sp>
      <p:sp>
        <p:nvSpPr>
          <p:cNvPr id="9" name="Text 5"/>
          <p:cNvSpPr txBox="1"/>
          <p:nvPr/>
        </p:nvSpPr>
        <p:spPr>
          <a:xfrm>
            <a:off x="822960" y="2423160"/>
            <a:ext cx="3474720" cy="2651760"/>
          </a:xfrm>
          <a:prstGeom prst="rect">
            <a:avLst/>
          </a:prstGeom>
          <a:noFill/>
          <a:ln/>
        </p:spPr>
        <p:txBody>
          <a:bodyPr wrap="square" lIns="0" tIns="0" rIns="0" bIns="0" rtlCol="0" anchor="t"/>
          <a:lstStyle/>
          <a:p>
            <a:pPr indent="0" marL="0">
              <a:buNone/>
            </a:pPr>
            <a:r>
              <a:rPr lang="en-US" sz="1550" dirty="0">
                <a:solidFill>
                  <a:srgbClr val="E6F2F4"/>
                </a:solidFill>
                <a:latin typeface="Calibri" pitchFamily="34" charset="0"/>
                <a:ea typeface="Calibri" pitchFamily="34" charset="-122"/>
                <a:cs typeface="Calibri" pitchFamily="34" charset="-120"/>
              </a:rPr>
              <a:t>María, estudiante de 11°, se levanta a las 6:00 a. m. Revisa WhatsApp, ve una historia en Instagram, abre Classroom para ver la tarea, escucha música en Spotify en el bus y guarda fotos del proyecto en Google Drive. Nunca instaló un servidor, pero usó la nube al menos 5 veces antes de las 7:00 a. m.</a:t>
            </a:r>
            <a:endParaRPr lang="en-US" sz="1550" dirty="0"/>
          </a:p>
        </p:txBody>
      </p:sp>
      <p:sp>
        <p:nvSpPr>
          <p:cNvPr id="10" name="Shape 6"/>
          <p:cNvSpPr/>
          <p:nvPr/>
        </p:nvSpPr>
        <p:spPr>
          <a:xfrm>
            <a:off x="4892040" y="1417320"/>
            <a:ext cx="6751015" cy="857250"/>
          </a:xfrm>
          <a:prstGeom prst="roundRect">
            <a:avLst>
              <a:gd name="adj" fmla="val 8533"/>
            </a:avLst>
          </a:prstGeom>
          <a:solidFill>
            <a:srgbClr val="F1F7F9"/>
          </a:solidFill>
          <a:ln w="9525">
            <a:solidFill>
              <a:srgbClr val="DCE6EA"/>
            </a:solidFill>
            <a:prstDash val="solid"/>
          </a:ln>
        </p:spPr>
      </p:sp>
      <p:sp>
        <p:nvSpPr>
          <p:cNvPr id="11" name="Shape 7"/>
          <p:cNvSpPr/>
          <p:nvPr/>
        </p:nvSpPr>
        <p:spPr>
          <a:xfrm>
            <a:off x="5074920" y="1617345"/>
            <a:ext cx="457200" cy="457200"/>
          </a:xfrm>
          <a:prstGeom prst="ellipse">
            <a:avLst/>
          </a:prstGeom>
          <a:solidFill>
            <a:srgbClr val="0E7C86"/>
          </a:solidFill>
          <a:ln w="12700">
            <a:solidFill>
              <a:srgbClr val="0E7C86"/>
            </a:solidFill>
            <a:prstDash val="solid"/>
          </a:ln>
        </p:spPr>
      </p:sp>
      <p:sp>
        <p:nvSpPr>
          <p:cNvPr id="12" name="Text 8"/>
          <p:cNvSpPr txBox="1"/>
          <p:nvPr/>
        </p:nvSpPr>
        <p:spPr>
          <a:xfrm>
            <a:off x="5074920" y="161734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9"/>
          <p:cNvSpPr txBox="1"/>
          <p:nvPr/>
        </p:nvSpPr>
        <p:spPr>
          <a:xfrm>
            <a:off x="5715000" y="146304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WhatsApp: los mensajes y copias de seguridad viajan a servidores de Meta y Google Drive.</a:t>
            </a:r>
            <a:endParaRPr lang="en-US" sz="1700" dirty="0"/>
          </a:p>
        </p:txBody>
      </p:sp>
      <p:sp>
        <p:nvSpPr>
          <p:cNvPr id="14" name="Shape 10"/>
          <p:cNvSpPr/>
          <p:nvPr/>
        </p:nvSpPr>
        <p:spPr>
          <a:xfrm>
            <a:off x="4892040" y="2411730"/>
            <a:ext cx="6751015" cy="857250"/>
          </a:xfrm>
          <a:prstGeom prst="roundRect">
            <a:avLst>
              <a:gd name="adj" fmla="val 8533"/>
            </a:avLst>
          </a:prstGeom>
          <a:solidFill>
            <a:srgbClr val="FFFFFF"/>
          </a:solidFill>
          <a:ln w="9525">
            <a:solidFill>
              <a:srgbClr val="DCE6EA"/>
            </a:solidFill>
            <a:prstDash val="solid"/>
          </a:ln>
        </p:spPr>
      </p:sp>
      <p:sp>
        <p:nvSpPr>
          <p:cNvPr id="15" name="Shape 11"/>
          <p:cNvSpPr/>
          <p:nvPr/>
        </p:nvSpPr>
        <p:spPr>
          <a:xfrm>
            <a:off x="5074920" y="2611755"/>
            <a:ext cx="457200" cy="457200"/>
          </a:xfrm>
          <a:prstGeom prst="ellipse">
            <a:avLst/>
          </a:prstGeom>
          <a:solidFill>
            <a:srgbClr val="0E7C86"/>
          </a:solidFill>
          <a:ln w="12700">
            <a:solidFill>
              <a:srgbClr val="0E7C86"/>
            </a:solidFill>
            <a:prstDash val="solid"/>
          </a:ln>
        </p:spPr>
      </p:sp>
      <p:sp>
        <p:nvSpPr>
          <p:cNvPr id="16" name="Text 12"/>
          <p:cNvSpPr txBox="1"/>
          <p:nvPr/>
        </p:nvSpPr>
        <p:spPr>
          <a:xfrm>
            <a:off x="5074920" y="261175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3"/>
          <p:cNvSpPr txBox="1"/>
          <p:nvPr/>
        </p:nvSpPr>
        <p:spPr>
          <a:xfrm>
            <a:off x="5715000" y="245745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Instagram y Spotify: el contenido está en centros de datos y se transmite por Internet (streaming).</a:t>
            </a:r>
            <a:endParaRPr lang="en-US" sz="1700" dirty="0"/>
          </a:p>
        </p:txBody>
      </p:sp>
      <p:sp>
        <p:nvSpPr>
          <p:cNvPr id="18" name="Shape 14"/>
          <p:cNvSpPr/>
          <p:nvPr/>
        </p:nvSpPr>
        <p:spPr>
          <a:xfrm>
            <a:off x="4892040" y="3406140"/>
            <a:ext cx="6751015" cy="857250"/>
          </a:xfrm>
          <a:prstGeom prst="roundRect">
            <a:avLst>
              <a:gd name="adj" fmla="val 8533"/>
            </a:avLst>
          </a:prstGeom>
          <a:solidFill>
            <a:srgbClr val="F1F7F9"/>
          </a:solidFill>
          <a:ln w="9525">
            <a:solidFill>
              <a:srgbClr val="DCE6EA"/>
            </a:solidFill>
            <a:prstDash val="solid"/>
          </a:ln>
        </p:spPr>
      </p:sp>
      <p:sp>
        <p:nvSpPr>
          <p:cNvPr id="19" name="Shape 15"/>
          <p:cNvSpPr/>
          <p:nvPr/>
        </p:nvSpPr>
        <p:spPr>
          <a:xfrm>
            <a:off x="5074920" y="3606165"/>
            <a:ext cx="457200" cy="457200"/>
          </a:xfrm>
          <a:prstGeom prst="ellipse">
            <a:avLst/>
          </a:prstGeom>
          <a:solidFill>
            <a:srgbClr val="0E7C86"/>
          </a:solidFill>
          <a:ln w="12700">
            <a:solidFill>
              <a:srgbClr val="0E7C86"/>
            </a:solidFill>
            <a:prstDash val="solid"/>
          </a:ln>
        </p:spPr>
      </p:sp>
      <p:sp>
        <p:nvSpPr>
          <p:cNvPr id="20" name="Text 16"/>
          <p:cNvSpPr txBox="1"/>
          <p:nvPr/>
        </p:nvSpPr>
        <p:spPr>
          <a:xfrm>
            <a:off x="5074920" y="360616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7"/>
          <p:cNvSpPr txBox="1"/>
          <p:nvPr/>
        </p:nvSpPr>
        <p:spPr>
          <a:xfrm>
            <a:off x="5715000" y="345186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Classroom y Drive: documentos guardados en servidores de Google; se abren desde cualquier dispositivo.</a:t>
            </a:r>
            <a:endParaRPr lang="en-US" sz="1700" dirty="0"/>
          </a:p>
        </p:txBody>
      </p:sp>
      <p:sp>
        <p:nvSpPr>
          <p:cNvPr id="22" name="Shape 18"/>
          <p:cNvSpPr/>
          <p:nvPr/>
        </p:nvSpPr>
        <p:spPr>
          <a:xfrm>
            <a:off x="4892040" y="4400550"/>
            <a:ext cx="6751015" cy="857250"/>
          </a:xfrm>
          <a:prstGeom prst="roundRect">
            <a:avLst>
              <a:gd name="adj" fmla="val 8533"/>
            </a:avLst>
          </a:prstGeom>
          <a:solidFill>
            <a:srgbClr val="FFFFFF"/>
          </a:solidFill>
          <a:ln w="9525">
            <a:solidFill>
              <a:srgbClr val="DCE6EA"/>
            </a:solidFill>
            <a:prstDash val="solid"/>
          </a:ln>
        </p:spPr>
      </p:sp>
      <p:sp>
        <p:nvSpPr>
          <p:cNvPr id="23" name="Shape 19"/>
          <p:cNvSpPr/>
          <p:nvPr/>
        </p:nvSpPr>
        <p:spPr>
          <a:xfrm>
            <a:off x="5074920" y="4600575"/>
            <a:ext cx="457200" cy="457200"/>
          </a:xfrm>
          <a:prstGeom prst="ellipse">
            <a:avLst/>
          </a:prstGeom>
          <a:solidFill>
            <a:srgbClr val="0E7C86"/>
          </a:solidFill>
          <a:ln w="12700">
            <a:solidFill>
              <a:srgbClr val="0E7C86"/>
            </a:solidFill>
            <a:prstDash val="solid"/>
          </a:ln>
        </p:spPr>
      </p:sp>
      <p:sp>
        <p:nvSpPr>
          <p:cNvPr id="24" name="Text 20"/>
          <p:cNvSpPr txBox="1"/>
          <p:nvPr/>
        </p:nvSpPr>
        <p:spPr>
          <a:xfrm>
            <a:off x="5074920" y="460057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1"/>
          <p:cNvSpPr txBox="1"/>
          <p:nvPr/>
        </p:nvSpPr>
        <p:spPr>
          <a:xfrm>
            <a:off x="5715000" y="444627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Si se le pierde el celular, María recupera todo con su cuenta: los datos no estaban en el teléfono.</a:t>
            </a:r>
            <a:endParaRPr lang="en-US" sz="1700" dirty="0"/>
          </a:p>
        </p:txBody>
      </p:sp>
      <p:sp>
        <p:nvSpPr>
          <p:cNvPr id="26" name="Shape 22"/>
          <p:cNvSpPr/>
          <p:nvPr/>
        </p:nvSpPr>
        <p:spPr>
          <a:xfrm>
            <a:off x="548640" y="5440680"/>
            <a:ext cx="11094415" cy="731520"/>
          </a:xfrm>
          <a:prstGeom prst="roundRect">
            <a:avLst>
              <a:gd name="adj" fmla="val 12500"/>
            </a:avLst>
          </a:prstGeom>
          <a:solidFill>
            <a:srgbClr val="FDF1E7"/>
          </a:solidFill>
          <a:ln w="12700">
            <a:solidFill>
              <a:srgbClr val="FDF1E7"/>
            </a:solidFill>
            <a:prstDash val="solid"/>
          </a:ln>
        </p:spPr>
      </p:sp>
      <p:sp>
        <p:nvSpPr>
          <p:cNvPr id="27" name="Shape 23"/>
          <p:cNvSpPr/>
          <p:nvPr/>
        </p:nvSpPr>
        <p:spPr>
          <a:xfrm>
            <a:off x="731520" y="5532120"/>
            <a:ext cx="548640" cy="548640"/>
          </a:xfrm>
          <a:prstGeom prst="ellipse">
            <a:avLst/>
          </a:prstGeom>
          <a:solidFill>
            <a:srgbClr val="F4A261"/>
          </a:solidFill>
          <a:ln w="12700">
            <a:solidFill>
              <a:srgbClr val="F4A261"/>
            </a:solidFill>
            <a:prstDash val="solid"/>
          </a:ln>
        </p:spPr>
      </p:sp>
      <p:pic>
        <p:nvPicPr>
          <p:cNvPr id="28" name="Image 2" descr="preencoded.png">    </p:cNvPr>
          <p:cNvPicPr>
            <a:picLocks noChangeAspect="1"/>
          </p:cNvPicPr>
          <p:nvPr/>
        </p:nvPicPr>
        <p:blipFill>
          <a:blip r:embed="rId3"/>
          <a:stretch>
            <a:fillRect/>
          </a:stretch>
        </p:blipFill>
        <p:spPr>
          <a:xfrm>
            <a:off x="874166" y="5674766"/>
            <a:ext cx="263347" cy="263347"/>
          </a:xfrm>
          <a:prstGeom prst="rect">
            <a:avLst/>
          </a:prstGeom>
        </p:spPr>
      </p:pic>
      <p:sp>
        <p:nvSpPr>
          <p:cNvPr id="29" name="Text 24"/>
          <p:cNvSpPr txBox="1"/>
          <p:nvPr/>
        </p:nvSpPr>
        <p:spPr>
          <a:xfrm>
            <a:off x="1463040" y="5440680"/>
            <a:ext cx="9997135" cy="73152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La nube es usar programas y guardar datos en computadoras de otra empresa, a través de Internet.</a:t>
            </a:r>
            <a:endParaRPr lang="en-US" sz="1600" dirty="0"/>
          </a:p>
        </p:txBody>
      </p:sp>
      <p:sp>
        <p:nvSpPr>
          <p:cNvPr id="30" name="Text 25"/>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t"/>
          <a:lstStyle/>
          <a:p>
            <a:pPr indent="0" marL="0">
              <a:buNone/>
            </a:pPr>
            <a:r>
              <a:rPr lang="en-US" sz="9600" b="1" dirty="0">
                <a:solidFill>
                  <a:srgbClr val="F4A261"/>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834640"/>
            <a:ext cx="7680960" cy="1371600"/>
          </a:xfrm>
          <a:prstGeom prst="rect">
            <a:avLst/>
          </a:prstGeom>
          <a:noFill/>
          <a:ln/>
        </p:spPr>
        <p:txBody>
          <a:bodyPr wrap="square" lIns="0" tIns="0" rIns="0" bIns="0"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Computación en la nube: conceptos</a:t>
            </a:r>
            <a:endParaRPr lang="en-US" sz="3600" dirty="0"/>
          </a:p>
        </p:txBody>
      </p:sp>
      <p:sp>
        <p:nvSpPr>
          <p:cNvPr id="4" name="Text 2"/>
          <p:cNvSpPr txBox="1"/>
          <p:nvPr/>
        </p:nvSpPr>
        <p:spPr>
          <a:xfrm>
            <a:off x="548640" y="4389120"/>
            <a:ext cx="7315200" cy="914400"/>
          </a:xfrm>
          <a:prstGeom prst="rect">
            <a:avLst/>
          </a:prstGeom>
          <a:noFill/>
          <a:ln/>
        </p:spPr>
        <p:txBody>
          <a:bodyPr wrap="square" lIns="0" tIns="0" rIns="0" bIns="0" rtlCol="0" anchor="t"/>
          <a:lstStyle/>
          <a:p>
            <a:pPr indent="0" marL="0">
              <a:buNone/>
            </a:pPr>
            <a:r>
              <a:rPr lang="en-US" sz="1800" dirty="0">
                <a:solidFill>
                  <a:srgbClr val="CFE3F0"/>
                </a:solidFill>
                <a:latin typeface="Calibri" pitchFamily="34" charset="0"/>
                <a:ea typeface="Calibri" pitchFamily="34" charset="-122"/>
                <a:cs typeface="Calibri" pitchFamily="34" charset="-120"/>
              </a:rPr>
              <a:t>¿Qué es la nube, cómo se cobra y con qué piezas se construye?</a:t>
            </a:r>
            <a:endParaRPr lang="en-US" sz="1800" dirty="0"/>
          </a:p>
        </p:txBody>
      </p:sp>
      <p:sp>
        <p:nvSpPr>
          <p:cNvPr id="5" name="Shape 3"/>
          <p:cNvSpPr/>
          <p:nvPr/>
        </p:nvSpPr>
        <p:spPr>
          <a:xfrm>
            <a:off x="8503920" y="1737360"/>
            <a:ext cx="3017520" cy="301752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9326880" y="2560320"/>
            <a:ext cx="1371600" cy="1371600"/>
          </a:xfrm>
          <a:prstGeom prst="rect">
            <a:avLst/>
          </a:prstGeom>
        </p:spPr>
      </p:pic>
      <p:sp>
        <p:nvSpPr>
          <p:cNvPr id="7" name="Text 4"/>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9FB3C8"/>
                </a:solidFill>
                <a:latin typeface="Calibri" pitchFamily="34" charset="0"/>
                <a:ea typeface="Calibri" pitchFamily="34" charset="-122"/>
                <a:cs typeface="Calibri" pitchFamily="34" charset="-120"/>
              </a:rPr>
              <a:t>RA1 · Nube y virtualización  ·  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Concepto de computación en la nube</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La computación en la nube es la entrega de recursos informáticos (servidores, almacenamiento, bases de datos, redes y software) a través de Internet, bajo demanda y pagando solo por lo que se usa.</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A través de Internet: </a:t>
            </a:r>
            <a:pPr indent="0" marL="0">
              <a:buNone/>
            </a:pPr>
            <a:r>
              <a:rPr lang="en-US" sz="2200" dirty="0">
                <a:solidFill>
                  <a:srgbClr val="1F2937"/>
                </a:solidFill>
                <a:latin typeface="Calibri" pitchFamily="34" charset="0"/>
                <a:ea typeface="Calibri" pitchFamily="34" charset="-122"/>
                <a:cs typeface="Calibri" pitchFamily="34" charset="-120"/>
              </a:rPr>
              <a:t>no se necesita tener el equipo en la casa u oficina.</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Bajo demanda: </a:t>
            </a:r>
            <a:pPr indent="0" marL="0">
              <a:buNone/>
            </a:pPr>
            <a:r>
              <a:rPr lang="en-US" sz="2200" dirty="0">
                <a:solidFill>
                  <a:srgbClr val="1F2937"/>
                </a:solidFill>
                <a:latin typeface="Calibri" pitchFamily="34" charset="0"/>
                <a:ea typeface="Calibri" pitchFamily="34" charset="-122"/>
                <a:cs typeface="Calibri" pitchFamily="34" charset="-120"/>
              </a:rPr>
              <a:t>se pide un recurso y está listo en minutos; se libera cuando ya no se ocupa.</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Pago por uso: </a:t>
            </a:r>
            <a:pPr indent="0" marL="0">
              <a:buNone/>
            </a:pPr>
            <a:r>
              <a:rPr lang="en-US" sz="2200" dirty="0">
                <a:solidFill>
                  <a:srgbClr val="1F2937"/>
                </a:solidFill>
                <a:latin typeface="Calibri" pitchFamily="34" charset="0"/>
                <a:ea typeface="Calibri" pitchFamily="34" charset="-122"/>
                <a:cs typeface="Calibri" pitchFamily="34" charset="-120"/>
              </a:rPr>
              <a:t>igual que el recibo de la luz: se paga lo consumido.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Sin mantenimiento: </a:t>
            </a:r>
            <a:pPr indent="0" marL="0">
              <a:buNone/>
            </a:pPr>
            <a:r>
              <a:rPr lang="en-US" sz="2200" dirty="0">
                <a:solidFill>
                  <a:srgbClr val="1F2937"/>
                </a:solidFill>
                <a:latin typeface="Calibri" pitchFamily="34" charset="0"/>
                <a:ea typeface="Calibri" pitchFamily="34" charset="-122"/>
                <a:cs typeface="Calibri" pitchFamily="34" charset="-120"/>
              </a:rPr>
              <a:t>el proveedor cambia discos, actualiza y protege los equipos.</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Analogía</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Nadie tiene una planta eléctrica en la casa: nos conectamos a la red del ICE y pagamos los kilovatios que usamos. Con la nube pasa igual: nos conectamos a los servidores del proveedor y pagamos lo que usamos.</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Cloud computing: antes y después</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Cloud computing es el término en inglés. La diferencia se entiende mejor comparando cómo trabajaba una empresa antes y cómo trabaja hoy.</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Antes (en sitio): </a:t>
            </a:r>
            <a:pPr indent="0" marL="0">
              <a:buNone/>
            </a:pPr>
            <a:r>
              <a:rPr lang="en-US" sz="1850" dirty="0">
                <a:solidFill>
                  <a:srgbClr val="1F2937"/>
                </a:solidFill>
                <a:latin typeface="Calibri" pitchFamily="34" charset="0"/>
                <a:ea typeface="Calibri" pitchFamily="34" charset="-122"/>
                <a:cs typeface="Calibri" pitchFamily="34" charset="-120"/>
              </a:rPr>
              <a:t>comprar un servidor de ₡3 000 000, esperar semanas, instalarlo, pagar electricidad, aire acondicionado y un técnico.</a:t>
            </a:r>
            <a:endParaRPr lang="en-US" sz="1850" dirty="0"/>
          </a:p>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Con la nube: </a:t>
            </a:r>
            <a:pPr indent="0" marL="0">
              <a:buNone/>
            </a:pPr>
            <a:r>
              <a:rPr lang="en-US" sz="1850" dirty="0">
                <a:solidFill>
                  <a:srgbClr val="1F2937"/>
                </a:solidFill>
                <a:latin typeface="Calibri" pitchFamily="34" charset="0"/>
                <a:ea typeface="Calibri" pitchFamily="34" charset="-122"/>
                <a:cs typeface="Calibri" pitchFamily="34" charset="-120"/>
              </a:rPr>
              <a:t>crear un servidor virtual en 5 minutos desde el navegador y pagar unos cuantos dólares por hora.</a:t>
            </a:r>
            <a:endParaRPr lang="en-US" sz="1850" dirty="0"/>
          </a:p>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Si el negocio crece: </a:t>
            </a:r>
            <a:pPr indent="0" marL="0">
              <a:buNone/>
            </a:pPr>
            <a:r>
              <a:rPr lang="en-US" sz="1850" dirty="0">
                <a:solidFill>
                  <a:srgbClr val="1F2937"/>
                </a:solidFill>
                <a:latin typeface="Calibri" pitchFamily="34" charset="0"/>
                <a:ea typeface="Calibri" pitchFamily="34" charset="-122"/>
                <a:cs typeface="Calibri" pitchFamily="34" charset="-120"/>
              </a:rPr>
              <a:t>antes: comprar otro servidor. Con la nube: aumentar recursos con un clic.</a:t>
            </a:r>
            <a:endParaRPr lang="en-US" sz="1850" dirty="0"/>
          </a:p>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Si el negocio cierra: </a:t>
            </a:r>
            <a:pPr indent="0" marL="0">
              <a:buNone/>
            </a:pPr>
            <a:r>
              <a:rPr lang="en-US" sz="1850" dirty="0">
                <a:solidFill>
                  <a:srgbClr val="1F2937"/>
                </a:solidFill>
                <a:latin typeface="Calibri" pitchFamily="34" charset="0"/>
                <a:ea typeface="Calibri" pitchFamily="34" charset="-122"/>
                <a:cs typeface="Calibri" pitchFamily="34" charset="-120"/>
              </a:rPr>
              <a:t>antes: el servidor queda botado. Con la nube: se apaga y se deja de pagar.</a:t>
            </a:r>
            <a:endParaRPr lang="en-US" sz="18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Una tienda en línea de artesanías de Sarchí contrata un servidor en la nube para diciembre, cuando se triplican las ventas, y en enero lo reduce. Solo paga los meses de mayor demanda.</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Modelos de negocio en la nube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98138"/>
                <a:gridCol w="3698138"/>
                <a:gridCol w="3698138"/>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¿Cómo se cobra?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Ejemplo real</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Pago por uso (pay-as-you-go)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Solo lo consumido: horas de servidor, GB guardados, peticiones.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Una máquina virtual en AWS cobrada por hora de uso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Suscripción</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Tarifa fija mensual o anual por usuario o por plan.</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Microsoft 365, Spotify Premium, Canva Pro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Freemium</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Plan básico gratis; funciones avanzadas pagadas.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Google Drive 15 GB gratis; 100 GB pagando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Instancias reservadas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Compromiso de 1 a 3 años a cambio de un gran descuento.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Servidor reservado 3 años en Azure con 60 % menos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Publicidad</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Gratis para el usuario; lo pagan los anunciantes.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Gmail personal, YouTube gratuito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Marketplace / comisión</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El proveedor cobra un porcentaje por vender apps de terceros.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AWS Marketplace, Google Workspace Marketplace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Caso: ¿cuánto paga una pyme?</a:t>
            </a:r>
            <a:endParaRPr lang="en-US" sz="3200" dirty="0"/>
          </a:p>
        </p:txBody>
      </p:sp>
      <p:sp>
        <p:nvSpPr>
          <p:cNvPr id="5" name="Shape 2"/>
          <p:cNvSpPr/>
          <p:nvPr/>
        </p:nvSpPr>
        <p:spPr>
          <a:xfrm>
            <a:off x="548640" y="1417320"/>
            <a:ext cx="4023360" cy="3840480"/>
          </a:xfrm>
          <a:prstGeom prst="roundRect">
            <a:avLst>
              <a:gd name="adj" fmla="val 2857"/>
            </a:avLst>
          </a:prstGeom>
          <a:solidFill>
            <a:srgbClr val="0B2545"/>
          </a:solidFill>
          <a:ln w="12700">
            <a:solidFill>
              <a:srgbClr val="0B2545"/>
            </a:solidFill>
            <a:prstDash val="solid"/>
          </a:ln>
        </p:spPr>
      </p:sp>
      <p:sp>
        <p:nvSpPr>
          <p:cNvPr id="6" name="Shape 3"/>
          <p:cNvSpPr/>
          <p:nvPr/>
        </p:nvSpPr>
        <p:spPr>
          <a:xfrm>
            <a:off x="822960" y="1691640"/>
            <a:ext cx="548640" cy="548640"/>
          </a:xfrm>
          <a:prstGeom prst="ellipse">
            <a:avLst/>
          </a:prstGeom>
          <a:solidFill>
            <a:srgbClr val="F4A261"/>
          </a:solidFill>
          <a:ln w="12700">
            <a:solidFill>
              <a:srgbClr val="F4A261"/>
            </a:solidFill>
            <a:prstDash val="solid"/>
          </a:ln>
        </p:spPr>
      </p:sp>
      <p:pic>
        <p:nvPicPr>
          <p:cNvPr id="7" name="Image 1" descr="preencoded.png">    </p:cNvPr>
          <p:cNvPicPr>
            <a:picLocks noChangeAspect="1"/>
          </p:cNvPicPr>
          <p:nvPr/>
        </p:nvPicPr>
        <p:blipFill>
          <a:blip r:embed="rId2"/>
          <a:stretch>
            <a:fillRect/>
          </a:stretch>
        </p:blipFill>
        <p:spPr>
          <a:xfrm>
            <a:off x="965606" y="1834286"/>
            <a:ext cx="263347" cy="263347"/>
          </a:xfrm>
          <a:prstGeom prst="rect">
            <a:avLst/>
          </a:prstGeom>
        </p:spPr>
      </p:pic>
      <p:sp>
        <p:nvSpPr>
          <p:cNvPr id="8" name="Text 4"/>
          <p:cNvSpPr txBox="1"/>
          <p:nvPr/>
        </p:nvSpPr>
        <p:spPr>
          <a:xfrm>
            <a:off x="1508760" y="1691640"/>
            <a:ext cx="27432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Situación</a:t>
            </a:r>
            <a:endParaRPr lang="en-US" sz="1900" dirty="0"/>
          </a:p>
        </p:txBody>
      </p:sp>
      <p:sp>
        <p:nvSpPr>
          <p:cNvPr id="9" name="Text 5"/>
          <p:cNvSpPr txBox="1"/>
          <p:nvPr/>
        </p:nvSpPr>
        <p:spPr>
          <a:xfrm>
            <a:off x="822960" y="2423160"/>
            <a:ext cx="3474720" cy="2651760"/>
          </a:xfrm>
          <a:prstGeom prst="rect">
            <a:avLst/>
          </a:prstGeom>
          <a:noFill/>
          <a:ln/>
        </p:spPr>
        <p:txBody>
          <a:bodyPr wrap="square" lIns="0" tIns="0" rIns="0" bIns="0" rtlCol="0" anchor="t"/>
          <a:lstStyle/>
          <a:p>
            <a:pPr indent="0" marL="0">
              <a:buNone/>
            </a:pPr>
            <a:r>
              <a:rPr lang="en-US" sz="1750" dirty="0">
                <a:solidFill>
                  <a:srgbClr val="E6F2F4"/>
                </a:solidFill>
                <a:latin typeface="Calibri" pitchFamily="34" charset="0"/>
                <a:ea typeface="Calibri" pitchFamily="34" charset="-122"/>
                <a:cs typeface="Calibri" pitchFamily="34" charset="-120"/>
              </a:rPr>
              <a:t>Una soda en Heredia quiere una página web con menú y pedidos. Le ofrecen dos opciones: comprar un servidor propio de $1 200 más $30 al mes de electricidad e Internet, o alquilar un servidor en la nube por $15 al mes (pago por uso).</a:t>
            </a:r>
            <a:endParaRPr lang="en-US" sz="1750" dirty="0"/>
          </a:p>
        </p:txBody>
      </p:sp>
      <p:sp>
        <p:nvSpPr>
          <p:cNvPr id="10" name="Shape 6"/>
          <p:cNvSpPr/>
          <p:nvPr/>
        </p:nvSpPr>
        <p:spPr>
          <a:xfrm>
            <a:off x="4892040" y="1417320"/>
            <a:ext cx="6751015" cy="857250"/>
          </a:xfrm>
          <a:prstGeom prst="roundRect">
            <a:avLst>
              <a:gd name="adj" fmla="val 8533"/>
            </a:avLst>
          </a:prstGeom>
          <a:solidFill>
            <a:srgbClr val="F1F7F9"/>
          </a:solidFill>
          <a:ln w="9525">
            <a:solidFill>
              <a:srgbClr val="DCE6EA"/>
            </a:solidFill>
            <a:prstDash val="solid"/>
          </a:ln>
        </p:spPr>
      </p:sp>
      <p:sp>
        <p:nvSpPr>
          <p:cNvPr id="11" name="Shape 7"/>
          <p:cNvSpPr/>
          <p:nvPr/>
        </p:nvSpPr>
        <p:spPr>
          <a:xfrm>
            <a:off x="5074920" y="1617345"/>
            <a:ext cx="457200" cy="457200"/>
          </a:xfrm>
          <a:prstGeom prst="ellipse">
            <a:avLst/>
          </a:prstGeom>
          <a:solidFill>
            <a:srgbClr val="0E7C86"/>
          </a:solidFill>
          <a:ln w="12700">
            <a:solidFill>
              <a:srgbClr val="0E7C86"/>
            </a:solidFill>
            <a:prstDash val="solid"/>
          </a:ln>
        </p:spPr>
      </p:sp>
      <p:sp>
        <p:nvSpPr>
          <p:cNvPr id="12" name="Text 8"/>
          <p:cNvSpPr txBox="1"/>
          <p:nvPr/>
        </p:nvSpPr>
        <p:spPr>
          <a:xfrm>
            <a:off x="5074920" y="161734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9"/>
          <p:cNvSpPr txBox="1"/>
          <p:nvPr/>
        </p:nvSpPr>
        <p:spPr>
          <a:xfrm>
            <a:off x="5715000" y="146304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Servidor propio primer año: $1 200 + 12 × $30 = $1 560.</a:t>
            </a:r>
            <a:endParaRPr lang="en-US" sz="1700" dirty="0"/>
          </a:p>
        </p:txBody>
      </p:sp>
      <p:sp>
        <p:nvSpPr>
          <p:cNvPr id="14" name="Shape 10"/>
          <p:cNvSpPr/>
          <p:nvPr/>
        </p:nvSpPr>
        <p:spPr>
          <a:xfrm>
            <a:off x="4892040" y="2411730"/>
            <a:ext cx="6751015" cy="857250"/>
          </a:xfrm>
          <a:prstGeom prst="roundRect">
            <a:avLst>
              <a:gd name="adj" fmla="val 8533"/>
            </a:avLst>
          </a:prstGeom>
          <a:solidFill>
            <a:srgbClr val="FFFFFF"/>
          </a:solidFill>
          <a:ln w="9525">
            <a:solidFill>
              <a:srgbClr val="DCE6EA"/>
            </a:solidFill>
            <a:prstDash val="solid"/>
          </a:ln>
        </p:spPr>
      </p:sp>
      <p:sp>
        <p:nvSpPr>
          <p:cNvPr id="15" name="Shape 11"/>
          <p:cNvSpPr/>
          <p:nvPr/>
        </p:nvSpPr>
        <p:spPr>
          <a:xfrm>
            <a:off x="5074920" y="2611755"/>
            <a:ext cx="457200" cy="457200"/>
          </a:xfrm>
          <a:prstGeom prst="ellipse">
            <a:avLst/>
          </a:prstGeom>
          <a:solidFill>
            <a:srgbClr val="0E7C86"/>
          </a:solidFill>
          <a:ln w="12700">
            <a:solidFill>
              <a:srgbClr val="0E7C86"/>
            </a:solidFill>
            <a:prstDash val="solid"/>
          </a:ln>
        </p:spPr>
      </p:sp>
      <p:sp>
        <p:nvSpPr>
          <p:cNvPr id="16" name="Text 12"/>
          <p:cNvSpPr txBox="1"/>
          <p:nvPr/>
        </p:nvSpPr>
        <p:spPr>
          <a:xfrm>
            <a:off x="5074920" y="261175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3"/>
          <p:cNvSpPr txBox="1"/>
          <p:nvPr/>
        </p:nvSpPr>
        <p:spPr>
          <a:xfrm>
            <a:off x="5715000" y="245745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Nube primer año: 12 × $15 = $180.</a:t>
            </a:r>
            <a:endParaRPr lang="en-US" sz="1700" dirty="0"/>
          </a:p>
        </p:txBody>
      </p:sp>
      <p:sp>
        <p:nvSpPr>
          <p:cNvPr id="18" name="Shape 14"/>
          <p:cNvSpPr/>
          <p:nvPr/>
        </p:nvSpPr>
        <p:spPr>
          <a:xfrm>
            <a:off x="4892040" y="3406140"/>
            <a:ext cx="6751015" cy="857250"/>
          </a:xfrm>
          <a:prstGeom prst="roundRect">
            <a:avLst>
              <a:gd name="adj" fmla="val 8533"/>
            </a:avLst>
          </a:prstGeom>
          <a:solidFill>
            <a:srgbClr val="F1F7F9"/>
          </a:solidFill>
          <a:ln w="9525">
            <a:solidFill>
              <a:srgbClr val="DCE6EA"/>
            </a:solidFill>
            <a:prstDash val="solid"/>
          </a:ln>
        </p:spPr>
      </p:sp>
      <p:sp>
        <p:nvSpPr>
          <p:cNvPr id="19" name="Shape 15"/>
          <p:cNvSpPr/>
          <p:nvPr/>
        </p:nvSpPr>
        <p:spPr>
          <a:xfrm>
            <a:off x="5074920" y="3606165"/>
            <a:ext cx="457200" cy="457200"/>
          </a:xfrm>
          <a:prstGeom prst="ellipse">
            <a:avLst/>
          </a:prstGeom>
          <a:solidFill>
            <a:srgbClr val="0E7C86"/>
          </a:solidFill>
          <a:ln w="12700">
            <a:solidFill>
              <a:srgbClr val="0E7C86"/>
            </a:solidFill>
            <a:prstDash val="solid"/>
          </a:ln>
        </p:spPr>
      </p:sp>
      <p:sp>
        <p:nvSpPr>
          <p:cNvPr id="20" name="Text 16"/>
          <p:cNvSpPr txBox="1"/>
          <p:nvPr/>
        </p:nvSpPr>
        <p:spPr>
          <a:xfrm>
            <a:off x="5074920" y="360616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7"/>
          <p:cNvSpPr txBox="1"/>
          <p:nvPr/>
        </p:nvSpPr>
        <p:spPr>
          <a:xfrm>
            <a:off x="5715000" y="345186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Ahorro el primer año: $1 380, sin contar el técnico ni las reparaciones.</a:t>
            </a:r>
            <a:endParaRPr lang="en-US" sz="1700" dirty="0"/>
          </a:p>
        </p:txBody>
      </p:sp>
      <p:sp>
        <p:nvSpPr>
          <p:cNvPr id="22" name="Shape 18"/>
          <p:cNvSpPr/>
          <p:nvPr/>
        </p:nvSpPr>
        <p:spPr>
          <a:xfrm>
            <a:off x="4892040" y="4400550"/>
            <a:ext cx="6751015" cy="857250"/>
          </a:xfrm>
          <a:prstGeom prst="roundRect">
            <a:avLst>
              <a:gd name="adj" fmla="val 8533"/>
            </a:avLst>
          </a:prstGeom>
          <a:solidFill>
            <a:srgbClr val="FFFFFF"/>
          </a:solidFill>
          <a:ln w="9525">
            <a:solidFill>
              <a:srgbClr val="DCE6EA"/>
            </a:solidFill>
            <a:prstDash val="solid"/>
          </a:ln>
        </p:spPr>
      </p:sp>
      <p:sp>
        <p:nvSpPr>
          <p:cNvPr id="23" name="Shape 19"/>
          <p:cNvSpPr/>
          <p:nvPr/>
        </p:nvSpPr>
        <p:spPr>
          <a:xfrm>
            <a:off x="5074920" y="4600575"/>
            <a:ext cx="457200" cy="457200"/>
          </a:xfrm>
          <a:prstGeom prst="ellipse">
            <a:avLst/>
          </a:prstGeom>
          <a:solidFill>
            <a:srgbClr val="0E7C86"/>
          </a:solidFill>
          <a:ln w="12700">
            <a:solidFill>
              <a:srgbClr val="0E7C86"/>
            </a:solidFill>
            <a:prstDash val="solid"/>
          </a:ln>
        </p:spPr>
      </p:sp>
      <p:sp>
        <p:nvSpPr>
          <p:cNvPr id="24" name="Text 20"/>
          <p:cNvSpPr txBox="1"/>
          <p:nvPr/>
        </p:nvSpPr>
        <p:spPr>
          <a:xfrm>
            <a:off x="5074920" y="460057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1"/>
          <p:cNvSpPr txBox="1"/>
          <p:nvPr/>
        </p:nvSpPr>
        <p:spPr>
          <a:xfrm>
            <a:off x="5715000" y="444627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Si el negocio no funciona, en la nube se cancela el servicio; el servidor propio ya se pagó.</a:t>
            </a:r>
            <a:endParaRPr lang="en-US" sz="1700" dirty="0"/>
          </a:p>
        </p:txBody>
      </p:sp>
      <p:sp>
        <p:nvSpPr>
          <p:cNvPr id="26" name="Shape 22"/>
          <p:cNvSpPr/>
          <p:nvPr/>
        </p:nvSpPr>
        <p:spPr>
          <a:xfrm>
            <a:off x="548640" y="5440680"/>
            <a:ext cx="11094415" cy="731520"/>
          </a:xfrm>
          <a:prstGeom prst="roundRect">
            <a:avLst>
              <a:gd name="adj" fmla="val 12500"/>
            </a:avLst>
          </a:prstGeom>
          <a:solidFill>
            <a:srgbClr val="FDF1E7"/>
          </a:solidFill>
          <a:ln w="12700">
            <a:solidFill>
              <a:srgbClr val="FDF1E7"/>
            </a:solidFill>
            <a:prstDash val="solid"/>
          </a:ln>
        </p:spPr>
      </p:sp>
      <p:sp>
        <p:nvSpPr>
          <p:cNvPr id="27" name="Shape 23"/>
          <p:cNvSpPr/>
          <p:nvPr/>
        </p:nvSpPr>
        <p:spPr>
          <a:xfrm>
            <a:off x="731520" y="5532120"/>
            <a:ext cx="548640" cy="548640"/>
          </a:xfrm>
          <a:prstGeom prst="ellipse">
            <a:avLst/>
          </a:prstGeom>
          <a:solidFill>
            <a:srgbClr val="F4A261"/>
          </a:solidFill>
          <a:ln w="12700">
            <a:solidFill>
              <a:srgbClr val="F4A261"/>
            </a:solidFill>
            <a:prstDash val="solid"/>
          </a:ln>
        </p:spPr>
      </p:sp>
      <p:pic>
        <p:nvPicPr>
          <p:cNvPr id="28" name="Image 2" descr="preencoded.png">    </p:cNvPr>
          <p:cNvPicPr>
            <a:picLocks noChangeAspect="1"/>
          </p:cNvPicPr>
          <p:nvPr/>
        </p:nvPicPr>
        <p:blipFill>
          <a:blip r:embed="rId3"/>
          <a:stretch>
            <a:fillRect/>
          </a:stretch>
        </p:blipFill>
        <p:spPr>
          <a:xfrm>
            <a:off x="874166" y="5674766"/>
            <a:ext cx="263347" cy="263347"/>
          </a:xfrm>
          <a:prstGeom prst="rect">
            <a:avLst/>
          </a:prstGeom>
        </p:spPr>
      </p:pic>
      <p:sp>
        <p:nvSpPr>
          <p:cNvPr id="29" name="Text 24"/>
          <p:cNvSpPr txBox="1"/>
          <p:nvPr/>
        </p:nvSpPr>
        <p:spPr>
          <a:xfrm>
            <a:off x="1463040" y="5440680"/>
            <a:ext cx="9997135" cy="73152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Conclusión: para una pyme, el pago por uso reduce el riesgo y la inversión inicial.</a:t>
            </a:r>
            <a:endParaRPr lang="en-US" sz="1600" dirty="0"/>
          </a:p>
        </p:txBody>
      </p:sp>
      <p:sp>
        <p:nvSpPr>
          <p:cNvPr id="30" name="Text 25"/>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Máquina virtual (VM)</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Una máquina virtual es una computadora simulada por software que funciona dentro de una computadora física. Tiene su propio sistema operativo, CPU, memoria RAM, disco y tarjeta de red virtuales.</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Host (anfitrión): </a:t>
            </a:r>
            <a:pPr indent="0" marL="0">
              <a:buNone/>
            </a:pPr>
            <a:r>
              <a:rPr lang="en-US" sz="1750" dirty="0">
                <a:solidFill>
                  <a:srgbClr val="1F2937"/>
                </a:solidFill>
                <a:latin typeface="Calibri" pitchFamily="34" charset="0"/>
                <a:ea typeface="Calibri" pitchFamily="34" charset="-122"/>
                <a:cs typeface="Calibri" pitchFamily="34" charset="-120"/>
              </a:rPr>
              <a:t>la computadora física real que presta sus recursos.</a:t>
            </a:r>
            <a:endParaRPr lang="en-US" sz="1750" dirty="0"/>
          </a:p>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Guest (invitado): </a:t>
            </a:r>
            <a:pPr indent="0" marL="0">
              <a:buNone/>
            </a:pPr>
            <a:r>
              <a:rPr lang="en-US" sz="1750" dirty="0">
                <a:solidFill>
                  <a:srgbClr val="1F2937"/>
                </a:solidFill>
                <a:latin typeface="Calibri" pitchFamily="34" charset="0"/>
                <a:ea typeface="Calibri" pitchFamily="34" charset="-122"/>
                <a:cs typeface="Calibri" pitchFamily="34" charset="-120"/>
              </a:rPr>
              <a:t>el sistema operativo que corre dentro de la VM.</a:t>
            </a:r>
            <a:endParaRPr lang="en-US" sz="1750" dirty="0"/>
          </a:p>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Hipervisor: </a:t>
            </a:r>
            <a:pPr indent="0" marL="0">
              <a:buNone/>
            </a:pPr>
            <a:r>
              <a:rPr lang="en-US" sz="1750" dirty="0">
                <a:solidFill>
                  <a:srgbClr val="1F2937"/>
                </a:solidFill>
                <a:latin typeface="Calibri" pitchFamily="34" charset="0"/>
                <a:ea typeface="Calibri" pitchFamily="34" charset="-122"/>
                <a:cs typeface="Calibri" pitchFamily="34" charset="-120"/>
              </a:rPr>
              <a:t>el software que crea las VM y reparte el hardware entre ellas.</a:t>
            </a:r>
            <a:endParaRPr lang="en-US" sz="1750" dirty="0"/>
          </a:p>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Aislamiento: </a:t>
            </a:r>
            <a:pPr indent="0" marL="0">
              <a:buNone/>
            </a:pPr>
            <a:r>
              <a:rPr lang="en-US" sz="1750" dirty="0">
                <a:solidFill>
                  <a:srgbClr val="1F2937"/>
                </a:solidFill>
                <a:latin typeface="Calibri" pitchFamily="34" charset="0"/>
                <a:ea typeface="Calibri" pitchFamily="34" charset="-122"/>
                <a:cs typeface="Calibri" pitchFamily="34" charset="-120"/>
              </a:rPr>
              <a:t>lo que pasa dentro de una VM no afecta al host ni a otras VM.</a:t>
            </a:r>
            <a:endParaRPr lang="en-US" sz="1750" dirty="0"/>
          </a:p>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Snapshot: </a:t>
            </a:r>
            <a:pPr indent="0" marL="0">
              <a:buNone/>
            </a:pPr>
            <a:r>
              <a:rPr lang="en-US" sz="1750" dirty="0">
                <a:solidFill>
                  <a:srgbClr val="1F2937"/>
                </a:solidFill>
                <a:latin typeface="Calibri" pitchFamily="34" charset="0"/>
                <a:ea typeface="Calibri" pitchFamily="34" charset="-122"/>
                <a:cs typeface="Calibri" pitchFamily="34" charset="-120"/>
              </a:rPr>
              <a:t>"fotografía" del estado de la VM para volver atrás.</a:t>
            </a:r>
            <a:endParaRPr lang="en-US" sz="17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1950" dirty="0">
                <a:solidFill>
                  <a:srgbClr val="1F2937"/>
                </a:solidFill>
                <a:latin typeface="Calibri" pitchFamily="34" charset="0"/>
                <a:ea typeface="Calibri" pitchFamily="34" charset="-122"/>
                <a:cs typeface="Calibri" pitchFamily="34" charset="-120"/>
              </a:rPr>
              <a:t>En la computadora del laboratorio (Windows 11 = host) instalamos VirtualBox (hipervisor) y creamos una VM con Ubuntu (guest). Si borramos algo importante en Ubuntu, Windows sigue intacto, y con un snapshot recuperamos Ubuntu en segundos.</a:t>
            </a:r>
            <a:endParaRPr lang="en-US" sz="195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¿Cómo se ve una máquina virtual por dentro?</a:t>
            </a:r>
            <a:endParaRPr lang="en-US" sz="3200" dirty="0"/>
          </a:p>
        </p:txBody>
      </p:sp>
      <p:sp>
        <p:nvSpPr>
          <p:cNvPr id="5" name="Shape 2"/>
          <p:cNvSpPr/>
          <p:nvPr/>
        </p:nvSpPr>
        <p:spPr>
          <a:xfrm>
            <a:off x="548640" y="1417320"/>
            <a:ext cx="2567864" cy="4754880"/>
          </a:xfrm>
          <a:prstGeom prst="roundRect">
            <a:avLst>
              <a:gd name="adj" fmla="val 4273"/>
            </a:avLst>
          </a:prstGeom>
          <a:solidFill>
            <a:srgbClr val="F1F7F9"/>
          </a:solidFill>
          <a:ln w="9525">
            <a:solidFill>
              <a:srgbClr val="DCE6EA"/>
            </a:solidFill>
            <a:prstDash val="solid"/>
          </a:ln>
        </p:spPr>
      </p:sp>
      <p:sp>
        <p:nvSpPr>
          <p:cNvPr id="6" name="Shape 3"/>
          <p:cNvSpPr/>
          <p:nvPr/>
        </p:nvSpPr>
        <p:spPr>
          <a:xfrm>
            <a:off x="777240" y="1645920"/>
            <a:ext cx="548640" cy="54864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19886" y="1788566"/>
            <a:ext cx="263347" cy="263347"/>
          </a:xfrm>
          <a:prstGeom prst="rect">
            <a:avLst/>
          </a:prstGeom>
        </p:spPr>
      </p:pic>
      <p:sp>
        <p:nvSpPr>
          <p:cNvPr id="8" name="Text 4"/>
          <p:cNvSpPr txBox="1"/>
          <p:nvPr/>
        </p:nvSpPr>
        <p:spPr>
          <a:xfrm>
            <a:off x="1463040" y="1645920"/>
            <a:ext cx="147058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Capa 1 · Hardware</a:t>
            </a:r>
            <a:endParaRPr lang="en-US" sz="1700" dirty="0"/>
          </a:p>
        </p:txBody>
      </p:sp>
      <p:sp>
        <p:nvSpPr>
          <p:cNvPr id="9" name="Text 5"/>
          <p:cNvSpPr txBox="1"/>
          <p:nvPr/>
        </p:nvSpPr>
        <p:spPr>
          <a:xfrm>
            <a:off x="777240" y="2331720"/>
            <a:ext cx="2110664" cy="37033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CPU, RAM, disco y red físicos del host. Ej.: laptop con 16 GB de RAM.</a:t>
            </a:r>
            <a:endParaRPr lang="en-US" sz="2000" dirty="0"/>
          </a:p>
        </p:txBody>
      </p:sp>
      <p:sp>
        <p:nvSpPr>
          <p:cNvPr id="10" name="Shape 6"/>
          <p:cNvSpPr/>
          <p:nvPr/>
        </p:nvSpPr>
        <p:spPr>
          <a:xfrm>
            <a:off x="3390824" y="1417320"/>
            <a:ext cx="2567864" cy="4754880"/>
          </a:xfrm>
          <a:prstGeom prst="roundRect">
            <a:avLst>
              <a:gd name="adj" fmla="val 4273"/>
            </a:avLst>
          </a:prstGeom>
          <a:solidFill>
            <a:srgbClr val="F1F7F9"/>
          </a:solidFill>
          <a:ln w="9525">
            <a:solidFill>
              <a:srgbClr val="DCE6EA"/>
            </a:solidFill>
            <a:prstDash val="solid"/>
          </a:ln>
        </p:spPr>
      </p:sp>
      <p:sp>
        <p:nvSpPr>
          <p:cNvPr id="11" name="Shape 7"/>
          <p:cNvSpPr/>
          <p:nvPr/>
        </p:nvSpPr>
        <p:spPr>
          <a:xfrm>
            <a:off x="3619424" y="1645920"/>
            <a:ext cx="548640" cy="548640"/>
          </a:xfrm>
          <a:prstGeom prst="ellipse">
            <a:avLst/>
          </a:prstGeom>
          <a:solidFill>
            <a:srgbClr val="0E7C86"/>
          </a:solidFill>
          <a:ln w="12700">
            <a:solidFill>
              <a:srgbClr val="0E7C86"/>
            </a:solidFill>
            <a:prstDash val="solid"/>
          </a:ln>
        </p:spPr>
      </p:sp>
      <p:pic>
        <p:nvPicPr>
          <p:cNvPr id="12" name="Image 2" descr="preencoded.png">    </p:cNvPr>
          <p:cNvPicPr>
            <a:picLocks noChangeAspect="1"/>
          </p:cNvPicPr>
          <p:nvPr/>
        </p:nvPicPr>
        <p:blipFill>
          <a:blip r:embed="rId3"/>
          <a:stretch>
            <a:fillRect/>
          </a:stretch>
        </p:blipFill>
        <p:spPr>
          <a:xfrm>
            <a:off x="3762070" y="1788566"/>
            <a:ext cx="263347" cy="263347"/>
          </a:xfrm>
          <a:prstGeom prst="rect">
            <a:avLst/>
          </a:prstGeom>
        </p:spPr>
      </p:pic>
      <p:sp>
        <p:nvSpPr>
          <p:cNvPr id="13" name="Text 8"/>
          <p:cNvSpPr txBox="1"/>
          <p:nvPr/>
        </p:nvSpPr>
        <p:spPr>
          <a:xfrm>
            <a:off x="4305224" y="1645920"/>
            <a:ext cx="147058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Capa 2 · Hipervisor</a:t>
            </a:r>
            <a:endParaRPr lang="en-US" sz="1700" dirty="0"/>
          </a:p>
        </p:txBody>
      </p:sp>
      <p:sp>
        <p:nvSpPr>
          <p:cNvPr id="14" name="Text 9"/>
          <p:cNvSpPr txBox="1"/>
          <p:nvPr/>
        </p:nvSpPr>
        <p:spPr>
          <a:xfrm>
            <a:off x="3619424" y="2331720"/>
            <a:ext cx="2110664" cy="37033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VirtualBox, VMware o Hyper-V. Reparte: 4 GB para la VM 1, 4 GB para la VM 2…</a:t>
            </a:r>
            <a:endParaRPr lang="en-US" sz="2000" dirty="0"/>
          </a:p>
        </p:txBody>
      </p:sp>
      <p:sp>
        <p:nvSpPr>
          <p:cNvPr id="15" name="Shape 10"/>
          <p:cNvSpPr/>
          <p:nvPr/>
        </p:nvSpPr>
        <p:spPr>
          <a:xfrm>
            <a:off x="6233008" y="1417320"/>
            <a:ext cx="2567864" cy="4754880"/>
          </a:xfrm>
          <a:prstGeom prst="roundRect">
            <a:avLst>
              <a:gd name="adj" fmla="val 4273"/>
            </a:avLst>
          </a:prstGeom>
          <a:solidFill>
            <a:srgbClr val="F1F7F9"/>
          </a:solidFill>
          <a:ln w="9525">
            <a:solidFill>
              <a:srgbClr val="DCE6EA"/>
            </a:solidFill>
            <a:prstDash val="solid"/>
          </a:ln>
        </p:spPr>
      </p:sp>
      <p:sp>
        <p:nvSpPr>
          <p:cNvPr id="16" name="Shape 11"/>
          <p:cNvSpPr/>
          <p:nvPr/>
        </p:nvSpPr>
        <p:spPr>
          <a:xfrm>
            <a:off x="6461608" y="1645920"/>
            <a:ext cx="548640" cy="548640"/>
          </a:xfrm>
          <a:prstGeom prst="ellipse">
            <a:avLst/>
          </a:prstGeom>
          <a:solidFill>
            <a:srgbClr val="0E7C86"/>
          </a:solidFill>
          <a:ln w="12700">
            <a:solidFill>
              <a:srgbClr val="0E7C86"/>
            </a:solidFill>
            <a:prstDash val="solid"/>
          </a:ln>
        </p:spPr>
      </p:sp>
      <p:pic>
        <p:nvPicPr>
          <p:cNvPr id="17" name="Image 3" descr="preencoded.png">    </p:cNvPr>
          <p:cNvPicPr>
            <a:picLocks noChangeAspect="1"/>
          </p:cNvPicPr>
          <p:nvPr/>
        </p:nvPicPr>
        <p:blipFill>
          <a:blip r:embed="rId4"/>
          <a:stretch>
            <a:fillRect/>
          </a:stretch>
        </p:blipFill>
        <p:spPr>
          <a:xfrm>
            <a:off x="6604254" y="1788566"/>
            <a:ext cx="263347" cy="263347"/>
          </a:xfrm>
          <a:prstGeom prst="rect">
            <a:avLst/>
          </a:prstGeom>
        </p:spPr>
      </p:pic>
      <p:sp>
        <p:nvSpPr>
          <p:cNvPr id="18" name="Text 12"/>
          <p:cNvSpPr txBox="1"/>
          <p:nvPr/>
        </p:nvSpPr>
        <p:spPr>
          <a:xfrm>
            <a:off x="7147408" y="1645920"/>
            <a:ext cx="147058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Capa 3 · Sistemas invitados</a:t>
            </a:r>
            <a:endParaRPr lang="en-US" sz="1700" dirty="0"/>
          </a:p>
        </p:txBody>
      </p:sp>
      <p:sp>
        <p:nvSpPr>
          <p:cNvPr id="19" name="Text 13"/>
          <p:cNvSpPr txBox="1"/>
          <p:nvPr/>
        </p:nvSpPr>
        <p:spPr>
          <a:xfrm>
            <a:off x="6461608" y="2331720"/>
            <a:ext cx="2110664" cy="37033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Cada VM con su sistema: una con Ubuntu, otra con Windows Server.</a:t>
            </a:r>
            <a:endParaRPr lang="en-US" sz="2000" dirty="0"/>
          </a:p>
        </p:txBody>
      </p:sp>
      <p:sp>
        <p:nvSpPr>
          <p:cNvPr id="20" name="Shape 14"/>
          <p:cNvSpPr/>
          <p:nvPr/>
        </p:nvSpPr>
        <p:spPr>
          <a:xfrm>
            <a:off x="9075191" y="1417320"/>
            <a:ext cx="2567864" cy="4754880"/>
          </a:xfrm>
          <a:prstGeom prst="roundRect">
            <a:avLst>
              <a:gd name="adj" fmla="val 4273"/>
            </a:avLst>
          </a:prstGeom>
          <a:solidFill>
            <a:srgbClr val="F1F7F9"/>
          </a:solidFill>
          <a:ln w="9525">
            <a:solidFill>
              <a:srgbClr val="DCE6EA"/>
            </a:solidFill>
            <a:prstDash val="solid"/>
          </a:ln>
        </p:spPr>
      </p:sp>
      <p:sp>
        <p:nvSpPr>
          <p:cNvPr id="21" name="Shape 15"/>
          <p:cNvSpPr/>
          <p:nvPr/>
        </p:nvSpPr>
        <p:spPr>
          <a:xfrm>
            <a:off x="9303791" y="1645920"/>
            <a:ext cx="548640" cy="548640"/>
          </a:xfrm>
          <a:prstGeom prst="ellipse">
            <a:avLst/>
          </a:prstGeom>
          <a:solidFill>
            <a:srgbClr val="0E7C86"/>
          </a:solidFill>
          <a:ln w="12700">
            <a:solidFill>
              <a:srgbClr val="0E7C86"/>
            </a:solidFill>
            <a:prstDash val="solid"/>
          </a:ln>
        </p:spPr>
      </p:sp>
      <p:pic>
        <p:nvPicPr>
          <p:cNvPr id="22" name="Image 4" descr="preencoded.png">    </p:cNvPr>
          <p:cNvPicPr>
            <a:picLocks noChangeAspect="1"/>
          </p:cNvPicPr>
          <p:nvPr/>
        </p:nvPicPr>
        <p:blipFill>
          <a:blip r:embed="rId5"/>
          <a:stretch>
            <a:fillRect/>
          </a:stretch>
        </p:blipFill>
        <p:spPr>
          <a:xfrm>
            <a:off x="9446438" y="1788566"/>
            <a:ext cx="263347" cy="263347"/>
          </a:xfrm>
          <a:prstGeom prst="rect">
            <a:avLst/>
          </a:prstGeom>
        </p:spPr>
      </p:pic>
      <p:sp>
        <p:nvSpPr>
          <p:cNvPr id="23" name="Text 16"/>
          <p:cNvSpPr txBox="1"/>
          <p:nvPr/>
        </p:nvSpPr>
        <p:spPr>
          <a:xfrm>
            <a:off x="9989591" y="1645920"/>
            <a:ext cx="147058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Capa 4 · Aplicaciones</a:t>
            </a:r>
            <a:endParaRPr lang="en-US" sz="1700" dirty="0"/>
          </a:p>
        </p:txBody>
      </p:sp>
      <p:sp>
        <p:nvSpPr>
          <p:cNvPr id="24" name="Text 17"/>
          <p:cNvSpPr txBox="1"/>
          <p:nvPr/>
        </p:nvSpPr>
        <p:spPr>
          <a:xfrm>
            <a:off x="9303791" y="2331720"/>
            <a:ext cx="2110664" cy="37033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Dentro de cada VM: un servidor web, una base de datos, un juego…</a:t>
            </a:r>
            <a:endParaRPr lang="en-US" sz="2000" dirty="0"/>
          </a:p>
        </p:txBody>
      </p:sp>
      <p:sp>
        <p:nvSpPr>
          <p:cNvPr id="25" name="Text 1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Contenedor</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Un contenedor es un paquete ligero que incluye una aplicación y todo lo que necesita para funcionar (librerías, configuración), pero sin un sistema operativo completo: comparte el núcleo (kernel) del sistema anfitrión.</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Ligero: </a:t>
            </a:r>
            <a:pPr indent="0" marL="0">
              <a:buNone/>
            </a:pPr>
            <a:r>
              <a:rPr lang="en-US" sz="2200" dirty="0">
                <a:solidFill>
                  <a:srgbClr val="1F2937"/>
                </a:solidFill>
                <a:latin typeface="Calibri" pitchFamily="34" charset="0"/>
                <a:ea typeface="Calibri" pitchFamily="34" charset="-122"/>
                <a:cs typeface="Calibri" pitchFamily="34" charset="-120"/>
              </a:rPr>
              <a:t>pesa megabytes en lugar de gigabytes.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Rápido: </a:t>
            </a:r>
            <a:pPr indent="0" marL="0">
              <a:buNone/>
            </a:pPr>
            <a:r>
              <a:rPr lang="en-US" sz="2200" dirty="0">
                <a:solidFill>
                  <a:srgbClr val="1F2937"/>
                </a:solidFill>
                <a:latin typeface="Calibri" pitchFamily="34" charset="0"/>
                <a:ea typeface="Calibri" pitchFamily="34" charset="-122"/>
                <a:cs typeface="Calibri" pitchFamily="34" charset="-120"/>
              </a:rPr>
              <a:t>arranca en segundos.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Portable: </a:t>
            </a:r>
            <a:pPr indent="0" marL="0">
              <a:buNone/>
            </a:pPr>
            <a:r>
              <a:rPr lang="en-US" sz="2200" dirty="0">
                <a:solidFill>
                  <a:srgbClr val="1F2937"/>
                </a:solidFill>
                <a:latin typeface="Calibri" pitchFamily="34" charset="0"/>
                <a:ea typeface="Calibri" pitchFamily="34" charset="-122"/>
                <a:cs typeface="Calibri" pitchFamily="34" charset="-120"/>
              </a:rPr>
              <a:t>funciona igual en la laptop del programador y en la nube.</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Herramientas: </a:t>
            </a:r>
            <a:pPr indent="0" marL="0">
              <a:buNone/>
            </a:pPr>
            <a:r>
              <a:rPr lang="en-US" sz="2200" dirty="0">
                <a:solidFill>
                  <a:srgbClr val="1F2937"/>
                </a:solidFill>
                <a:latin typeface="Calibri" pitchFamily="34" charset="0"/>
                <a:ea typeface="Calibri" pitchFamily="34" charset="-122"/>
                <a:cs typeface="Calibri" pitchFamily="34" charset="-120"/>
              </a:rPr>
              <a:t>Docker crea y ejecuta contenedores; Kubernetes los organiza por cientos o miles.</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Analogía</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Como los contenedores del puerto de Moín: no importa qué lleven adentro, todos tienen la misma forma y cualquier barco o camión los puede transportar. Un contenedor de software corre igual en cualquier servidor que tenga Docker.</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Máquina virtual vs. contenedor</a:t>
            </a:r>
            <a:endParaRPr lang="en-US" sz="3200" dirty="0"/>
          </a:p>
        </p:txBody>
      </p:sp>
      <p:sp>
        <p:nvSpPr>
          <p:cNvPr id="5" name="Shape 2"/>
          <p:cNvSpPr/>
          <p:nvPr/>
        </p:nvSpPr>
        <p:spPr>
          <a:xfrm>
            <a:off x="548640" y="1417320"/>
            <a:ext cx="5364328" cy="4709160"/>
          </a:xfrm>
          <a:prstGeom prst="roundRect">
            <a:avLst>
              <a:gd name="adj" fmla="val 2330"/>
            </a:avLst>
          </a:prstGeom>
          <a:solidFill>
            <a:srgbClr val="D5EEF0"/>
          </a:solidFill>
          <a:ln w="12700">
            <a:solidFill>
              <a:srgbClr val="D5EEF0"/>
            </a:solidFill>
            <a:prstDash val="solid"/>
          </a:ln>
        </p:spPr>
      </p:sp>
      <p:sp>
        <p:nvSpPr>
          <p:cNvPr id="6" name="Shape 3"/>
          <p:cNvSpPr/>
          <p:nvPr/>
        </p:nvSpPr>
        <p:spPr>
          <a:xfrm>
            <a:off x="822960" y="1645920"/>
            <a:ext cx="640080" cy="64008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89381" y="1812341"/>
            <a:ext cx="307238" cy="307238"/>
          </a:xfrm>
          <a:prstGeom prst="rect">
            <a:avLst/>
          </a:prstGeom>
        </p:spPr>
      </p:pic>
      <p:sp>
        <p:nvSpPr>
          <p:cNvPr id="8" name="Text 4"/>
          <p:cNvSpPr txBox="1"/>
          <p:nvPr/>
        </p:nvSpPr>
        <p:spPr>
          <a:xfrm>
            <a:off x="1645920" y="1645920"/>
            <a:ext cx="4084168" cy="6400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Máquina virtual</a:t>
            </a:r>
            <a:endParaRPr lang="en-US" sz="2200" dirty="0"/>
          </a:p>
        </p:txBody>
      </p:sp>
      <p:sp>
        <p:nvSpPr>
          <p:cNvPr id="9" name="Text 5"/>
          <p:cNvSpPr txBox="1"/>
          <p:nvPr/>
        </p:nvSpPr>
        <p:spPr>
          <a:xfrm>
            <a:off x="868680" y="2514600"/>
            <a:ext cx="4724248" cy="3474720"/>
          </a:xfrm>
          <a:prstGeom prst="rect">
            <a:avLst/>
          </a:prstGeom>
          <a:noFill/>
          <a:ln/>
        </p:spPr>
        <p:txBody>
          <a:bodyPr wrap="square" lIns="0" tIns="0" rIns="0" bIns="0" rtlCol="0" anchor="t"/>
          <a:lstStyle/>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Incluye un sistema operativo completo.</a:t>
            </a:r>
            <a:endParaRPr lang="en-US" sz="2200" dirty="0"/>
          </a:p>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Pesa gigabytes (ej. 20 GB).</a:t>
            </a:r>
            <a:endParaRPr lang="en-US" sz="2200" dirty="0"/>
          </a:p>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Arranca en minutos.</a:t>
            </a:r>
            <a:endParaRPr lang="en-US" sz="2200" dirty="0"/>
          </a:p>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Aislamiento fuerte: ideal para separar clientes.</a:t>
            </a:r>
            <a:endParaRPr lang="en-US" sz="2200" dirty="0"/>
          </a:p>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Ej.: servidor Windows para la contabilidad.</a:t>
            </a:r>
            <a:endParaRPr lang="en-US" sz="2200" dirty="0"/>
          </a:p>
        </p:txBody>
      </p:sp>
      <p:sp>
        <p:nvSpPr>
          <p:cNvPr id="10" name="Shape 6"/>
          <p:cNvSpPr/>
          <p:nvPr/>
        </p:nvSpPr>
        <p:spPr>
          <a:xfrm>
            <a:off x="6278728" y="1417320"/>
            <a:ext cx="5364328" cy="4709160"/>
          </a:xfrm>
          <a:prstGeom prst="roundRect">
            <a:avLst>
              <a:gd name="adj" fmla="val 2330"/>
            </a:avLst>
          </a:prstGeom>
          <a:solidFill>
            <a:srgbClr val="FDF1E7"/>
          </a:solidFill>
          <a:ln w="12700">
            <a:solidFill>
              <a:srgbClr val="FDF1E7"/>
            </a:solidFill>
            <a:prstDash val="solid"/>
          </a:ln>
        </p:spPr>
      </p:sp>
      <p:sp>
        <p:nvSpPr>
          <p:cNvPr id="11" name="Shape 7"/>
          <p:cNvSpPr/>
          <p:nvPr/>
        </p:nvSpPr>
        <p:spPr>
          <a:xfrm>
            <a:off x="6553048" y="1645920"/>
            <a:ext cx="640080" cy="640080"/>
          </a:xfrm>
          <a:prstGeom prst="ellipse">
            <a:avLst/>
          </a:prstGeom>
          <a:solidFill>
            <a:srgbClr val="F4A261"/>
          </a:solidFill>
          <a:ln w="12700">
            <a:solidFill>
              <a:srgbClr val="F4A261"/>
            </a:solidFill>
            <a:prstDash val="solid"/>
          </a:ln>
        </p:spPr>
      </p:sp>
      <p:pic>
        <p:nvPicPr>
          <p:cNvPr id="12" name="Image 2" descr="preencoded.png">    </p:cNvPr>
          <p:cNvPicPr>
            <a:picLocks noChangeAspect="1"/>
          </p:cNvPicPr>
          <p:nvPr/>
        </p:nvPicPr>
        <p:blipFill>
          <a:blip r:embed="rId3"/>
          <a:stretch>
            <a:fillRect/>
          </a:stretch>
        </p:blipFill>
        <p:spPr>
          <a:xfrm>
            <a:off x="6719468" y="1812341"/>
            <a:ext cx="307238" cy="307238"/>
          </a:xfrm>
          <a:prstGeom prst="rect">
            <a:avLst/>
          </a:prstGeom>
        </p:spPr>
      </p:pic>
      <p:sp>
        <p:nvSpPr>
          <p:cNvPr id="13" name="Text 8"/>
          <p:cNvSpPr txBox="1"/>
          <p:nvPr/>
        </p:nvSpPr>
        <p:spPr>
          <a:xfrm>
            <a:off x="7376008" y="1645920"/>
            <a:ext cx="4084168" cy="6400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Contenedor</a:t>
            </a:r>
            <a:endParaRPr lang="en-US" sz="2200" dirty="0"/>
          </a:p>
        </p:txBody>
      </p:sp>
      <p:sp>
        <p:nvSpPr>
          <p:cNvPr id="14" name="Text 9"/>
          <p:cNvSpPr txBox="1"/>
          <p:nvPr/>
        </p:nvSpPr>
        <p:spPr>
          <a:xfrm>
            <a:off x="6598768" y="2514600"/>
            <a:ext cx="4724248" cy="3474720"/>
          </a:xfrm>
          <a:prstGeom prst="rect">
            <a:avLst/>
          </a:prstGeom>
          <a:noFill/>
          <a:ln/>
        </p:spPr>
        <p:txBody>
          <a:bodyPr wrap="square" lIns="0" tIns="0" rIns="0" bIns="0" rtlCol="0" anchor="t"/>
          <a:lstStyle/>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Solo la app y sus librerías.</a:t>
            </a:r>
            <a:endParaRPr lang="en-US" sz="2200" dirty="0"/>
          </a:p>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Pesa megabytes (ej. 150 MB).</a:t>
            </a:r>
            <a:endParaRPr lang="en-US" sz="2200" dirty="0"/>
          </a:p>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Arranca en segundos.</a:t>
            </a:r>
            <a:endParaRPr lang="en-US" sz="2200" dirty="0"/>
          </a:p>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Aislamiento a nivel de proceso.</a:t>
            </a:r>
            <a:endParaRPr lang="en-US" sz="2200" dirty="0"/>
          </a:p>
          <a:p>
            <a:pPr marL="228600" indent="-228600">
              <a:spcAft>
                <a:spcPts val="700"/>
              </a:spcAft>
              <a:buSzPct val="100000"/>
              <a:buChar char="•"/>
            </a:pPr>
            <a:r>
              <a:rPr lang="en-US" sz="2200" dirty="0">
                <a:solidFill>
                  <a:srgbClr val="1F2937"/>
                </a:solidFill>
                <a:latin typeface="Calibri" pitchFamily="34" charset="0"/>
                <a:ea typeface="Calibri" pitchFamily="34" charset="-122"/>
                <a:cs typeface="Calibri" pitchFamily="34" charset="-120"/>
              </a:rPr>
              <a:t>Ej.: la página web de una tienda que se replica 50 veces en Black Friday.</a:t>
            </a:r>
            <a:endParaRPr lang="en-US" sz="2200" dirty="0"/>
          </a:p>
        </p:txBody>
      </p:sp>
      <p:sp>
        <p:nvSpPr>
          <p:cNvPr id="15" name="Text 10"/>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API: Interfaz de Programación de Aplicaciones</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Una API es un conjunto de reglas que permite que dos programas se comuniquen: uno hace una petición y el otro responde con datos o con una acción.</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050" b="1" dirty="0">
                <a:solidFill>
                  <a:srgbClr val="0E7C86"/>
                </a:solidFill>
                <a:latin typeface="Calibri" pitchFamily="34" charset="0"/>
                <a:ea typeface="Calibri" pitchFamily="34" charset="-122"/>
                <a:cs typeface="Calibri" pitchFamily="34" charset="-120"/>
              </a:rPr>
              <a:t>En la nube: </a:t>
            </a:r>
            <a:pPr indent="0" marL="0">
              <a:buNone/>
            </a:pPr>
            <a:r>
              <a:rPr lang="en-US" sz="2050" dirty="0">
                <a:solidFill>
                  <a:srgbClr val="1F2937"/>
                </a:solidFill>
                <a:latin typeface="Calibri" pitchFamily="34" charset="0"/>
                <a:ea typeface="Calibri" pitchFamily="34" charset="-122"/>
                <a:cs typeface="Calibri" pitchFamily="34" charset="-120"/>
              </a:rPr>
              <a:t>casi todo se controla por API: crear una VM, subir un archivo, consultar una base de datos.</a:t>
            </a:r>
            <a:endParaRPr lang="en-US" sz="2050" dirty="0"/>
          </a:p>
          <a:p>
            <a:pPr marL="228600" indent="-228600">
              <a:spcAft>
                <a:spcPts val="800"/>
              </a:spcAft>
              <a:buSzPct val="100000"/>
              <a:buChar char="•"/>
            </a:pPr>
            <a:r>
              <a:rPr lang="en-US" sz="2050" b="1" dirty="0">
                <a:solidFill>
                  <a:srgbClr val="0E7C86"/>
                </a:solidFill>
                <a:latin typeface="Calibri" pitchFamily="34" charset="0"/>
                <a:ea typeface="Calibri" pitchFamily="34" charset="-122"/>
                <a:cs typeface="Calibri" pitchFamily="34" charset="-120"/>
              </a:rPr>
              <a:t>En el celular: </a:t>
            </a:r>
            <a:pPr indent="0" marL="0">
              <a:buNone/>
            </a:pPr>
            <a:r>
              <a:rPr lang="en-US" sz="2050" dirty="0">
                <a:solidFill>
                  <a:srgbClr val="1F2937"/>
                </a:solidFill>
                <a:latin typeface="Calibri" pitchFamily="34" charset="0"/>
                <a:ea typeface="Calibri" pitchFamily="34" charset="-122"/>
                <a:cs typeface="Calibri" pitchFamily="34" charset="-120"/>
              </a:rPr>
              <a:t>la app del clima pide a una API la temperatura de tu ciudad.</a:t>
            </a:r>
            <a:endParaRPr lang="en-US" sz="2050" dirty="0"/>
          </a:p>
          <a:p>
            <a:pPr marL="228600" indent="-228600">
              <a:spcAft>
                <a:spcPts val="800"/>
              </a:spcAft>
              <a:buSzPct val="100000"/>
              <a:buChar char="•"/>
            </a:pPr>
            <a:r>
              <a:rPr lang="en-US" sz="2050" b="1" dirty="0">
                <a:solidFill>
                  <a:srgbClr val="0E7C86"/>
                </a:solidFill>
                <a:latin typeface="Calibri" pitchFamily="34" charset="0"/>
                <a:ea typeface="Calibri" pitchFamily="34" charset="-122"/>
                <a:cs typeface="Calibri" pitchFamily="34" charset="-120"/>
              </a:rPr>
              <a:t>En pagos: </a:t>
            </a:r>
            <a:pPr indent="0" marL="0">
              <a:buNone/>
            </a:pPr>
            <a:r>
              <a:rPr lang="en-US" sz="2050" dirty="0">
                <a:solidFill>
                  <a:srgbClr val="1F2937"/>
                </a:solidFill>
                <a:latin typeface="Calibri" pitchFamily="34" charset="0"/>
                <a:ea typeface="Calibri" pitchFamily="34" charset="-122"/>
                <a:cs typeface="Calibri" pitchFamily="34" charset="-120"/>
              </a:rPr>
              <a:t>una tienda usa la API de un banco o de SINPE para cobrar.</a:t>
            </a:r>
            <a:endParaRPr lang="en-US" sz="2050" dirty="0"/>
          </a:p>
          <a:p>
            <a:pPr marL="228600" indent="-228600">
              <a:spcAft>
                <a:spcPts val="800"/>
              </a:spcAft>
              <a:buSzPct val="100000"/>
              <a:buChar char="•"/>
            </a:pPr>
            <a:r>
              <a:rPr lang="en-US" sz="2050" b="1" dirty="0">
                <a:solidFill>
                  <a:srgbClr val="0E7C86"/>
                </a:solidFill>
                <a:latin typeface="Calibri" pitchFamily="34" charset="0"/>
                <a:ea typeface="Calibri" pitchFamily="34" charset="-122"/>
                <a:cs typeface="Calibri" pitchFamily="34" charset="-120"/>
              </a:rPr>
              <a:t>Riesgo: </a:t>
            </a:r>
            <a:pPr indent="0" marL="0">
              <a:buNone/>
            </a:pPr>
            <a:r>
              <a:rPr lang="en-US" sz="2050" dirty="0">
                <a:solidFill>
                  <a:srgbClr val="1F2937"/>
                </a:solidFill>
                <a:latin typeface="Calibri" pitchFamily="34" charset="0"/>
                <a:ea typeface="Calibri" pitchFamily="34" charset="-122"/>
                <a:cs typeface="Calibri" pitchFamily="34" charset="-120"/>
              </a:rPr>
              <a:t>una API sin contraseña o con errores es una puerta abierta para atacantes.</a:t>
            </a:r>
            <a:endParaRPr lang="en-US" sz="20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Analogía</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La API es el salonero de un restaurante: el cliente (la app) pide del menú, el salonero lleva el pedido a la cocina (el servidor) y regresa con el plato (los datos). El cliente nunca entra a la cocina.</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t"/>
          <a:lstStyle/>
          <a:p>
            <a:pPr indent="0" marL="0">
              <a:buNone/>
            </a:pPr>
            <a:r>
              <a:rPr lang="en-US" sz="9600" b="1" dirty="0">
                <a:solidFill>
                  <a:srgbClr val="F4A261"/>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834640"/>
            <a:ext cx="7680960" cy="1371600"/>
          </a:xfrm>
          <a:prstGeom prst="rect">
            <a:avLst/>
          </a:prstGeom>
          <a:noFill/>
          <a:ln/>
        </p:spPr>
        <p:txBody>
          <a:bodyPr wrap="square" lIns="0" tIns="0" rIns="0" bIns="0"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Roles del modelo de relación</a:t>
            </a:r>
            <a:endParaRPr lang="en-US" sz="3600" dirty="0"/>
          </a:p>
        </p:txBody>
      </p:sp>
      <p:sp>
        <p:nvSpPr>
          <p:cNvPr id="4" name="Text 2"/>
          <p:cNvSpPr txBox="1"/>
          <p:nvPr/>
        </p:nvSpPr>
        <p:spPr>
          <a:xfrm>
            <a:off x="548640" y="4389120"/>
            <a:ext cx="7315200" cy="914400"/>
          </a:xfrm>
          <a:prstGeom prst="rect">
            <a:avLst/>
          </a:prstGeom>
          <a:noFill/>
          <a:ln/>
        </p:spPr>
        <p:txBody>
          <a:bodyPr wrap="square" lIns="0" tIns="0" rIns="0" bIns="0" rtlCol="0" anchor="t"/>
          <a:lstStyle/>
          <a:p>
            <a:pPr indent="0" marL="0">
              <a:buNone/>
            </a:pPr>
            <a:r>
              <a:rPr lang="en-US" sz="1800" dirty="0">
                <a:solidFill>
                  <a:srgbClr val="CFE3F0"/>
                </a:solidFill>
                <a:latin typeface="Calibri" pitchFamily="34" charset="0"/>
                <a:ea typeface="Calibri" pitchFamily="34" charset="-122"/>
                <a:cs typeface="Calibri" pitchFamily="34" charset="-120"/>
              </a:rPr>
              <a:t>¿Quién usa la nube, quién la ofrece y quién protege qué?</a:t>
            </a:r>
            <a:endParaRPr lang="en-US" sz="1800" dirty="0"/>
          </a:p>
        </p:txBody>
      </p:sp>
      <p:sp>
        <p:nvSpPr>
          <p:cNvPr id="5" name="Shape 3"/>
          <p:cNvSpPr/>
          <p:nvPr/>
        </p:nvSpPr>
        <p:spPr>
          <a:xfrm>
            <a:off x="8503920" y="1737360"/>
            <a:ext cx="3017520" cy="301752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9326880" y="2560320"/>
            <a:ext cx="1371600" cy="1371600"/>
          </a:xfrm>
          <a:prstGeom prst="rect">
            <a:avLst/>
          </a:prstGeom>
        </p:spPr>
      </p:pic>
      <p:sp>
        <p:nvSpPr>
          <p:cNvPr id="7" name="Text 4"/>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9FB3C8"/>
                </a:solidFill>
                <a:latin typeface="Calibri" pitchFamily="34" charset="0"/>
                <a:ea typeface="Calibri" pitchFamily="34" charset="-122"/>
                <a:cs typeface="Calibri" pitchFamily="34" charset="-120"/>
              </a:rPr>
              <a:t>RA1 · Nube y virtualización  ·  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Cliente final o consumidor</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Es la persona u organización que usa los servicios de la nube para sus actividades. Elige el servicio, lo configura, paga por él y es responsable de lo que pone dentro.</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Tipos: </a:t>
            </a:r>
            <a:pPr indent="0" marL="0">
              <a:buNone/>
            </a:pPr>
            <a:r>
              <a:rPr lang="en-US" sz="2200" dirty="0">
                <a:solidFill>
                  <a:srgbClr val="1F2937"/>
                </a:solidFill>
                <a:latin typeface="Calibri" pitchFamily="34" charset="0"/>
                <a:ea typeface="Calibri" pitchFamily="34" charset="-122"/>
                <a:cs typeface="Calibri" pitchFamily="34" charset="-120"/>
              </a:rPr>
              <a:t>personas (usuario de Netflix), empresas (una cooperativa), instituciones (el MEP, un colegio).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Responsabilidades: </a:t>
            </a:r>
            <a:pPr indent="0" marL="0">
              <a:buNone/>
            </a:pPr>
            <a:r>
              <a:rPr lang="en-US" sz="2200" dirty="0">
                <a:solidFill>
                  <a:srgbClr val="1F2937"/>
                </a:solidFill>
                <a:latin typeface="Calibri" pitchFamily="34" charset="0"/>
                <a:ea typeface="Calibri" pitchFamily="34" charset="-122"/>
                <a:cs typeface="Calibri" pitchFamily="34" charset="-120"/>
              </a:rPr>
              <a:t>sus datos, usuarios, contraseñas, permisos y configuraciones.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Derechos: </a:t>
            </a:r>
            <a:pPr indent="0" marL="0">
              <a:buNone/>
            </a:pPr>
            <a:r>
              <a:rPr lang="en-US" sz="2200" dirty="0">
                <a:solidFill>
                  <a:srgbClr val="1F2937"/>
                </a:solidFill>
                <a:latin typeface="Calibri" pitchFamily="34" charset="0"/>
                <a:ea typeface="Calibri" pitchFamily="34" charset="-122"/>
                <a:cs typeface="Calibri" pitchFamily="34" charset="-120"/>
              </a:rPr>
              <a:t>recibir el servicio según el contrato o SLA y que sus datos se protejan.</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1900" dirty="0">
                <a:solidFill>
                  <a:srgbClr val="1F2937"/>
                </a:solidFill>
                <a:latin typeface="Calibri" pitchFamily="34" charset="0"/>
                <a:ea typeface="Calibri" pitchFamily="34" charset="-122"/>
                <a:cs typeface="Calibri" pitchFamily="34" charset="-120"/>
              </a:rPr>
              <a:t>Un colegio que usa Google Workspace for Education es el cliente: decide quién tiene cuenta, qué se comparte y con quién. Si un docente comparte las notas con 'cualquier persona con el enlace', la responsabilidad es del colegio, no de Google.</a:t>
            </a:r>
            <a:endParaRPr lang="en-US" sz="19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Proveedor o prestador</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Es la empresa que ofrece los recursos de la nube: construye y opera los centros de datos, el hardware, la red y la virtualización, y garantiza el servicio mediante un acuerdo de nivel de servicio (SLA).</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Grandes proveedores: </a:t>
            </a:r>
            <a:pPr indent="0" marL="0">
              <a:buNone/>
            </a:pPr>
            <a:r>
              <a:rPr lang="en-US" sz="2200" dirty="0">
                <a:solidFill>
                  <a:srgbClr val="1F2937"/>
                </a:solidFill>
                <a:latin typeface="Calibri" pitchFamily="34" charset="0"/>
                <a:ea typeface="Calibri" pitchFamily="34" charset="-122"/>
                <a:cs typeface="Calibri" pitchFamily="34" charset="-120"/>
              </a:rPr>
              <a:t>Amazon Web Services (AWS), Microsoft Azure, Google Cloud, Oracle, IBM.</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Responsabilidades: </a:t>
            </a:r>
            <a:pPr indent="0" marL="0">
              <a:buNone/>
            </a:pPr>
            <a:r>
              <a:rPr lang="en-US" sz="2200" dirty="0">
                <a:solidFill>
                  <a:srgbClr val="1F2937"/>
                </a:solidFill>
                <a:latin typeface="Calibri" pitchFamily="34" charset="0"/>
                <a:ea typeface="Calibri" pitchFamily="34" charset="-122"/>
                <a:cs typeface="Calibri" pitchFamily="34" charset="-120"/>
              </a:rPr>
              <a:t>seguridad física, disponibilidad, mantenimiento del hardware y del hipervisor.</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SLA: </a:t>
            </a:r>
            <a:pPr indent="0" marL="0">
              <a:buNone/>
            </a:pPr>
            <a:r>
              <a:rPr lang="en-US" sz="2200" dirty="0">
                <a:solidFill>
                  <a:srgbClr val="1F2937"/>
                </a:solidFill>
                <a:latin typeface="Calibri" pitchFamily="34" charset="0"/>
                <a:ea typeface="Calibri" pitchFamily="34" charset="-122"/>
                <a:cs typeface="Calibri" pitchFamily="34" charset="-120"/>
              </a:rPr>
              <a:t>contrato que promete, por ejemplo, 99,9 % de disponibilidad al mes (máximo 43 minutos caído).</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AWS tiene centros de datos en decenas de regiones del mundo. Si un disco falla en uno de ellos, AWS lo reemplaza sin que el cliente se entere, porque los datos están copiados en otros discos.</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Responsabilidad compartida: ¿de quién es la culpa?</a:t>
            </a:r>
            <a:endParaRPr lang="en-US" sz="3200" dirty="0"/>
          </a:p>
        </p:txBody>
      </p:sp>
      <p:sp>
        <p:nvSpPr>
          <p:cNvPr id="5" name="Shape 2"/>
          <p:cNvSpPr/>
          <p:nvPr/>
        </p:nvSpPr>
        <p:spPr>
          <a:xfrm>
            <a:off x="548640" y="1417320"/>
            <a:ext cx="4023360" cy="3840480"/>
          </a:xfrm>
          <a:prstGeom prst="roundRect">
            <a:avLst>
              <a:gd name="adj" fmla="val 2857"/>
            </a:avLst>
          </a:prstGeom>
          <a:solidFill>
            <a:srgbClr val="0B2545"/>
          </a:solidFill>
          <a:ln w="12700">
            <a:solidFill>
              <a:srgbClr val="0B2545"/>
            </a:solidFill>
            <a:prstDash val="solid"/>
          </a:ln>
        </p:spPr>
      </p:sp>
      <p:sp>
        <p:nvSpPr>
          <p:cNvPr id="6" name="Shape 3"/>
          <p:cNvSpPr/>
          <p:nvPr/>
        </p:nvSpPr>
        <p:spPr>
          <a:xfrm>
            <a:off x="822960" y="1691640"/>
            <a:ext cx="548640" cy="548640"/>
          </a:xfrm>
          <a:prstGeom prst="ellipse">
            <a:avLst/>
          </a:prstGeom>
          <a:solidFill>
            <a:srgbClr val="F4A261"/>
          </a:solidFill>
          <a:ln w="12700">
            <a:solidFill>
              <a:srgbClr val="F4A261"/>
            </a:solidFill>
            <a:prstDash val="solid"/>
          </a:ln>
        </p:spPr>
      </p:sp>
      <p:pic>
        <p:nvPicPr>
          <p:cNvPr id="7" name="Image 1" descr="preencoded.png">    </p:cNvPr>
          <p:cNvPicPr>
            <a:picLocks noChangeAspect="1"/>
          </p:cNvPicPr>
          <p:nvPr/>
        </p:nvPicPr>
        <p:blipFill>
          <a:blip r:embed="rId2"/>
          <a:stretch>
            <a:fillRect/>
          </a:stretch>
        </p:blipFill>
        <p:spPr>
          <a:xfrm>
            <a:off x="965606" y="1834286"/>
            <a:ext cx="263347" cy="263347"/>
          </a:xfrm>
          <a:prstGeom prst="rect">
            <a:avLst/>
          </a:prstGeom>
        </p:spPr>
      </p:pic>
      <p:sp>
        <p:nvSpPr>
          <p:cNvPr id="8" name="Text 4"/>
          <p:cNvSpPr txBox="1"/>
          <p:nvPr/>
        </p:nvSpPr>
        <p:spPr>
          <a:xfrm>
            <a:off x="1508760" y="1691640"/>
            <a:ext cx="27432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Situación</a:t>
            </a:r>
            <a:endParaRPr lang="en-US" sz="1900" dirty="0"/>
          </a:p>
        </p:txBody>
      </p:sp>
      <p:sp>
        <p:nvSpPr>
          <p:cNvPr id="9" name="Text 5"/>
          <p:cNvSpPr txBox="1"/>
          <p:nvPr/>
        </p:nvSpPr>
        <p:spPr>
          <a:xfrm>
            <a:off x="822960" y="2423160"/>
            <a:ext cx="3474720" cy="2651760"/>
          </a:xfrm>
          <a:prstGeom prst="rect">
            <a:avLst/>
          </a:prstGeom>
          <a:noFill/>
          <a:ln/>
        </p:spPr>
        <p:txBody>
          <a:bodyPr wrap="square" lIns="0" tIns="0" rIns="0" bIns="0" rtlCol="0" anchor="t"/>
          <a:lstStyle/>
          <a:p>
            <a:pPr indent="0" marL="0">
              <a:buNone/>
            </a:pPr>
            <a:r>
              <a:rPr lang="en-US" sz="1800" dirty="0">
                <a:solidFill>
                  <a:srgbClr val="E6F2F4"/>
                </a:solidFill>
                <a:latin typeface="Calibri" pitchFamily="34" charset="0"/>
                <a:ea typeface="Calibri" pitchFamily="34" charset="-122"/>
                <a:cs typeface="Calibri" pitchFamily="34" charset="-120"/>
              </a:rPr>
              <a:t>Una empresa guarda fotos de sus clientes en un 'bucket' de almacenamiento de AWS. Un empleado lo configura como público por error y un periodista encuentra miles de fotos expuestas en Internet.</a:t>
            </a:r>
            <a:endParaRPr lang="en-US" sz="1800" dirty="0"/>
          </a:p>
        </p:txBody>
      </p:sp>
      <p:sp>
        <p:nvSpPr>
          <p:cNvPr id="10" name="Shape 6"/>
          <p:cNvSpPr/>
          <p:nvPr/>
        </p:nvSpPr>
        <p:spPr>
          <a:xfrm>
            <a:off x="4892040" y="1417320"/>
            <a:ext cx="6751015" cy="857250"/>
          </a:xfrm>
          <a:prstGeom prst="roundRect">
            <a:avLst>
              <a:gd name="adj" fmla="val 8533"/>
            </a:avLst>
          </a:prstGeom>
          <a:solidFill>
            <a:srgbClr val="F1F7F9"/>
          </a:solidFill>
          <a:ln w="9525">
            <a:solidFill>
              <a:srgbClr val="DCE6EA"/>
            </a:solidFill>
            <a:prstDash val="solid"/>
          </a:ln>
        </p:spPr>
      </p:sp>
      <p:sp>
        <p:nvSpPr>
          <p:cNvPr id="11" name="Shape 7"/>
          <p:cNvSpPr/>
          <p:nvPr/>
        </p:nvSpPr>
        <p:spPr>
          <a:xfrm>
            <a:off x="5074920" y="1617345"/>
            <a:ext cx="457200" cy="457200"/>
          </a:xfrm>
          <a:prstGeom prst="ellipse">
            <a:avLst/>
          </a:prstGeom>
          <a:solidFill>
            <a:srgbClr val="0E7C86"/>
          </a:solidFill>
          <a:ln w="12700">
            <a:solidFill>
              <a:srgbClr val="0E7C86"/>
            </a:solidFill>
            <a:prstDash val="solid"/>
          </a:ln>
        </p:spPr>
      </p:sp>
      <p:sp>
        <p:nvSpPr>
          <p:cNvPr id="12" name="Text 8"/>
          <p:cNvSpPr txBox="1"/>
          <p:nvPr/>
        </p:nvSpPr>
        <p:spPr>
          <a:xfrm>
            <a:off x="5074920" y="161734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9"/>
          <p:cNvSpPr txBox="1"/>
          <p:nvPr/>
        </p:nvSpPr>
        <p:spPr>
          <a:xfrm>
            <a:off x="5715000" y="146304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¿Falló la seguridad física del data center? No: nadie entró al edificio.</a:t>
            </a:r>
            <a:endParaRPr lang="en-US" sz="1700" dirty="0"/>
          </a:p>
        </p:txBody>
      </p:sp>
      <p:sp>
        <p:nvSpPr>
          <p:cNvPr id="14" name="Shape 10"/>
          <p:cNvSpPr/>
          <p:nvPr/>
        </p:nvSpPr>
        <p:spPr>
          <a:xfrm>
            <a:off x="4892040" y="2411730"/>
            <a:ext cx="6751015" cy="857250"/>
          </a:xfrm>
          <a:prstGeom prst="roundRect">
            <a:avLst>
              <a:gd name="adj" fmla="val 8533"/>
            </a:avLst>
          </a:prstGeom>
          <a:solidFill>
            <a:srgbClr val="FFFFFF"/>
          </a:solidFill>
          <a:ln w="9525">
            <a:solidFill>
              <a:srgbClr val="DCE6EA"/>
            </a:solidFill>
            <a:prstDash val="solid"/>
          </a:ln>
        </p:spPr>
      </p:sp>
      <p:sp>
        <p:nvSpPr>
          <p:cNvPr id="15" name="Shape 11"/>
          <p:cNvSpPr/>
          <p:nvPr/>
        </p:nvSpPr>
        <p:spPr>
          <a:xfrm>
            <a:off x="5074920" y="2611755"/>
            <a:ext cx="457200" cy="457200"/>
          </a:xfrm>
          <a:prstGeom prst="ellipse">
            <a:avLst/>
          </a:prstGeom>
          <a:solidFill>
            <a:srgbClr val="0E7C86"/>
          </a:solidFill>
          <a:ln w="12700">
            <a:solidFill>
              <a:srgbClr val="0E7C86"/>
            </a:solidFill>
            <a:prstDash val="solid"/>
          </a:ln>
        </p:spPr>
      </p:sp>
      <p:sp>
        <p:nvSpPr>
          <p:cNvPr id="16" name="Text 12"/>
          <p:cNvSpPr txBox="1"/>
          <p:nvPr/>
        </p:nvSpPr>
        <p:spPr>
          <a:xfrm>
            <a:off x="5074920" y="261175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3"/>
          <p:cNvSpPr txBox="1"/>
          <p:nvPr/>
        </p:nvSpPr>
        <p:spPr>
          <a:xfrm>
            <a:off x="5715000" y="245745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¿Falló el hipervisor o la red de AWS? No: la infraestructura funcionó bien.</a:t>
            </a:r>
            <a:endParaRPr lang="en-US" sz="1700" dirty="0"/>
          </a:p>
        </p:txBody>
      </p:sp>
      <p:sp>
        <p:nvSpPr>
          <p:cNvPr id="18" name="Shape 14"/>
          <p:cNvSpPr/>
          <p:nvPr/>
        </p:nvSpPr>
        <p:spPr>
          <a:xfrm>
            <a:off x="4892040" y="3406140"/>
            <a:ext cx="6751015" cy="857250"/>
          </a:xfrm>
          <a:prstGeom prst="roundRect">
            <a:avLst>
              <a:gd name="adj" fmla="val 8533"/>
            </a:avLst>
          </a:prstGeom>
          <a:solidFill>
            <a:srgbClr val="F1F7F9"/>
          </a:solidFill>
          <a:ln w="9525">
            <a:solidFill>
              <a:srgbClr val="DCE6EA"/>
            </a:solidFill>
            <a:prstDash val="solid"/>
          </a:ln>
        </p:spPr>
      </p:sp>
      <p:sp>
        <p:nvSpPr>
          <p:cNvPr id="19" name="Shape 15"/>
          <p:cNvSpPr/>
          <p:nvPr/>
        </p:nvSpPr>
        <p:spPr>
          <a:xfrm>
            <a:off x="5074920" y="3606165"/>
            <a:ext cx="457200" cy="457200"/>
          </a:xfrm>
          <a:prstGeom prst="ellipse">
            <a:avLst/>
          </a:prstGeom>
          <a:solidFill>
            <a:srgbClr val="0E7C86"/>
          </a:solidFill>
          <a:ln w="12700">
            <a:solidFill>
              <a:srgbClr val="0E7C86"/>
            </a:solidFill>
            <a:prstDash val="solid"/>
          </a:ln>
        </p:spPr>
      </p:sp>
      <p:sp>
        <p:nvSpPr>
          <p:cNvPr id="20" name="Text 16"/>
          <p:cNvSpPr txBox="1"/>
          <p:nvPr/>
        </p:nvSpPr>
        <p:spPr>
          <a:xfrm>
            <a:off x="5074920" y="360616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7"/>
          <p:cNvSpPr txBox="1"/>
          <p:nvPr/>
        </p:nvSpPr>
        <p:spPr>
          <a:xfrm>
            <a:off x="5715000" y="345186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¿Qué falló? La configuración de permisos, que es responsabilidad del cliente.</a:t>
            </a:r>
            <a:endParaRPr lang="en-US" sz="1700" dirty="0"/>
          </a:p>
        </p:txBody>
      </p:sp>
      <p:sp>
        <p:nvSpPr>
          <p:cNvPr id="22" name="Shape 18"/>
          <p:cNvSpPr/>
          <p:nvPr/>
        </p:nvSpPr>
        <p:spPr>
          <a:xfrm>
            <a:off x="4892040" y="4400550"/>
            <a:ext cx="6751015" cy="857250"/>
          </a:xfrm>
          <a:prstGeom prst="roundRect">
            <a:avLst>
              <a:gd name="adj" fmla="val 8533"/>
            </a:avLst>
          </a:prstGeom>
          <a:solidFill>
            <a:srgbClr val="FFFFFF"/>
          </a:solidFill>
          <a:ln w="9525">
            <a:solidFill>
              <a:srgbClr val="DCE6EA"/>
            </a:solidFill>
            <a:prstDash val="solid"/>
          </a:ln>
        </p:spPr>
      </p:sp>
      <p:sp>
        <p:nvSpPr>
          <p:cNvPr id="23" name="Shape 19"/>
          <p:cNvSpPr/>
          <p:nvPr/>
        </p:nvSpPr>
        <p:spPr>
          <a:xfrm>
            <a:off x="5074920" y="4600575"/>
            <a:ext cx="457200" cy="457200"/>
          </a:xfrm>
          <a:prstGeom prst="ellipse">
            <a:avLst/>
          </a:prstGeom>
          <a:solidFill>
            <a:srgbClr val="0E7C86"/>
          </a:solidFill>
          <a:ln w="12700">
            <a:solidFill>
              <a:srgbClr val="0E7C86"/>
            </a:solidFill>
            <a:prstDash val="solid"/>
          </a:ln>
        </p:spPr>
      </p:sp>
      <p:sp>
        <p:nvSpPr>
          <p:cNvPr id="24" name="Text 20"/>
          <p:cNvSpPr txBox="1"/>
          <p:nvPr/>
        </p:nvSpPr>
        <p:spPr>
          <a:xfrm>
            <a:off x="5074920" y="460057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1"/>
          <p:cNvSpPr txBox="1"/>
          <p:nvPr/>
        </p:nvSpPr>
        <p:spPr>
          <a:xfrm>
            <a:off x="5715000" y="4446270"/>
            <a:ext cx="5790895" cy="76581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Solución: revisar permisos, activar alertas de buckets públicos y capacitar al personal.</a:t>
            </a:r>
            <a:endParaRPr lang="en-US" sz="1700" dirty="0"/>
          </a:p>
        </p:txBody>
      </p:sp>
      <p:sp>
        <p:nvSpPr>
          <p:cNvPr id="26" name="Shape 22"/>
          <p:cNvSpPr/>
          <p:nvPr/>
        </p:nvSpPr>
        <p:spPr>
          <a:xfrm>
            <a:off x="548640" y="5440680"/>
            <a:ext cx="11094415" cy="731520"/>
          </a:xfrm>
          <a:prstGeom prst="roundRect">
            <a:avLst>
              <a:gd name="adj" fmla="val 12500"/>
            </a:avLst>
          </a:prstGeom>
          <a:solidFill>
            <a:srgbClr val="FDF1E7"/>
          </a:solidFill>
          <a:ln w="12700">
            <a:solidFill>
              <a:srgbClr val="FDF1E7"/>
            </a:solidFill>
            <a:prstDash val="solid"/>
          </a:ln>
        </p:spPr>
      </p:sp>
      <p:sp>
        <p:nvSpPr>
          <p:cNvPr id="27" name="Shape 23"/>
          <p:cNvSpPr/>
          <p:nvPr/>
        </p:nvSpPr>
        <p:spPr>
          <a:xfrm>
            <a:off x="731520" y="5532120"/>
            <a:ext cx="548640" cy="548640"/>
          </a:xfrm>
          <a:prstGeom prst="ellipse">
            <a:avLst/>
          </a:prstGeom>
          <a:solidFill>
            <a:srgbClr val="F4A261"/>
          </a:solidFill>
          <a:ln w="12700">
            <a:solidFill>
              <a:srgbClr val="F4A261"/>
            </a:solidFill>
            <a:prstDash val="solid"/>
          </a:ln>
        </p:spPr>
      </p:sp>
      <p:pic>
        <p:nvPicPr>
          <p:cNvPr id="28" name="Image 2" descr="preencoded.png">    </p:cNvPr>
          <p:cNvPicPr>
            <a:picLocks noChangeAspect="1"/>
          </p:cNvPicPr>
          <p:nvPr/>
        </p:nvPicPr>
        <p:blipFill>
          <a:blip r:embed="rId3"/>
          <a:stretch>
            <a:fillRect/>
          </a:stretch>
        </p:blipFill>
        <p:spPr>
          <a:xfrm>
            <a:off x="874166" y="5674766"/>
            <a:ext cx="263347" cy="263347"/>
          </a:xfrm>
          <a:prstGeom prst="rect">
            <a:avLst/>
          </a:prstGeom>
        </p:spPr>
      </p:pic>
      <p:sp>
        <p:nvSpPr>
          <p:cNvPr id="29" name="Text 24"/>
          <p:cNvSpPr txBox="1"/>
          <p:nvPr/>
        </p:nvSpPr>
        <p:spPr>
          <a:xfrm>
            <a:off x="1463040" y="5440680"/>
            <a:ext cx="9997135" cy="73152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El proveedor protege LA nube; el cliente protege lo que pone EN la nube.</a:t>
            </a:r>
            <a:endParaRPr lang="en-US" sz="1600" dirty="0"/>
          </a:p>
        </p:txBody>
      </p:sp>
      <p:sp>
        <p:nvSpPr>
          <p:cNvPr id="30" name="Text 25"/>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t"/>
          <a:lstStyle/>
          <a:p>
            <a:pPr indent="0" marL="0">
              <a:buNone/>
            </a:pPr>
            <a:r>
              <a:rPr lang="en-US" sz="9600" b="1" dirty="0">
                <a:solidFill>
                  <a:srgbClr val="F4A261"/>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834640"/>
            <a:ext cx="7680960" cy="1371600"/>
          </a:xfrm>
          <a:prstGeom prst="rect">
            <a:avLst/>
          </a:prstGeom>
          <a:noFill/>
          <a:ln/>
        </p:spPr>
        <p:txBody>
          <a:bodyPr wrap="square" lIns="0" tIns="0" rIns="0" bIns="0"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Virtualización</a:t>
            </a:r>
            <a:endParaRPr lang="en-US" sz="3600" dirty="0"/>
          </a:p>
        </p:txBody>
      </p:sp>
      <p:sp>
        <p:nvSpPr>
          <p:cNvPr id="4" name="Text 2"/>
          <p:cNvSpPr txBox="1"/>
          <p:nvPr/>
        </p:nvSpPr>
        <p:spPr>
          <a:xfrm>
            <a:off x="548640" y="4389120"/>
            <a:ext cx="7315200" cy="914400"/>
          </a:xfrm>
          <a:prstGeom prst="rect">
            <a:avLst/>
          </a:prstGeom>
          <a:noFill/>
          <a:ln/>
        </p:spPr>
        <p:txBody>
          <a:bodyPr wrap="square" lIns="0" tIns="0" rIns="0" bIns="0" rtlCol="0" anchor="t"/>
          <a:lstStyle/>
          <a:p>
            <a:pPr indent="0" marL="0">
              <a:buNone/>
            </a:pPr>
            <a:r>
              <a:rPr lang="en-US" sz="1800" dirty="0">
                <a:solidFill>
                  <a:srgbClr val="CFE3F0"/>
                </a:solidFill>
                <a:latin typeface="Calibri" pitchFamily="34" charset="0"/>
                <a:ea typeface="Calibri" pitchFamily="34" charset="-122"/>
                <a:cs typeface="Calibri" pitchFamily="34" charset="-120"/>
              </a:rPr>
              <a:t>La tecnología que hace posible la nube.</a:t>
            </a:r>
            <a:endParaRPr lang="en-US" sz="1800" dirty="0"/>
          </a:p>
        </p:txBody>
      </p:sp>
      <p:sp>
        <p:nvSpPr>
          <p:cNvPr id="5" name="Shape 3"/>
          <p:cNvSpPr/>
          <p:nvPr/>
        </p:nvSpPr>
        <p:spPr>
          <a:xfrm>
            <a:off x="8503920" y="1737360"/>
            <a:ext cx="3017520" cy="301752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9326880" y="2560320"/>
            <a:ext cx="1371600" cy="1371600"/>
          </a:xfrm>
          <a:prstGeom prst="rect">
            <a:avLst/>
          </a:prstGeom>
        </p:spPr>
      </p:pic>
      <p:sp>
        <p:nvSpPr>
          <p:cNvPr id="7" name="Text 4"/>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9FB3C8"/>
                </a:solidFill>
                <a:latin typeface="Calibri" pitchFamily="34" charset="0"/>
                <a:ea typeface="Calibri" pitchFamily="34" charset="-122"/>
                <a:cs typeface="Calibri" pitchFamily="34" charset="-120"/>
              </a:rPr>
              <a:t>RA1 · Nube y virtualización  ·  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Concepto de virtualización</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La virtualización es la tecnología que crea versiones virtuales (simuladas por software) de recursos físicos como servidores, almacenamiento, redes o sistemas operativos, para que un solo equipo funcione como si fueran varios.</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Sin virtualización: </a:t>
            </a:r>
            <a:pPr indent="0" marL="0">
              <a:buNone/>
            </a:pPr>
            <a:r>
              <a:rPr lang="en-US" sz="2200" dirty="0">
                <a:solidFill>
                  <a:srgbClr val="1F2937"/>
                </a:solidFill>
                <a:latin typeface="Calibri" pitchFamily="34" charset="0"/>
                <a:ea typeface="Calibri" pitchFamily="34" charset="-122"/>
                <a:cs typeface="Calibri" pitchFamily="34" charset="-120"/>
              </a:rPr>
              <a:t>1 servidor físico = 1 sistema operativo = 1 aplicación. Mucho desperdicio.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Con virtualización: </a:t>
            </a:r>
            <a:pPr indent="0" marL="0">
              <a:buNone/>
            </a:pPr>
            <a:r>
              <a:rPr lang="en-US" sz="2200" dirty="0">
                <a:solidFill>
                  <a:srgbClr val="1F2937"/>
                </a:solidFill>
                <a:latin typeface="Calibri" pitchFamily="34" charset="0"/>
                <a:ea typeface="Calibri" pitchFamily="34" charset="-122"/>
                <a:cs typeface="Calibri" pitchFamily="34" charset="-120"/>
              </a:rPr>
              <a:t>1 servidor físico = 10 o más VM independientes.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El hipervisor: </a:t>
            </a:r>
            <a:pPr indent="0" marL="0">
              <a:buNone/>
            </a:pPr>
            <a:r>
              <a:rPr lang="en-US" sz="2200" dirty="0">
                <a:solidFill>
                  <a:srgbClr val="1F2937"/>
                </a:solidFill>
                <a:latin typeface="Calibri" pitchFamily="34" charset="0"/>
                <a:ea typeface="Calibri" pitchFamily="34" charset="-122"/>
                <a:cs typeface="Calibri" pitchFamily="34" charset="-120"/>
              </a:rPr>
              <a:t>es la pieza clave: reparte CPU, RAM, disco y red entre las VM.</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Analogía</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Una casa grande que se divide en apartamentos: cada familia tiene su espacio, su llave y su privacidad, pero todos comparten el mismo terreno, techo y conexión de agua.</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Hipervisor tipo 1 y tipo 2</a:t>
            </a:r>
            <a:endParaRPr lang="en-US" sz="3200" dirty="0"/>
          </a:p>
        </p:txBody>
      </p:sp>
      <p:sp>
        <p:nvSpPr>
          <p:cNvPr id="5" name="Shape 2"/>
          <p:cNvSpPr/>
          <p:nvPr/>
        </p:nvSpPr>
        <p:spPr>
          <a:xfrm>
            <a:off x="548640" y="1417320"/>
            <a:ext cx="5364328" cy="4709160"/>
          </a:xfrm>
          <a:prstGeom prst="roundRect">
            <a:avLst>
              <a:gd name="adj" fmla="val 2330"/>
            </a:avLst>
          </a:prstGeom>
          <a:solidFill>
            <a:srgbClr val="D5EEF0"/>
          </a:solidFill>
          <a:ln w="12700">
            <a:solidFill>
              <a:srgbClr val="D5EEF0"/>
            </a:solidFill>
            <a:prstDash val="solid"/>
          </a:ln>
        </p:spPr>
      </p:sp>
      <p:sp>
        <p:nvSpPr>
          <p:cNvPr id="6" name="Shape 3"/>
          <p:cNvSpPr/>
          <p:nvPr/>
        </p:nvSpPr>
        <p:spPr>
          <a:xfrm>
            <a:off x="822960" y="1645920"/>
            <a:ext cx="640080" cy="64008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89381" y="1812341"/>
            <a:ext cx="307238" cy="307238"/>
          </a:xfrm>
          <a:prstGeom prst="rect">
            <a:avLst/>
          </a:prstGeom>
        </p:spPr>
      </p:pic>
      <p:sp>
        <p:nvSpPr>
          <p:cNvPr id="8" name="Text 4"/>
          <p:cNvSpPr txBox="1"/>
          <p:nvPr/>
        </p:nvSpPr>
        <p:spPr>
          <a:xfrm>
            <a:off x="1645920" y="1645920"/>
            <a:ext cx="4084168" cy="6400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Tipo 1 · bare metal (nativo)</a:t>
            </a:r>
            <a:endParaRPr lang="en-US" sz="2200" dirty="0"/>
          </a:p>
        </p:txBody>
      </p:sp>
      <p:sp>
        <p:nvSpPr>
          <p:cNvPr id="9" name="Text 5"/>
          <p:cNvSpPr txBox="1"/>
          <p:nvPr/>
        </p:nvSpPr>
        <p:spPr>
          <a:xfrm>
            <a:off x="868680" y="2514600"/>
            <a:ext cx="4724248" cy="3474720"/>
          </a:xfrm>
          <a:prstGeom prst="rect">
            <a:avLst/>
          </a:prstGeom>
          <a:noFill/>
          <a:ln/>
        </p:spPr>
        <p:txBody>
          <a:bodyPr wrap="square" lIns="0" tIns="0" rIns="0" bIns="0" rtlCol="0" anchor="t"/>
          <a:lstStyle/>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Se instala directo sobre el hardware, sin Windows ni Linux debajo.</a:t>
            </a:r>
            <a:endParaRPr lang="en-US" sz="1750" dirty="0"/>
          </a:p>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Más rendimiento y seguridad.</a:t>
            </a:r>
            <a:endParaRPr lang="en-US" sz="1750" dirty="0"/>
          </a:p>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Se usa en centros de datos y en la nube.</a:t>
            </a:r>
            <a:endParaRPr lang="en-US" sz="1750" dirty="0"/>
          </a:p>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Ej.: VMware ESXi, Hyper-V Server, Xen.</a:t>
            </a:r>
            <a:endParaRPr lang="en-US" sz="1750" dirty="0"/>
          </a:p>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Caso: el servidor del banco con 20 VM.</a:t>
            </a:r>
            <a:endParaRPr lang="en-US" sz="1750" dirty="0"/>
          </a:p>
        </p:txBody>
      </p:sp>
      <p:sp>
        <p:nvSpPr>
          <p:cNvPr id="10" name="Shape 6"/>
          <p:cNvSpPr/>
          <p:nvPr/>
        </p:nvSpPr>
        <p:spPr>
          <a:xfrm>
            <a:off x="6278728" y="1417320"/>
            <a:ext cx="5364328" cy="4709160"/>
          </a:xfrm>
          <a:prstGeom prst="roundRect">
            <a:avLst>
              <a:gd name="adj" fmla="val 2330"/>
            </a:avLst>
          </a:prstGeom>
          <a:solidFill>
            <a:srgbClr val="FDF1E7"/>
          </a:solidFill>
          <a:ln w="12700">
            <a:solidFill>
              <a:srgbClr val="FDF1E7"/>
            </a:solidFill>
            <a:prstDash val="solid"/>
          </a:ln>
        </p:spPr>
      </p:sp>
      <p:sp>
        <p:nvSpPr>
          <p:cNvPr id="11" name="Shape 7"/>
          <p:cNvSpPr/>
          <p:nvPr/>
        </p:nvSpPr>
        <p:spPr>
          <a:xfrm>
            <a:off x="6553048" y="1645920"/>
            <a:ext cx="640080" cy="640080"/>
          </a:xfrm>
          <a:prstGeom prst="ellipse">
            <a:avLst/>
          </a:prstGeom>
          <a:solidFill>
            <a:srgbClr val="F4A261"/>
          </a:solidFill>
          <a:ln w="12700">
            <a:solidFill>
              <a:srgbClr val="F4A261"/>
            </a:solidFill>
            <a:prstDash val="solid"/>
          </a:ln>
        </p:spPr>
      </p:sp>
      <p:pic>
        <p:nvPicPr>
          <p:cNvPr id="12" name="Image 2" descr="preencoded.png">    </p:cNvPr>
          <p:cNvPicPr>
            <a:picLocks noChangeAspect="1"/>
          </p:cNvPicPr>
          <p:nvPr/>
        </p:nvPicPr>
        <p:blipFill>
          <a:blip r:embed="rId3"/>
          <a:stretch>
            <a:fillRect/>
          </a:stretch>
        </p:blipFill>
        <p:spPr>
          <a:xfrm>
            <a:off x="6719468" y="1812341"/>
            <a:ext cx="307238" cy="307238"/>
          </a:xfrm>
          <a:prstGeom prst="rect">
            <a:avLst/>
          </a:prstGeom>
        </p:spPr>
      </p:pic>
      <p:sp>
        <p:nvSpPr>
          <p:cNvPr id="13" name="Text 8"/>
          <p:cNvSpPr txBox="1"/>
          <p:nvPr/>
        </p:nvSpPr>
        <p:spPr>
          <a:xfrm>
            <a:off x="7376008" y="1645920"/>
            <a:ext cx="4084168" cy="6400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Tipo 2 · alojado (hosted)</a:t>
            </a:r>
            <a:endParaRPr lang="en-US" sz="2200" dirty="0"/>
          </a:p>
        </p:txBody>
      </p:sp>
      <p:sp>
        <p:nvSpPr>
          <p:cNvPr id="14" name="Text 9"/>
          <p:cNvSpPr txBox="1"/>
          <p:nvPr/>
        </p:nvSpPr>
        <p:spPr>
          <a:xfrm>
            <a:off x="6598768" y="2514600"/>
            <a:ext cx="4724248" cy="3474720"/>
          </a:xfrm>
          <a:prstGeom prst="rect">
            <a:avLst/>
          </a:prstGeom>
          <a:noFill/>
          <a:ln/>
        </p:spPr>
        <p:txBody>
          <a:bodyPr wrap="square" lIns="0" tIns="0" rIns="0" bIns="0" rtlCol="0" anchor="t"/>
          <a:lstStyle/>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Se instala como un programa sobre un sistema operativo.</a:t>
            </a:r>
            <a:endParaRPr lang="en-US" sz="1750" dirty="0"/>
          </a:p>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Fácil de usar y gratuito en muchos casos.</a:t>
            </a:r>
            <a:endParaRPr lang="en-US" sz="1750" dirty="0"/>
          </a:p>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Se usa para aprender, probar y desarrollar.</a:t>
            </a:r>
            <a:endParaRPr lang="en-US" sz="1750" dirty="0"/>
          </a:p>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Ej.: VirtualBox, VMware Workstation, Virtual PC.</a:t>
            </a:r>
            <a:endParaRPr lang="en-US" sz="1750" dirty="0"/>
          </a:p>
          <a:p>
            <a:pPr marL="228600" indent="-228600">
              <a:spcAft>
                <a:spcPts val="700"/>
              </a:spcAft>
              <a:buSzPct val="100000"/>
              <a:buChar char="•"/>
            </a:pPr>
            <a:r>
              <a:rPr lang="en-US" sz="1750" dirty="0">
                <a:solidFill>
                  <a:srgbClr val="1F2937"/>
                </a:solidFill>
                <a:latin typeface="Calibri" pitchFamily="34" charset="0"/>
                <a:ea typeface="Calibri" pitchFamily="34" charset="-122"/>
                <a:cs typeface="Calibri" pitchFamily="34" charset="-120"/>
              </a:rPr>
              <a:t>Caso: la computadora del laboratorio del colegio.</a:t>
            </a:r>
            <a:endParaRPr lang="en-US" sz="1750" dirty="0"/>
          </a:p>
        </p:txBody>
      </p:sp>
      <p:sp>
        <p:nvSpPr>
          <p:cNvPr id="15" name="Text 10"/>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Clúster</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Un clúster es un grupo de computadoras (nodos) conectadas por una red rápida que trabajan juntas como si fueran una sola, para dar más potencia o para que el servicio no se caiga.</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150" b="1" dirty="0">
                <a:solidFill>
                  <a:srgbClr val="0E7C86"/>
                </a:solidFill>
                <a:latin typeface="Calibri" pitchFamily="34" charset="0"/>
                <a:ea typeface="Calibri" pitchFamily="34" charset="-122"/>
                <a:cs typeface="Calibri" pitchFamily="34" charset="-120"/>
              </a:rPr>
              <a:t>Alta disponibilidad: </a:t>
            </a:r>
            <a:pPr indent="0" marL="0">
              <a:buNone/>
            </a:pPr>
            <a:r>
              <a:rPr lang="en-US" sz="2150" dirty="0">
                <a:solidFill>
                  <a:srgbClr val="1F2937"/>
                </a:solidFill>
                <a:latin typeface="Calibri" pitchFamily="34" charset="0"/>
                <a:ea typeface="Calibri" pitchFamily="34" charset="-122"/>
                <a:cs typeface="Calibri" pitchFamily="34" charset="-120"/>
              </a:rPr>
              <a:t>si un nodo falla, otro toma su trabajo automáticamente.</a:t>
            </a:r>
            <a:endParaRPr lang="en-US" sz="2150" dirty="0"/>
          </a:p>
          <a:p>
            <a:pPr marL="228600" indent="-228600">
              <a:spcAft>
                <a:spcPts val="800"/>
              </a:spcAft>
              <a:buSzPct val="100000"/>
              <a:buChar char="•"/>
            </a:pPr>
            <a:r>
              <a:rPr lang="en-US" sz="2150" b="1" dirty="0">
                <a:solidFill>
                  <a:srgbClr val="0E7C86"/>
                </a:solidFill>
                <a:latin typeface="Calibri" pitchFamily="34" charset="0"/>
                <a:ea typeface="Calibri" pitchFamily="34" charset="-122"/>
                <a:cs typeface="Calibri" pitchFamily="34" charset="-120"/>
              </a:rPr>
              <a:t>Alto rendimiento: </a:t>
            </a:r>
            <a:pPr indent="0" marL="0">
              <a:buNone/>
            </a:pPr>
            <a:r>
              <a:rPr lang="en-US" sz="2150" dirty="0">
                <a:solidFill>
                  <a:srgbClr val="1F2937"/>
                </a:solidFill>
                <a:latin typeface="Calibri" pitchFamily="34" charset="0"/>
                <a:ea typeface="Calibri" pitchFamily="34" charset="-122"/>
                <a:cs typeface="Calibri" pitchFamily="34" charset="-120"/>
              </a:rPr>
              <a:t>se reparte una tarea enorme entre muchos nodos.</a:t>
            </a:r>
            <a:endParaRPr lang="en-US" sz="2150" dirty="0"/>
          </a:p>
          <a:p>
            <a:pPr marL="228600" indent="-228600">
              <a:spcAft>
                <a:spcPts val="800"/>
              </a:spcAft>
              <a:buSzPct val="100000"/>
              <a:buChar char="•"/>
            </a:pPr>
            <a:r>
              <a:rPr lang="en-US" sz="2150" b="1" dirty="0">
                <a:solidFill>
                  <a:srgbClr val="0E7C86"/>
                </a:solidFill>
                <a:latin typeface="Calibri" pitchFamily="34" charset="0"/>
                <a:ea typeface="Calibri" pitchFamily="34" charset="-122"/>
                <a:cs typeface="Calibri" pitchFamily="34" charset="-120"/>
              </a:rPr>
              <a:t>Balanceo de carga: </a:t>
            </a:r>
            <a:pPr indent="0" marL="0">
              <a:buNone/>
            </a:pPr>
            <a:r>
              <a:rPr lang="en-US" sz="2150" dirty="0">
                <a:solidFill>
                  <a:srgbClr val="1F2937"/>
                </a:solidFill>
                <a:latin typeface="Calibri" pitchFamily="34" charset="0"/>
                <a:ea typeface="Calibri" pitchFamily="34" charset="-122"/>
                <a:cs typeface="Calibri" pitchFamily="34" charset="-120"/>
              </a:rPr>
              <a:t>las visitas a una página se distribuyen entre varios servidores.</a:t>
            </a:r>
            <a:endParaRPr lang="en-US" sz="2150" dirty="0"/>
          </a:p>
          <a:p>
            <a:pPr marL="228600" indent="-228600">
              <a:spcAft>
                <a:spcPts val="800"/>
              </a:spcAft>
              <a:buSzPct val="100000"/>
              <a:buChar char="•"/>
            </a:pPr>
            <a:r>
              <a:rPr lang="en-US" sz="2150" b="1" dirty="0">
                <a:solidFill>
                  <a:srgbClr val="0E7C86"/>
                </a:solidFill>
                <a:latin typeface="Calibri" pitchFamily="34" charset="0"/>
                <a:ea typeface="Calibri" pitchFamily="34" charset="-122"/>
                <a:cs typeface="Calibri" pitchFamily="34" charset="-120"/>
              </a:rPr>
              <a:t>En virtualización: </a:t>
            </a:r>
            <a:pPr indent="0" marL="0">
              <a:buNone/>
            </a:pPr>
            <a:r>
              <a:rPr lang="en-US" sz="2150" dirty="0">
                <a:solidFill>
                  <a:srgbClr val="1F2937"/>
                </a:solidFill>
                <a:latin typeface="Calibri" pitchFamily="34" charset="0"/>
                <a:ea typeface="Calibri" pitchFamily="34" charset="-122"/>
                <a:cs typeface="Calibri" pitchFamily="34" charset="-120"/>
              </a:rPr>
              <a:t>un clúster de hosts permite mover VM de un servidor a otro sin apagarlas.</a:t>
            </a:r>
            <a:endParaRPr lang="en-US" sz="21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El sitio de matrícula de una universidad recibe miles de estudiantes a la misma hora. Con un clúster de 6 servidores, las visitas se reparten y, si uno falla, los otros 5 siguen atendiendo.</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CPD: Centro de Procesamiento de Datos</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Un CPD es la instalación física donde una organización concentra sus servidores, almacenamiento y equipos de red, con condiciones especiales para que funcionen las 24 horas.</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Energía: </a:t>
            </a:r>
            <a:pPr indent="0" marL="0">
              <a:buNone/>
            </a:pPr>
            <a:r>
              <a:rPr lang="en-US" sz="2200" dirty="0">
                <a:solidFill>
                  <a:srgbClr val="1F2937"/>
                </a:solidFill>
                <a:latin typeface="Calibri" pitchFamily="34" charset="0"/>
                <a:ea typeface="Calibri" pitchFamily="34" charset="-122"/>
                <a:cs typeface="Calibri" pitchFamily="34" charset="-120"/>
              </a:rPr>
              <a:t>UPS (baterías) y plantas eléctricas de respaldo.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Climatización: </a:t>
            </a:r>
            <a:pPr indent="0" marL="0">
              <a:buNone/>
            </a:pPr>
            <a:r>
              <a:rPr lang="en-US" sz="2200" dirty="0">
                <a:solidFill>
                  <a:srgbClr val="1F2937"/>
                </a:solidFill>
                <a:latin typeface="Calibri" pitchFamily="34" charset="0"/>
                <a:ea typeface="Calibri" pitchFamily="34" charset="-122"/>
                <a:cs typeface="Calibri" pitchFamily="34" charset="-120"/>
              </a:rPr>
              <a:t>aire acondicionado de precisión; los servidores generan mucho calor.</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Seguridad física: </a:t>
            </a:r>
            <a:pPr indent="0" marL="0">
              <a:buNone/>
            </a:pPr>
            <a:r>
              <a:rPr lang="en-US" sz="2200" dirty="0">
                <a:solidFill>
                  <a:srgbClr val="1F2937"/>
                </a:solidFill>
                <a:latin typeface="Calibri" pitchFamily="34" charset="0"/>
                <a:ea typeface="Calibri" pitchFamily="34" charset="-122"/>
                <a:cs typeface="Calibri" pitchFamily="34" charset="-120"/>
              </a:rPr>
              <a:t>control de acceso, cámaras, detección y extinción de incendios.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Conectividad: </a:t>
            </a:r>
            <a:pPr indent="0" marL="0">
              <a:buNone/>
            </a:pPr>
            <a:r>
              <a:rPr lang="en-US" sz="2200" dirty="0">
                <a:solidFill>
                  <a:srgbClr val="1F2937"/>
                </a:solidFill>
                <a:latin typeface="Calibri" pitchFamily="34" charset="0"/>
                <a:ea typeface="Calibri" pitchFamily="34" charset="-122"/>
                <a:cs typeface="Calibri" pitchFamily="34" charset="-120"/>
              </a:rPr>
              <a:t>varios proveedores de Internet por si uno falla.</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Los bancos, la CCSS y las universidades públicas tienen su propio CPD. Un colegio pequeño normalmente no, por eso le conviene usar servicios en la nube.</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Data Center</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Data center es el término en inglés de CPD. Se usa sobre todo para los centros enormes de los proveedores de nube y de las empresas que alquilan espacio a otras (colocation).</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Tamaño: </a:t>
            </a:r>
            <a:pPr indent="0" marL="0">
              <a:buNone/>
            </a:pPr>
            <a:r>
              <a:rPr lang="en-US" sz="2200" dirty="0">
                <a:solidFill>
                  <a:srgbClr val="1F2937"/>
                </a:solidFill>
                <a:latin typeface="Calibri" pitchFamily="34" charset="0"/>
                <a:ea typeface="Calibri" pitchFamily="34" charset="-122"/>
                <a:cs typeface="Calibri" pitchFamily="34" charset="-120"/>
              </a:rPr>
              <a:t>pueden tener cientos de miles de servidores y ocupar varias canchas de fútbol.</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Regiones y zonas: </a:t>
            </a:r>
            <a:pPr indent="0" marL="0">
              <a:buNone/>
            </a:pPr>
            <a:r>
              <a:rPr lang="en-US" sz="2200" dirty="0">
                <a:solidFill>
                  <a:srgbClr val="1F2937"/>
                </a:solidFill>
                <a:latin typeface="Calibri" pitchFamily="34" charset="0"/>
                <a:ea typeface="Calibri" pitchFamily="34" charset="-122"/>
                <a:cs typeface="Calibri" pitchFamily="34" charset="-120"/>
              </a:rPr>
              <a:t>los proveedores agrupan varios data centers en regiones del mundo.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Colocation: </a:t>
            </a:r>
            <a:pPr indent="0" marL="0">
              <a:buNone/>
            </a:pPr>
            <a:r>
              <a:rPr lang="en-US" sz="2200" dirty="0">
                <a:solidFill>
                  <a:srgbClr val="1F2937"/>
                </a:solidFill>
                <a:latin typeface="Calibri" pitchFamily="34" charset="0"/>
                <a:ea typeface="Calibri" pitchFamily="34" charset="-122"/>
                <a:cs typeface="Calibri" pitchFamily="34" charset="-120"/>
              </a:rPr>
              <a:t>una empresa alquila un espacio y pone ahí sus propios equipos.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Sostenibilidad: </a:t>
            </a:r>
            <a:pPr indent="0" marL="0">
              <a:buNone/>
            </a:pPr>
            <a:r>
              <a:rPr lang="en-US" sz="2200" dirty="0">
                <a:solidFill>
                  <a:srgbClr val="1F2937"/>
                </a:solidFill>
                <a:latin typeface="Calibri" pitchFamily="34" charset="0"/>
                <a:ea typeface="Calibri" pitchFamily="34" charset="-122"/>
                <a:cs typeface="Calibri" pitchFamily="34" charset="-120"/>
              </a:rPr>
              <a:t>consumen mucha energía; se busca usar energía renovable.</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Cuando usted guarda un archivo en Google Drive, se copia en varios data centers de una misma región. Si uno sufre un incendio, su archivo sigue disponible desde otro.</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CRM: gestión de la relación con clientes</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CRM (Customer Relationship Management) es el software que usa una empresa para registrar y dar seguimiento a sus clientes: contactos, compras, llamadas, reclamos y oportunidades de venta.</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Para qué sirve: </a:t>
            </a:r>
            <a:pPr indent="0" marL="0">
              <a:buNone/>
            </a:pPr>
            <a:r>
              <a:rPr lang="en-US" sz="2200" dirty="0">
                <a:solidFill>
                  <a:srgbClr val="1F2937"/>
                </a:solidFill>
                <a:latin typeface="Calibri" pitchFamily="34" charset="0"/>
                <a:ea typeface="Calibri" pitchFamily="34" charset="-122"/>
                <a:cs typeface="Calibri" pitchFamily="34" charset="-120"/>
              </a:rPr>
              <a:t>saber quién es cada cliente, qué compró y cuándo contactarlo.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En la nube: </a:t>
            </a:r>
            <a:pPr indent="0" marL="0">
              <a:buNone/>
            </a:pPr>
            <a:r>
              <a:rPr lang="en-US" sz="2200" dirty="0">
                <a:solidFill>
                  <a:srgbClr val="1F2937"/>
                </a:solidFill>
                <a:latin typeface="Calibri" pitchFamily="34" charset="0"/>
                <a:ea typeface="Calibri" pitchFamily="34" charset="-122"/>
                <a:cs typeface="Calibri" pitchFamily="34" charset="-120"/>
              </a:rPr>
              <a:t>hoy casi todos los CRM se contratan como SaaS por usuario al mes.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Ejemplos: </a:t>
            </a:r>
            <a:pPr indent="0" marL="0">
              <a:buNone/>
            </a:pPr>
            <a:r>
              <a:rPr lang="en-US" sz="2200" dirty="0">
                <a:solidFill>
                  <a:srgbClr val="1F2937"/>
                </a:solidFill>
                <a:latin typeface="Calibri" pitchFamily="34" charset="0"/>
                <a:ea typeface="Calibri" pitchFamily="34" charset="-122"/>
                <a:cs typeface="Calibri" pitchFamily="34" charset="-120"/>
              </a:rPr>
              <a:t>Salesforce, HubSpot, Zoho CRM, Microsoft Dynamics 365.</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Seguridad: </a:t>
            </a:r>
            <a:pPr indent="0" marL="0">
              <a:buNone/>
            </a:pPr>
            <a:r>
              <a:rPr lang="en-US" sz="2200" dirty="0">
                <a:solidFill>
                  <a:srgbClr val="1F2937"/>
                </a:solidFill>
                <a:latin typeface="Calibri" pitchFamily="34" charset="0"/>
                <a:ea typeface="Calibri" pitchFamily="34" charset="-122"/>
                <a:cs typeface="Calibri" pitchFamily="34" charset="-120"/>
              </a:rPr>
              <a:t>guarda datos personales: aplica la Ley 8968 de protección de datos.</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Una agencia de carros registra en el CRM a cada persona que pidió una prueba de manejo. El sistema le recuerda al vendedor llamarla a los 3 días y le avisa cuando le toca el mantenimiento.</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Otros conceptos importantes</a:t>
            </a:r>
            <a:endParaRPr lang="en-US" sz="3200" dirty="0"/>
          </a:p>
        </p:txBody>
      </p:sp>
      <p:sp>
        <p:nvSpPr>
          <p:cNvPr id="5" name="Shape 2"/>
          <p:cNvSpPr/>
          <p:nvPr/>
        </p:nvSpPr>
        <p:spPr>
          <a:xfrm>
            <a:off x="548640" y="1417320"/>
            <a:ext cx="3515258" cy="2240280"/>
          </a:xfrm>
          <a:prstGeom prst="roundRect">
            <a:avLst>
              <a:gd name="adj" fmla="val 4898"/>
            </a:avLst>
          </a:prstGeom>
          <a:solidFill>
            <a:srgbClr val="F1F7F9"/>
          </a:solidFill>
          <a:ln w="9525">
            <a:solidFill>
              <a:srgbClr val="DCE6EA"/>
            </a:solidFill>
            <a:prstDash val="solid"/>
          </a:ln>
        </p:spPr>
      </p:sp>
      <p:sp>
        <p:nvSpPr>
          <p:cNvPr id="6" name="Shape 3"/>
          <p:cNvSpPr/>
          <p:nvPr/>
        </p:nvSpPr>
        <p:spPr>
          <a:xfrm>
            <a:off x="777240" y="1645920"/>
            <a:ext cx="548640" cy="54864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19886" y="1788566"/>
            <a:ext cx="263347" cy="263347"/>
          </a:xfrm>
          <a:prstGeom prst="rect">
            <a:avLst/>
          </a:prstGeom>
        </p:spPr>
      </p:pic>
      <p:sp>
        <p:nvSpPr>
          <p:cNvPr id="8" name="Text 4"/>
          <p:cNvSpPr txBox="1"/>
          <p:nvPr/>
        </p:nvSpPr>
        <p:spPr>
          <a:xfrm>
            <a:off x="1463040"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Snapshot</a:t>
            </a:r>
            <a:endParaRPr lang="en-US" sz="1700" dirty="0"/>
          </a:p>
        </p:txBody>
      </p:sp>
      <p:sp>
        <p:nvSpPr>
          <p:cNvPr id="9" name="Text 5"/>
          <p:cNvSpPr txBox="1"/>
          <p:nvPr/>
        </p:nvSpPr>
        <p:spPr>
          <a:xfrm>
            <a:off x="777240" y="2331720"/>
            <a:ext cx="3058058" cy="1188720"/>
          </a:xfrm>
          <a:prstGeom prst="rect">
            <a:avLst/>
          </a:prstGeom>
          <a:noFill/>
          <a:ln/>
        </p:spPr>
        <p:txBody>
          <a:bodyPr wrap="square" lIns="0" tIns="0" rIns="0" bIns="0" rtlCol="0" anchor="t"/>
          <a:lstStyle/>
          <a:p>
            <a:pPr indent="0" marL="0">
              <a:buNone/>
            </a:pPr>
            <a:r>
              <a:rPr lang="en-US" sz="1700" dirty="0">
                <a:solidFill>
                  <a:srgbClr val="1F2937"/>
                </a:solidFill>
                <a:latin typeface="Calibri" pitchFamily="34" charset="0"/>
                <a:ea typeface="Calibri" pitchFamily="34" charset="-122"/>
                <a:cs typeface="Calibri" pitchFamily="34" charset="-120"/>
              </a:rPr>
              <a:t>Estado guardado de una VM. Ej.: antes de actualizar el sistema se toma un snapshot por si algo falla.</a:t>
            </a:r>
            <a:endParaRPr lang="en-US" sz="1700" dirty="0"/>
          </a:p>
        </p:txBody>
      </p:sp>
      <p:sp>
        <p:nvSpPr>
          <p:cNvPr id="10" name="Shape 6"/>
          <p:cNvSpPr/>
          <p:nvPr/>
        </p:nvSpPr>
        <p:spPr>
          <a:xfrm>
            <a:off x="4338218" y="1417320"/>
            <a:ext cx="3515258" cy="2240280"/>
          </a:xfrm>
          <a:prstGeom prst="roundRect">
            <a:avLst>
              <a:gd name="adj" fmla="val 4898"/>
            </a:avLst>
          </a:prstGeom>
          <a:solidFill>
            <a:srgbClr val="F1F7F9"/>
          </a:solidFill>
          <a:ln w="9525">
            <a:solidFill>
              <a:srgbClr val="DCE6EA"/>
            </a:solidFill>
            <a:prstDash val="solid"/>
          </a:ln>
        </p:spPr>
      </p:sp>
      <p:sp>
        <p:nvSpPr>
          <p:cNvPr id="11" name="Shape 7"/>
          <p:cNvSpPr/>
          <p:nvPr/>
        </p:nvSpPr>
        <p:spPr>
          <a:xfrm>
            <a:off x="4566818" y="1645920"/>
            <a:ext cx="548640" cy="548640"/>
          </a:xfrm>
          <a:prstGeom prst="ellipse">
            <a:avLst/>
          </a:prstGeom>
          <a:solidFill>
            <a:srgbClr val="0E7C86"/>
          </a:solidFill>
          <a:ln w="12700">
            <a:solidFill>
              <a:srgbClr val="0E7C86"/>
            </a:solidFill>
            <a:prstDash val="solid"/>
          </a:ln>
        </p:spPr>
      </p:sp>
      <p:pic>
        <p:nvPicPr>
          <p:cNvPr id="12" name="Image 2" descr="preencoded.png">    </p:cNvPr>
          <p:cNvPicPr>
            <a:picLocks noChangeAspect="1"/>
          </p:cNvPicPr>
          <p:nvPr/>
        </p:nvPicPr>
        <p:blipFill>
          <a:blip r:embed="rId3"/>
          <a:stretch>
            <a:fillRect/>
          </a:stretch>
        </p:blipFill>
        <p:spPr>
          <a:xfrm>
            <a:off x="4709465" y="1788566"/>
            <a:ext cx="263347" cy="263347"/>
          </a:xfrm>
          <a:prstGeom prst="rect">
            <a:avLst/>
          </a:prstGeom>
        </p:spPr>
      </p:pic>
      <p:sp>
        <p:nvSpPr>
          <p:cNvPr id="13" name="Text 8"/>
          <p:cNvSpPr txBox="1"/>
          <p:nvPr/>
        </p:nvSpPr>
        <p:spPr>
          <a:xfrm>
            <a:off x="5252618"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Migración en vivo</a:t>
            </a:r>
            <a:endParaRPr lang="en-US" sz="1700" dirty="0"/>
          </a:p>
        </p:txBody>
      </p:sp>
      <p:sp>
        <p:nvSpPr>
          <p:cNvPr id="14" name="Text 9"/>
          <p:cNvSpPr txBox="1"/>
          <p:nvPr/>
        </p:nvSpPr>
        <p:spPr>
          <a:xfrm>
            <a:off x="4566818" y="2331720"/>
            <a:ext cx="3058058" cy="1188720"/>
          </a:xfrm>
          <a:prstGeom prst="rect">
            <a:avLst/>
          </a:prstGeom>
          <a:noFill/>
          <a:ln/>
        </p:spPr>
        <p:txBody>
          <a:bodyPr wrap="square" lIns="0" tIns="0" rIns="0" bIns="0" rtlCol="0" anchor="t"/>
          <a:lstStyle/>
          <a:p>
            <a:pPr indent="0" marL="0">
              <a:buNone/>
            </a:pPr>
            <a:r>
              <a:rPr lang="en-US" sz="1700" dirty="0">
                <a:solidFill>
                  <a:srgbClr val="1F2937"/>
                </a:solidFill>
                <a:latin typeface="Calibri" pitchFamily="34" charset="0"/>
                <a:ea typeface="Calibri" pitchFamily="34" charset="-122"/>
                <a:cs typeface="Calibri" pitchFamily="34" charset="-120"/>
              </a:rPr>
              <a:t>Mover una VM encendida de un servidor a otro sin cortar el servicio (vMotion).</a:t>
            </a:r>
            <a:endParaRPr lang="en-US" sz="1700" dirty="0"/>
          </a:p>
        </p:txBody>
      </p:sp>
      <p:sp>
        <p:nvSpPr>
          <p:cNvPr id="15" name="Shape 10"/>
          <p:cNvSpPr/>
          <p:nvPr/>
        </p:nvSpPr>
        <p:spPr>
          <a:xfrm>
            <a:off x="8127797" y="1417320"/>
            <a:ext cx="3515258" cy="2240280"/>
          </a:xfrm>
          <a:prstGeom prst="roundRect">
            <a:avLst>
              <a:gd name="adj" fmla="val 4898"/>
            </a:avLst>
          </a:prstGeom>
          <a:solidFill>
            <a:srgbClr val="F1F7F9"/>
          </a:solidFill>
          <a:ln w="9525">
            <a:solidFill>
              <a:srgbClr val="DCE6EA"/>
            </a:solidFill>
            <a:prstDash val="solid"/>
          </a:ln>
        </p:spPr>
      </p:sp>
      <p:sp>
        <p:nvSpPr>
          <p:cNvPr id="16" name="Shape 11"/>
          <p:cNvSpPr/>
          <p:nvPr/>
        </p:nvSpPr>
        <p:spPr>
          <a:xfrm>
            <a:off x="8356397" y="1645920"/>
            <a:ext cx="548640" cy="548640"/>
          </a:xfrm>
          <a:prstGeom prst="ellipse">
            <a:avLst/>
          </a:prstGeom>
          <a:solidFill>
            <a:srgbClr val="0E7C86"/>
          </a:solidFill>
          <a:ln w="12700">
            <a:solidFill>
              <a:srgbClr val="0E7C86"/>
            </a:solidFill>
            <a:prstDash val="solid"/>
          </a:ln>
        </p:spPr>
      </p:sp>
      <p:pic>
        <p:nvPicPr>
          <p:cNvPr id="17" name="Image 3" descr="preencoded.png">    </p:cNvPr>
          <p:cNvPicPr>
            <a:picLocks noChangeAspect="1"/>
          </p:cNvPicPr>
          <p:nvPr/>
        </p:nvPicPr>
        <p:blipFill>
          <a:blip r:embed="rId4"/>
          <a:stretch>
            <a:fillRect/>
          </a:stretch>
        </p:blipFill>
        <p:spPr>
          <a:xfrm>
            <a:off x="8499043" y="1788566"/>
            <a:ext cx="263347" cy="263347"/>
          </a:xfrm>
          <a:prstGeom prst="rect">
            <a:avLst/>
          </a:prstGeom>
        </p:spPr>
      </p:pic>
      <p:sp>
        <p:nvSpPr>
          <p:cNvPr id="18" name="Text 12"/>
          <p:cNvSpPr txBox="1"/>
          <p:nvPr/>
        </p:nvSpPr>
        <p:spPr>
          <a:xfrm>
            <a:off x="9042197"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Plantilla / imagen</a:t>
            </a:r>
            <a:endParaRPr lang="en-US" sz="1700" dirty="0"/>
          </a:p>
        </p:txBody>
      </p:sp>
      <p:sp>
        <p:nvSpPr>
          <p:cNvPr id="19" name="Text 13"/>
          <p:cNvSpPr txBox="1"/>
          <p:nvPr/>
        </p:nvSpPr>
        <p:spPr>
          <a:xfrm>
            <a:off x="8356397" y="2331720"/>
            <a:ext cx="3058058" cy="1188720"/>
          </a:xfrm>
          <a:prstGeom prst="rect">
            <a:avLst/>
          </a:prstGeom>
          <a:noFill/>
          <a:ln/>
        </p:spPr>
        <p:txBody>
          <a:bodyPr wrap="square" lIns="0" tIns="0" rIns="0" bIns="0" rtlCol="0" anchor="t"/>
          <a:lstStyle/>
          <a:p>
            <a:pPr indent="0" marL="0">
              <a:buNone/>
            </a:pPr>
            <a:r>
              <a:rPr lang="en-US" sz="1700" dirty="0">
                <a:solidFill>
                  <a:srgbClr val="1F2937"/>
                </a:solidFill>
                <a:latin typeface="Calibri" pitchFamily="34" charset="0"/>
                <a:ea typeface="Calibri" pitchFamily="34" charset="-122"/>
                <a:cs typeface="Calibri" pitchFamily="34" charset="-120"/>
              </a:rPr>
              <a:t>VM modelo para crear otras iguales. Ej.: 30 VM idénticas para un laboratorio.</a:t>
            </a:r>
            <a:endParaRPr lang="en-US" sz="1700" dirty="0"/>
          </a:p>
        </p:txBody>
      </p:sp>
      <p:sp>
        <p:nvSpPr>
          <p:cNvPr id="20" name="Shape 14"/>
          <p:cNvSpPr/>
          <p:nvPr/>
        </p:nvSpPr>
        <p:spPr>
          <a:xfrm>
            <a:off x="548640" y="3931920"/>
            <a:ext cx="3515258" cy="2240280"/>
          </a:xfrm>
          <a:prstGeom prst="roundRect">
            <a:avLst>
              <a:gd name="adj" fmla="val 4898"/>
            </a:avLst>
          </a:prstGeom>
          <a:solidFill>
            <a:srgbClr val="F1F7F9"/>
          </a:solidFill>
          <a:ln w="9525">
            <a:solidFill>
              <a:srgbClr val="DCE6EA"/>
            </a:solidFill>
            <a:prstDash val="solid"/>
          </a:ln>
        </p:spPr>
      </p:sp>
      <p:sp>
        <p:nvSpPr>
          <p:cNvPr id="21" name="Shape 15"/>
          <p:cNvSpPr/>
          <p:nvPr/>
        </p:nvSpPr>
        <p:spPr>
          <a:xfrm>
            <a:off x="777240" y="4160520"/>
            <a:ext cx="548640" cy="548640"/>
          </a:xfrm>
          <a:prstGeom prst="ellipse">
            <a:avLst/>
          </a:prstGeom>
          <a:solidFill>
            <a:srgbClr val="0E7C86"/>
          </a:solidFill>
          <a:ln w="12700">
            <a:solidFill>
              <a:srgbClr val="0E7C86"/>
            </a:solidFill>
            <a:prstDash val="solid"/>
          </a:ln>
        </p:spPr>
      </p:sp>
      <p:pic>
        <p:nvPicPr>
          <p:cNvPr id="22" name="Image 4" descr="preencoded.png">    </p:cNvPr>
          <p:cNvPicPr>
            <a:picLocks noChangeAspect="1"/>
          </p:cNvPicPr>
          <p:nvPr/>
        </p:nvPicPr>
        <p:blipFill>
          <a:blip r:embed="rId5"/>
          <a:stretch>
            <a:fillRect/>
          </a:stretch>
        </p:blipFill>
        <p:spPr>
          <a:xfrm>
            <a:off x="919886" y="4303166"/>
            <a:ext cx="263347" cy="263347"/>
          </a:xfrm>
          <a:prstGeom prst="rect">
            <a:avLst/>
          </a:prstGeom>
        </p:spPr>
      </p:pic>
      <p:sp>
        <p:nvSpPr>
          <p:cNvPr id="23" name="Text 16"/>
          <p:cNvSpPr txBox="1"/>
          <p:nvPr/>
        </p:nvSpPr>
        <p:spPr>
          <a:xfrm>
            <a:off x="1463040"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ERP</a:t>
            </a:r>
            <a:endParaRPr lang="en-US" sz="1700" dirty="0"/>
          </a:p>
        </p:txBody>
      </p:sp>
      <p:sp>
        <p:nvSpPr>
          <p:cNvPr id="24" name="Text 17"/>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700" dirty="0">
                <a:solidFill>
                  <a:srgbClr val="1F2937"/>
                </a:solidFill>
                <a:latin typeface="Calibri" pitchFamily="34" charset="0"/>
                <a:ea typeface="Calibri" pitchFamily="34" charset="-122"/>
                <a:cs typeface="Calibri" pitchFamily="34" charset="-120"/>
              </a:rPr>
              <a:t>Software que integra contabilidad, inventario y planillas. Ej.: SAP, Odoo.</a:t>
            </a:r>
            <a:endParaRPr lang="en-US" sz="1700" dirty="0"/>
          </a:p>
        </p:txBody>
      </p:sp>
      <p:sp>
        <p:nvSpPr>
          <p:cNvPr id="25" name="Shape 18"/>
          <p:cNvSpPr/>
          <p:nvPr/>
        </p:nvSpPr>
        <p:spPr>
          <a:xfrm>
            <a:off x="4338218" y="3931920"/>
            <a:ext cx="3515258" cy="2240280"/>
          </a:xfrm>
          <a:prstGeom prst="roundRect">
            <a:avLst>
              <a:gd name="adj" fmla="val 4898"/>
            </a:avLst>
          </a:prstGeom>
          <a:solidFill>
            <a:srgbClr val="F1F7F9"/>
          </a:solidFill>
          <a:ln w="9525">
            <a:solidFill>
              <a:srgbClr val="DCE6EA"/>
            </a:solidFill>
            <a:prstDash val="solid"/>
          </a:ln>
        </p:spPr>
      </p:sp>
      <p:sp>
        <p:nvSpPr>
          <p:cNvPr id="26" name="Shape 19"/>
          <p:cNvSpPr/>
          <p:nvPr/>
        </p:nvSpPr>
        <p:spPr>
          <a:xfrm>
            <a:off x="4566818" y="4160520"/>
            <a:ext cx="548640" cy="548640"/>
          </a:xfrm>
          <a:prstGeom prst="ellipse">
            <a:avLst/>
          </a:prstGeom>
          <a:solidFill>
            <a:srgbClr val="0E7C86"/>
          </a:solidFill>
          <a:ln w="12700">
            <a:solidFill>
              <a:srgbClr val="0E7C86"/>
            </a:solidFill>
            <a:prstDash val="solid"/>
          </a:ln>
        </p:spPr>
      </p:sp>
      <p:pic>
        <p:nvPicPr>
          <p:cNvPr id="27" name="Image 5" descr="preencoded.png">    </p:cNvPr>
          <p:cNvPicPr>
            <a:picLocks noChangeAspect="1"/>
          </p:cNvPicPr>
          <p:nvPr/>
        </p:nvPicPr>
        <p:blipFill>
          <a:blip r:embed="rId6"/>
          <a:stretch>
            <a:fillRect/>
          </a:stretch>
        </p:blipFill>
        <p:spPr>
          <a:xfrm>
            <a:off x="4709465" y="4303166"/>
            <a:ext cx="263347" cy="263347"/>
          </a:xfrm>
          <a:prstGeom prst="rect">
            <a:avLst/>
          </a:prstGeom>
        </p:spPr>
      </p:pic>
      <p:sp>
        <p:nvSpPr>
          <p:cNvPr id="28" name="Text 20"/>
          <p:cNvSpPr txBox="1"/>
          <p:nvPr/>
        </p:nvSpPr>
        <p:spPr>
          <a:xfrm>
            <a:off x="5252618"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Balanceador de carga</a:t>
            </a:r>
            <a:endParaRPr lang="en-US" sz="1700" dirty="0"/>
          </a:p>
        </p:txBody>
      </p:sp>
      <p:sp>
        <p:nvSpPr>
          <p:cNvPr id="29" name="Text 21"/>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700" dirty="0">
                <a:solidFill>
                  <a:srgbClr val="1F2937"/>
                </a:solidFill>
                <a:latin typeface="Calibri" pitchFamily="34" charset="0"/>
                <a:ea typeface="Calibri" pitchFamily="34" charset="-122"/>
                <a:cs typeface="Calibri" pitchFamily="34" charset="-120"/>
              </a:rPr>
              <a:t>Reparte las visitas entre varios servidores de un clúster.</a:t>
            </a:r>
            <a:endParaRPr lang="en-US" sz="1700" dirty="0"/>
          </a:p>
        </p:txBody>
      </p:sp>
      <p:sp>
        <p:nvSpPr>
          <p:cNvPr id="30" name="Shape 22"/>
          <p:cNvSpPr/>
          <p:nvPr/>
        </p:nvSpPr>
        <p:spPr>
          <a:xfrm>
            <a:off x="8127797" y="3931920"/>
            <a:ext cx="3515258" cy="2240280"/>
          </a:xfrm>
          <a:prstGeom prst="roundRect">
            <a:avLst>
              <a:gd name="adj" fmla="val 4898"/>
            </a:avLst>
          </a:prstGeom>
          <a:solidFill>
            <a:srgbClr val="F1F7F9"/>
          </a:solidFill>
          <a:ln w="9525">
            <a:solidFill>
              <a:srgbClr val="DCE6EA"/>
            </a:solidFill>
            <a:prstDash val="solid"/>
          </a:ln>
        </p:spPr>
      </p:sp>
      <p:sp>
        <p:nvSpPr>
          <p:cNvPr id="31" name="Shape 23"/>
          <p:cNvSpPr/>
          <p:nvPr/>
        </p:nvSpPr>
        <p:spPr>
          <a:xfrm>
            <a:off x="8356397" y="4160520"/>
            <a:ext cx="548640" cy="548640"/>
          </a:xfrm>
          <a:prstGeom prst="ellipse">
            <a:avLst/>
          </a:prstGeom>
          <a:solidFill>
            <a:srgbClr val="0E7C86"/>
          </a:solidFill>
          <a:ln w="12700">
            <a:solidFill>
              <a:srgbClr val="0E7C86"/>
            </a:solidFill>
            <a:prstDash val="solid"/>
          </a:ln>
        </p:spPr>
      </p:sp>
      <p:pic>
        <p:nvPicPr>
          <p:cNvPr id="32" name="Image 6" descr="preencoded.png">    </p:cNvPr>
          <p:cNvPicPr>
            <a:picLocks noChangeAspect="1"/>
          </p:cNvPicPr>
          <p:nvPr/>
        </p:nvPicPr>
        <p:blipFill>
          <a:blip r:embed="rId7"/>
          <a:stretch>
            <a:fillRect/>
          </a:stretch>
        </p:blipFill>
        <p:spPr>
          <a:xfrm>
            <a:off x="8499043" y="4303166"/>
            <a:ext cx="263347" cy="263347"/>
          </a:xfrm>
          <a:prstGeom prst="rect">
            <a:avLst/>
          </a:prstGeom>
        </p:spPr>
      </p:pic>
      <p:sp>
        <p:nvSpPr>
          <p:cNvPr id="33" name="Text 24"/>
          <p:cNvSpPr txBox="1"/>
          <p:nvPr/>
        </p:nvSpPr>
        <p:spPr>
          <a:xfrm>
            <a:off x="9042197"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Aprovisionamiento</a:t>
            </a:r>
            <a:endParaRPr lang="en-US" sz="1700" dirty="0"/>
          </a:p>
        </p:txBody>
      </p:sp>
      <p:sp>
        <p:nvSpPr>
          <p:cNvPr id="34" name="Text 25"/>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1700" dirty="0">
                <a:solidFill>
                  <a:srgbClr val="1F2937"/>
                </a:solidFill>
                <a:latin typeface="Calibri" pitchFamily="34" charset="0"/>
                <a:ea typeface="Calibri" pitchFamily="34" charset="-122"/>
                <a:cs typeface="Calibri" pitchFamily="34" charset="-120"/>
              </a:rPr>
              <a:t>Crear y entregar recursos automáticamente cuando alguien los pide.</a:t>
            </a:r>
            <a:endParaRPr lang="en-US" sz="1700" dirty="0"/>
          </a:p>
        </p:txBody>
      </p:sp>
      <p:sp>
        <p:nvSpPr>
          <p:cNvPr id="35" name="Text 26"/>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Historia de la virtualización</a:t>
            </a:r>
            <a:endParaRPr lang="en-US" sz="3200" dirty="0"/>
          </a:p>
        </p:txBody>
      </p:sp>
      <p:sp>
        <p:nvSpPr>
          <p:cNvPr id="5" name="Shape 2"/>
          <p:cNvSpPr/>
          <p:nvPr/>
        </p:nvSpPr>
        <p:spPr>
          <a:xfrm>
            <a:off x="822960" y="3291840"/>
            <a:ext cx="10545775" cy="0"/>
          </a:xfrm>
          <a:prstGeom prst="line">
            <a:avLst/>
          </a:prstGeom>
          <a:noFill/>
          <a:ln w="38100">
            <a:solidFill>
              <a:srgbClr val="0E7C86"/>
            </a:solidFill>
            <a:prstDash val="solid"/>
          </a:ln>
        </p:spPr>
      </p:sp>
      <p:sp>
        <p:nvSpPr>
          <p:cNvPr id="6" name="Shape 3"/>
          <p:cNvSpPr/>
          <p:nvPr/>
        </p:nvSpPr>
        <p:spPr>
          <a:xfrm>
            <a:off x="676656" y="3145536"/>
            <a:ext cx="292608" cy="292608"/>
          </a:xfrm>
          <a:prstGeom prst="ellipse">
            <a:avLst/>
          </a:prstGeom>
          <a:solidFill>
            <a:srgbClr val="0E7C86"/>
          </a:solidFill>
          <a:ln w="25400">
            <a:solidFill>
              <a:srgbClr val="FFFFFF"/>
            </a:solidFill>
            <a:prstDash val="solid"/>
          </a:ln>
        </p:spPr>
      </p:sp>
      <p:sp>
        <p:nvSpPr>
          <p:cNvPr id="7" name="Text 4"/>
          <p:cNvSpPr txBox="1"/>
          <p:nvPr/>
        </p:nvSpPr>
        <p:spPr>
          <a:xfrm>
            <a:off x="548640" y="146304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1960s</a:t>
            </a:r>
            <a:endParaRPr lang="en-US" sz="2000" dirty="0"/>
          </a:p>
        </p:txBody>
      </p:sp>
      <p:sp>
        <p:nvSpPr>
          <p:cNvPr id="8" name="Text 5"/>
          <p:cNvSpPr txBox="1"/>
          <p:nvPr/>
        </p:nvSpPr>
        <p:spPr>
          <a:xfrm>
            <a:off x="548640" y="187452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IBM CP-40 / CP-67: divide un mainframe entre varios usuarios.</a:t>
            </a:r>
            <a:endParaRPr lang="en-US" sz="1400" dirty="0"/>
          </a:p>
        </p:txBody>
      </p:sp>
      <p:sp>
        <p:nvSpPr>
          <p:cNvPr id="9" name="Shape 6"/>
          <p:cNvSpPr/>
          <p:nvPr/>
        </p:nvSpPr>
        <p:spPr>
          <a:xfrm>
            <a:off x="2434285" y="3145536"/>
            <a:ext cx="292608" cy="292608"/>
          </a:xfrm>
          <a:prstGeom prst="ellipse">
            <a:avLst/>
          </a:prstGeom>
          <a:solidFill>
            <a:srgbClr val="F4A261"/>
          </a:solidFill>
          <a:ln w="25400">
            <a:solidFill>
              <a:srgbClr val="FFFFFF"/>
            </a:solidFill>
            <a:prstDash val="solid"/>
          </a:ln>
        </p:spPr>
      </p:sp>
      <p:sp>
        <p:nvSpPr>
          <p:cNvPr id="10" name="Text 7"/>
          <p:cNvSpPr txBox="1"/>
          <p:nvPr/>
        </p:nvSpPr>
        <p:spPr>
          <a:xfrm>
            <a:off x="1529029" y="361188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1972</a:t>
            </a:r>
            <a:endParaRPr lang="en-US" sz="2000" dirty="0"/>
          </a:p>
        </p:txBody>
      </p:sp>
      <p:sp>
        <p:nvSpPr>
          <p:cNvPr id="11" name="Text 8"/>
          <p:cNvSpPr txBox="1"/>
          <p:nvPr/>
        </p:nvSpPr>
        <p:spPr>
          <a:xfrm>
            <a:off x="1529029" y="402336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IBM VM/370, primer sistema comercial de máquinas virtuales.</a:t>
            </a:r>
            <a:endParaRPr lang="en-US" sz="1400" dirty="0"/>
          </a:p>
        </p:txBody>
      </p:sp>
      <p:sp>
        <p:nvSpPr>
          <p:cNvPr id="12" name="Shape 9"/>
          <p:cNvSpPr/>
          <p:nvPr/>
        </p:nvSpPr>
        <p:spPr>
          <a:xfrm>
            <a:off x="4191914" y="3145536"/>
            <a:ext cx="292608" cy="292608"/>
          </a:xfrm>
          <a:prstGeom prst="ellipse">
            <a:avLst/>
          </a:prstGeom>
          <a:solidFill>
            <a:srgbClr val="0E7C86"/>
          </a:solidFill>
          <a:ln w="25400">
            <a:solidFill>
              <a:srgbClr val="FFFFFF"/>
            </a:solidFill>
            <a:prstDash val="solid"/>
          </a:ln>
        </p:spPr>
      </p:sp>
      <p:sp>
        <p:nvSpPr>
          <p:cNvPr id="13" name="Text 10"/>
          <p:cNvSpPr txBox="1"/>
          <p:nvPr/>
        </p:nvSpPr>
        <p:spPr>
          <a:xfrm>
            <a:off x="3286658" y="146304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1999</a:t>
            </a:r>
            <a:endParaRPr lang="en-US" sz="2000" dirty="0"/>
          </a:p>
        </p:txBody>
      </p:sp>
      <p:sp>
        <p:nvSpPr>
          <p:cNvPr id="14" name="Text 11"/>
          <p:cNvSpPr txBox="1"/>
          <p:nvPr/>
        </p:nvSpPr>
        <p:spPr>
          <a:xfrm>
            <a:off x="3286658" y="187452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VMware Workstation virtualiza computadoras x86.</a:t>
            </a:r>
            <a:endParaRPr lang="en-US" sz="1400" dirty="0"/>
          </a:p>
        </p:txBody>
      </p:sp>
      <p:sp>
        <p:nvSpPr>
          <p:cNvPr id="15" name="Shape 12"/>
          <p:cNvSpPr/>
          <p:nvPr/>
        </p:nvSpPr>
        <p:spPr>
          <a:xfrm>
            <a:off x="5949544" y="3145536"/>
            <a:ext cx="292608" cy="292608"/>
          </a:xfrm>
          <a:prstGeom prst="ellipse">
            <a:avLst/>
          </a:prstGeom>
          <a:solidFill>
            <a:srgbClr val="F4A261"/>
          </a:solidFill>
          <a:ln w="25400">
            <a:solidFill>
              <a:srgbClr val="FFFFFF"/>
            </a:solidFill>
            <a:prstDash val="solid"/>
          </a:ln>
        </p:spPr>
      </p:sp>
      <p:sp>
        <p:nvSpPr>
          <p:cNvPr id="16" name="Text 13"/>
          <p:cNvSpPr txBox="1"/>
          <p:nvPr/>
        </p:nvSpPr>
        <p:spPr>
          <a:xfrm>
            <a:off x="5044288" y="361188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2003</a:t>
            </a:r>
            <a:endParaRPr lang="en-US" sz="2000" dirty="0"/>
          </a:p>
        </p:txBody>
      </p:sp>
      <p:sp>
        <p:nvSpPr>
          <p:cNvPr id="17" name="Text 14"/>
          <p:cNvSpPr txBox="1"/>
          <p:nvPr/>
        </p:nvSpPr>
        <p:spPr>
          <a:xfrm>
            <a:off x="5044288" y="402336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Nace Xen; Microsoft compra Virtual PC.</a:t>
            </a:r>
            <a:endParaRPr lang="en-US" sz="1400" dirty="0"/>
          </a:p>
        </p:txBody>
      </p:sp>
      <p:sp>
        <p:nvSpPr>
          <p:cNvPr id="18" name="Shape 15"/>
          <p:cNvSpPr/>
          <p:nvPr/>
        </p:nvSpPr>
        <p:spPr>
          <a:xfrm>
            <a:off x="7707173" y="3145536"/>
            <a:ext cx="292608" cy="292608"/>
          </a:xfrm>
          <a:prstGeom prst="ellipse">
            <a:avLst/>
          </a:prstGeom>
          <a:solidFill>
            <a:srgbClr val="0E7C86"/>
          </a:solidFill>
          <a:ln w="25400">
            <a:solidFill>
              <a:srgbClr val="FFFFFF"/>
            </a:solidFill>
            <a:prstDash val="solid"/>
          </a:ln>
        </p:spPr>
      </p:sp>
      <p:sp>
        <p:nvSpPr>
          <p:cNvPr id="19" name="Text 16"/>
          <p:cNvSpPr txBox="1"/>
          <p:nvPr/>
        </p:nvSpPr>
        <p:spPr>
          <a:xfrm>
            <a:off x="6801917" y="146304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2006</a:t>
            </a:r>
            <a:endParaRPr lang="en-US" sz="2000" dirty="0"/>
          </a:p>
        </p:txBody>
      </p:sp>
      <p:sp>
        <p:nvSpPr>
          <p:cNvPr id="20" name="Text 17"/>
          <p:cNvSpPr txBox="1"/>
          <p:nvPr/>
        </p:nvSpPr>
        <p:spPr>
          <a:xfrm>
            <a:off x="6801917" y="187452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Intel VT-x y AMD-V: virtualización en el procesador.</a:t>
            </a:r>
            <a:endParaRPr lang="en-US" sz="1400" dirty="0"/>
          </a:p>
        </p:txBody>
      </p:sp>
      <p:sp>
        <p:nvSpPr>
          <p:cNvPr id="21" name="Shape 18"/>
          <p:cNvSpPr/>
          <p:nvPr/>
        </p:nvSpPr>
        <p:spPr>
          <a:xfrm>
            <a:off x="9464802" y="3145536"/>
            <a:ext cx="292608" cy="292608"/>
          </a:xfrm>
          <a:prstGeom prst="ellipse">
            <a:avLst/>
          </a:prstGeom>
          <a:solidFill>
            <a:srgbClr val="F4A261"/>
          </a:solidFill>
          <a:ln w="25400">
            <a:solidFill>
              <a:srgbClr val="FFFFFF"/>
            </a:solidFill>
            <a:prstDash val="solid"/>
          </a:ln>
        </p:spPr>
      </p:sp>
      <p:sp>
        <p:nvSpPr>
          <p:cNvPr id="22" name="Text 19"/>
          <p:cNvSpPr txBox="1"/>
          <p:nvPr/>
        </p:nvSpPr>
        <p:spPr>
          <a:xfrm>
            <a:off x="8559546" y="361188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2007–08</a:t>
            </a:r>
            <a:endParaRPr lang="en-US" sz="2000" dirty="0"/>
          </a:p>
        </p:txBody>
      </p:sp>
      <p:sp>
        <p:nvSpPr>
          <p:cNvPr id="23" name="Text 20"/>
          <p:cNvSpPr txBox="1"/>
          <p:nvPr/>
        </p:nvSpPr>
        <p:spPr>
          <a:xfrm>
            <a:off x="8559546" y="402336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VirtualBox y Microsoft Hyper-V.</a:t>
            </a:r>
            <a:endParaRPr lang="en-US" sz="1400" dirty="0"/>
          </a:p>
        </p:txBody>
      </p:sp>
      <p:sp>
        <p:nvSpPr>
          <p:cNvPr id="24" name="Shape 21"/>
          <p:cNvSpPr/>
          <p:nvPr/>
        </p:nvSpPr>
        <p:spPr>
          <a:xfrm>
            <a:off x="11222431" y="3145536"/>
            <a:ext cx="292608" cy="292608"/>
          </a:xfrm>
          <a:prstGeom prst="ellipse">
            <a:avLst/>
          </a:prstGeom>
          <a:solidFill>
            <a:srgbClr val="0E7C86"/>
          </a:solidFill>
          <a:ln w="25400">
            <a:solidFill>
              <a:srgbClr val="FFFFFF"/>
            </a:solidFill>
            <a:prstDash val="solid"/>
          </a:ln>
        </p:spPr>
      </p:sp>
      <p:sp>
        <p:nvSpPr>
          <p:cNvPr id="25" name="Text 22"/>
          <p:cNvSpPr txBox="1"/>
          <p:nvPr/>
        </p:nvSpPr>
        <p:spPr>
          <a:xfrm>
            <a:off x="9539935" y="146304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2013</a:t>
            </a:r>
            <a:endParaRPr lang="en-US" sz="2000" dirty="0"/>
          </a:p>
        </p:txBody>
      </p:sp>
      <p:sp>
        <p:nvSpPr>
          <p:cNvPr id="26" name="Text 23"/>
          <p:cNvSpPr txBox="1"/>
          <p:nvPr/>
        </p:nvSpPr>
        <p:spPr>
          <a:xfrm>
            <a:off x="9539935" y="187452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Docker populariza los contenedores.</a:t>
            </a:r>
            <a:endParaRPr lang="en-US" sz="1400" dirty="0"/>
          </a:p>
        </p:txBody>
      </p:sp>
      <p:sp>
        <p:nvSpPr>
          <p:cNvPr id="27" name="Text 24"/>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Ventajas de la virtualización</a:t>
            </a:r>
            <a:endParaRPr lang="en-US" sz="3200" dirty="0"/>
          </a:p>
        </p:txBody>
      </p:sp>
      <p:sp>
        <p:nvSpPr>
          <p:cNvPr id="5" name="Shape 2"/>
          <p:cNvSpPr/>
          <p:nvPr/>
        </p:nvSpPr>
        <p:spPr>
          <a:xfrm>
            <a:off x="548640" y="1463040"/>
            <a:ext cx="3515258" cy="2377440"/>
          </a:xfrm>
          <a:prstGeom prst="roundRect">
            <a:avLst>
              <a:gd name="adj" fmla="val 4615"/>
            </a:avLst>
          </a:prstGeom>
          <a:solidFill>
            <a:srgbClr val="0E7C86"/>
          </a:solidFill>
          <a:ln w="12700">
            <a:solidFill>
              <a:srgbClr val="0E7C86"/>
            </a:solidFill>
            <a:prstDash val="solid"/>
          </a:ln>
        </p:spPr>
      </p:sp>
      <p:sp>
        <p:nvSpPr>
          <p:cNvPr id="6" name="Text 3"/>
          <p:cNvSpPr txBox="1"/>
          <p:nvPr/>
        </p:nvSpPr>
        <p:spPr>
          <a:xfrm>
            <a:off x="731520" y="1600200"/>
            <a:ext cx="3149498"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80%</a:t>
            </a:r>
            <a:endParaRPr lang="en-US" sz="4800" dirty="0"/>
          </a:p>
        </p:txBody>
      </p:sp>
      <p:sp>
        <p:nvSpPr>
          <p:cNvPr id="7" name="Text 4"/>
          <p:cNvSpPr txBox="1"/>
          <p:nvPr/>
        </p:nvSpPr>
        <p:spPr>
          <a:xfrm>
            <a:off x="731520" y="2788920"/>
            <a:ext cx="3149498" cy="914400"/>
          </a:xfrm>
          <a:prstGeom prst="rect">
            <a:avLst/>
          </a:prstGeom>
          <a:noFill/>
          <a:ln/>
        </p:spPr>
        <p:txBody>
          <a:bodyPr wrap="square" lIns="0" tIns="0" rIns="0" bIns="0" rtlCol="0" anchor="t"/>
          <a:lstStyle/>
          <a:p>
            <a:pPr algn="ctr" indent="0" marL="0">
              <a:buNone/>
            </a:pPr>
            <a:r>
              <a:rPr lang="en-US" sz="1600" dirty="0">
                <a:solidFill>
                  <a:srgbClr val="E6F2F4"/>
                </a:solidFill>
                <a:latin typeface="Calibri" pitchFamily="34" charset="0"/>
                <a:ea typeface="Calibri" pitchFamily="34" charset="-122"/>
                <a:cs typeface="Calibri" pitchFamily="34" charset="-120"/>
              </a:rPr>
              <a:t>de uso del hardware (antes ~15 %)</a:t>
            </a:r>
            <a:endParaRPr lang="en-US" sz="1600" dirty="0"/>
          </a:p>
        </p:txBody>
      </p:sp>
      <p:sp>
        <p:nvSpPr>
          <p:cNvPr id="8" name="Shape 5"/>
          <p:cNvSpPr/>
          <p:nvPr/>
        </p:nvSpPr>
        <p:spPr>
          <a:xfrm>
            <a:off x="4338218" y="1463040"/>
            <a:ext cx="3515258" cy="2377440"/>
          </a:xfrm>
          <a:prstGeom prst="roundRect">
            <a:avLst>
              <a:gd name="adj" fmla="val 4615"/>
            </a:avLst>
          </a:prstGeom>
          <a:solidFill>
            <a:srgbClr val="0B2545"/>
          </a:solidFill>
          <a:ln w="12700">
            <a:solidFill>
              <a:srgbClr val="0B2545"/>
            </a:solidFill>
            <a:prstDash val="solid"/>
          </a:ln>
        </p:spPr>
      </p:sp>
      <p:sp>
        <p:nvSpPr>
          <p:cNvPr id="9" name="Text 6"/>
          <p:cNvSpPr txBox="1"/>
          <p:nvPr/>
        </p:nvSpPr>
        <p:spPr>
          <a:xfrm>
            <a:off x="4521098" y="1600200"/>
            <a:ext cx="3149498"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Minutos</a:t>
            </a:r>
            <a:endParaRPr lang="en-US" sz="4800" dirty="0"/>
          </a:p>
        </p:txBody>
      </p:sp>
      <p:sp>
        <p:nvSpPr>
          <p:cNvPr id="10" name="Text 7"/>
          <p:cNvSpPr txBox="1"/>
          <p:nvPr/>
        </p:nvSpPr>
        <p:spPr>
          <a:xfrm>
            <a:off x="4521098" y="2788920"/>
            <a:ext cx="3149498" cy="914400"/>
          </a:xfrm>
          <a:prstGeom prst="rect">
            <a:avLst/>
          </a:prstGeom>
          <a:noFill/>
          <a:ln/>
        </p:spPr>
        <p:txBody>
          <a:bodyPr wrap="square" lIns="0" tIns="0" rIns="0" bIns="0" rtlCol="0" anchor="t"/>
          <a:lstStyle/>
          <a:p>
            <a:pPr algn="ctr" indent="0" marL="0">
              <a:buNone/>
            </a:pPr>
            <a:r>
              <a:rPr lang="en-US" sz="1600" dirty="0">
                <a:solidFill>
                  <a:srgbClr val="E6F2F4"/>
                </a:solidFill>
                <a:latin typeface="Calibri" pitchFamily="34" charset="0"/>
                <a:ea typeface="Calibri" pitchFamily="34" charset="-122"/>
                <a:cs typeface="Calibri" pitchFamily="34" charset="-120"/>
              </a:rPr>
              <a:t>para crear un servidor nuevo</a:t>
            </a:r>
            <a:endParaRPr lang="en-US" sz="1600" dirty="0"/>
          </a:p>
        </p:txBody>
      </p:sp>
      <p:sp>
        <p:nvSpPr>
          <p:cNvPr id="11" name="Shape 8"/>
          <p:cNvSpPr/>
          <p:nvPr/>
        </p:nvSpPr>
        <p:spPr>
          <a:xfrm>
            <a:off x="8127797" y="1463040"/>
            <a:ext cx="3515258" cy="2377440"/>
          </a:xfrm>
          <a:prstGeom prst="roundRect">
            <a:avLst>
              <a:gd name="adj" fmla="val 4615"/>
            </a:avLst>
          </a:prstGeom>
          <a:solidFill>
            <a:srgbClr val="0E7C86"/>
          </a:solidFill>
          <a:ln w="12700">
            <a:solidFill>
              <a:srgbClr val="0E7C86"/>
            </a:solidFill>
            <a:prstDash val="solid"/>
          </a:ln>
        </p:spPr>
      </p:sp>
      <p:sp>
        <p:nvSpPr>
          <p:cNvPr id="12" name="Text 9"/>
          <p:cNvSpPr txBox="1"/>
          <p:nvPr/>
        </p:nvSpPr>
        <p:spPr>
          <a:xfrm>
            <a:off x="8310677" y="1600200"/>
            <a:ext cx="3149498"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1 → 10+</a:t>
            </a:r>
            <a:endParaRPr lang="en-US" sz="4800" dirty="0"/>
          </a:p>
        </p:txBody>
      </p:sp>
      <p:sp>
        <p:nvSpPr>
          <p:cNvPr id="13" name="Text 10"/>
          <p:cNvSpPr txBox="1"/>
          <p:nvPr/>
        </p:nvSpPr>
        <p:spPr>
          <a:xfrm>
            <a:off x="8310677" y="2788920"/>
            <a:ext cx="3149498" cy="914400"/>
          </a:xfrm>
          <a:prstGeom prst="rect">
            <a:avLst/>
          </a:prstGeom>
          <a:noFill/>
          <a:ln/>
        </p:spPr>
        <p:txBody>
          <a:bodyPr wrap="square" lIns="0" tIns="0" rIns="0" bIns="0" rtlCol="0" anchor="t"/>
          <a:lstStyle/>
          <a:p>
            <a:pPr algn="ctr" indent="0" marL="0">
              <a:buNone/>
            </a:pPr>
            <a:r>
              <a:rPr lang="en-US" sz="1600" dirty="0">
                <a:solidFill>
                  <a:srgbClr val="E6F2F4"/>
                </a:solidFill>
                <a:latin typeface="Calibri" pitchFamily="34" charset="0"/>
                <a:ea typeface="Calibri" pitchFamily="34" charset="-122"/>
                <a:cs typeface="Calibri" pitchFamily="34" charset="-120"/>
              </a:rPr>
              <a:t>sistemas en un solo equipo físico</a:t>
            </a:r>
            <a:endParaRPr lang="en-US" sz="1600" dirty="0"/>
          </a:p>
        </p:txBody>
      </p:sp>
      <p:sp>
        <p:nvSpPr>
          <p:cNvPr id="14" name="Text 11"/>
          <p:cNvSpPr txBox="1"/>
          <p:nvPr/>
        </p:nvSpPr>
        <p:spPr>
          <a:xfrm>
            <a:off x="548640" y="4160520"/>
            <a:ext cx="11094415" cy="2011680"/>
          </a:xfrm>
          <a:prstGeom prst="rect">
            <a:avLst/>
          </a:prstGeom>
          <a:noFill/>
          <a:ln/>
        </p:spPr>
        <p:txBody>
          <a:bodyPr wrap="square" lIns="0" tIns="0" rIns="0" bIns="0" rtlCol="0" anchor="t"/>
          <a:lstStyle/>
          <a:p>
            <a:pPr marL="228600" indent="-228600">
              <a:spcAft>
                <a:spcPts val="700"/>
              </a:spcAft>
              <a:buSzPct val="100000"/>
              <a:buChar char="•"/>
            </a:pPr>
            <a:r>
              <a:rPr lang="en-US" sz="1800" dirty="0">
                <a:solidFill>
                  <a:srgbClr val="1F2937"/>
                </a:solidFill>
                <a:latin typeface="Calibri" pitchFamily="34" charset="0"/>
                <a:ea typeface="Calibri" pitchFamily="34" charset="-122"/>
                <a:cs typeface="Calibri" pitchFamily="34" charset="-120"/>
              </a:rPr>
              <a:t>Ahorro: menos equipos, menos electricidad, menos espacio y menos aire acondicionado.</a:t>
            </a:r>
            <a:endParaRPr lang="en-US" sz="1800" dirty="0"/>
          </a:p>
          <a:p>
            <a:pPr marL="228600" indent="-228600">
              <a:spcAft>
                <a:spcPts val="700"/>
              </a:spcAft>
              <a:buSzPct val="100000"/>
              <a:buChar char="•"/>
            </a:pPr>
            <a:r>
              <a:rPr lang="en-US" sz="1800" dirty="0">
                <a:solidFill>
                  <a:srgbClr val="1F2937"/>
                </a:solidFill>
                <a:latin typeface="Calibri" pitchFamily="34" charset="0"/>
                <a:ea typeface="Calibri" pitchFamily="34" charset="-122"/>
                <a:cs typeface="Calibri" pitchFamily="34" charset="-120"/>
              </a:rPr>
              <a:t>Aislamiento y seguridad: si una VM se infecta, las demás siguen funcionando.</a:t>
            </a:r>
            <a:endParaRPr lang="en-US" sz="1800" dirty="0"/>
          </a:p>
          <a:p>
            <a:pPr marL="228600" indent="-228600">
              <a:spcAft>
                <a:spcPts val="700"/>
              </a:spcAft>
              <a:buSzPct val="100000"/>
              <a:buChar char="•"/>
            </a:pPr>
            <a:r>
              <a:rPr lang="en-US" sz="1800" dirty="0">
                <a:solidFill>
                  <a:srgbClr val="1F2937"/>
                </a:solidFill>
                <a:latin typeface="Calibri" pitchFamily="34" charset="0"/>
                <a:ea typeface="Calibri" pitchFamily="34" charset="-122"/>
                <a:cs typeface="Calibri" pitchFamily="34" charset="-120"/>
              </a:rPr>
              <a:t>Recuperación rápida con snapshots, laboratorios seguros para probar software y migración sin apagar.</a:t>
            </a:r>
            <a:endParaRPr lang="en-US" sz="1800" dirty="0"/>
          </a:p>
        </p:txBody>
      </p:sp>
      <p:sp>
        <p:nvSpPr>
          <p:cNvPr id="15" name="Text 12"/>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Tipos de virtualización</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98138"/>
                <a:gridCol w="3698138"/>
                <a:gridCol w="3698138"/>
              </a:tblGrid>
              <a:tr h="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Tipo</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Qué virtualiza</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Ejemplo concreto</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r>
              <a:tr h="0">
                <a:tc>
                  <a:txBody>
                    <a:bodyPr/>
                    <a:lstStyle/>
                    <a:p>
                      <a:pPr indent="0" marL="0">
                        <a:buNone/>
                      </a:pPr>
                      <a:r>
                        <a:rPr lang="en-US" sz="1450" b="1" dirty="0">
                          <a:solidFill>
                            <a:srgbClr val="0B2545"/>
                          </a:solidFill>
                          <a:latin typeface="Calibri" pitchFamily="34" charset="0"/>
                          <a:ea typeface="Calibri" pitchFamily="34" charset="-122"/>
                          <a:cs typeface="Calibri" pitchFamily="34" charset="-120"/>
                        </a:rPr>
                        <a:t>De servidores</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Divide un servidor físico en varios servidores virtuales</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Un banco corre 20 servidores en 2 equipos con VMware ESXi</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450" b="1" dirty="0">
                          <a:solidFill>
                            <a:srgbClr val="0B2545"/>
                          </a:solidFill>
                          <a:latin typeface="Calibri" pitchFamily="34" charset="0"/>
                          <a:ea typeface="Calibri" pitchFamily="34" charset="-122"/>
                          <a:cs typeface="Calibri" pitchFamily="34" charset="-120"/>
                        </a:rPr>
                        <a:t>De escritorio (VDI)</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El escritorio del usuario corre en un servidor remoto</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Un call center: cada agente abre su Windows desde cualquier PC</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0B2545"/>
                          </a:solidFill>
                          <a:latin typeface="Calibri" pitchFamily="34" charset="0"/>
                          <a:ea typeface="Calibri" pitchFamily="34" charset="-122"/>
                          <a:cs typeface="Calibri" pitchFamily="34" charset="-120"/>
                        </a:rPr>
                        <a:t>De sistema operativo</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Entornos aislados que comparten el mismo kernel</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Contenedores Docker de una tienda en línea</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450" b="1" dirty="0">
                          <a:solidFill>
                            <a:srgbClr val="0B2545"/>
                          </a:solidFill>
                          <a:latin typeface="Calibri" pitchFamily="34" charset="0"/>
                          <a:ea typeface="Calibri" pitchFamily="34" charset="-122"/>
                          <a:cs typeface="Calibri" pitchFamily="34" charset="-120"/>
                        </a:rPr>
                        <a:t>De aplicaciones</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La aplicación corre aislada sin instalarse en el equipo</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Usar Office en el navegador con Microsoft 365</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0B2545"/>
                          </a:solidFill>
                          <a:latin typeface="Calibri" pitchFamily="34" charset="0"/>
                          <a:ea typeface="Calibri" pitchFamily="34" charset="-122"/>
                          <a:cs typeface="Calibri" pitchFamily="34" charset="-120"/>
                        </a:rPr>
                        <a:t>De almacenamiento</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Varios discos físicos se ven como uno solo</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Un NAS con 4 discos que el usuario ve como una unidad</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450" b="1" dirty="0">
                          <a:solidFill>
                            <a:srgbClr val="0B2545"/>
                          </a:solidFill>
                          <a:latin typeface="Calibri" pitchFamily="34" charset="0"/>
                          <a:ea typeface="Calibri" pitchFamily="34" charset="-122"/>
                          <a:cs typeface="Calibri" pitchFamily="34" charset="-120"/>
                        </a:rPr>
                        <a:t>De red</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Redes lógicas independientes del cableado físico</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VLAN para separar la red de estudiantes y la administrativa</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0B2545"/>
                          </a:solidFill>
                          <a:latin typeface="Calibri" pitchFamily="34" charset="0"/>
                          <a:ea typeface="Calibri" pitchFamily="34" charset="-122"/>
                          <a:cs typeface="Calibri" pitchFamily="34" charset="-120"/>
                        </a:rPr>
                        <a:t>De datos</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Acceso unificado a datos de distintas fuentes</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450" dirty="0">
                          <a:solidFill>
                            <a:srgbClr val="1F2937"/>
                          </a:solidFill>
                          <a:latin typeface="Calibri" pitchFamily="34" charset="0"/>
                          <a:ea typeface="Calibri" pitchFamily="34" charset="-122"/>
                          <a:cs typeface="Calibri" pitchFamily="34" charset="-120"/>
                        </a:rPr>
                        <a:t>Un reporte que junta datos de Excel, SQL y la nube</a:t>
                      </a:r>
                      <a:endParaRPr lang="en-US" sz="145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bl>
          </a:graphicData>
        </a:graphic>
      </p:graphicFrame>
      <p:sp>
        <p:nvSpPr>
          <p:cNvPr id="6" name="Text 2"/>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Rol de la virtualización en la nube</a:t>
            </a:r>
            <a:endParaRPr lang="en-US" sz="3200" dirty="0"/>
          </a:p>
        </p:txBody>
      </p:sp>
      <p:sp>
        <p:nvSpPr>
          <p:cNvPr id="5" name="Text 2"/>
          <p:cNvSpPr txBox="1"/>
          <p:nvPr/>
        </p:nvSpPr>
        <p:spPr>
          <a:xfrm>
            <a:off x="548640" y="1325880"/>
            <a:ext cx="11094415" cy="64008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Sin virtualización no habría nube: es el cimiento que permite compartir, escalar y cobrar.</a:t>
            </a:r>
            <a:endParaRPr lang="en-US" sz="1600" dirty="0"/>
          </a:p>
        </p:txBody>
      </p:sp>
      <p:sp>
        <p:nvSpPr>
          <p:cNvPr id="6" name="Shape 3"/>
          <p:cNvSpPr/>
          <p:nvPr/>
        </p:nvSpPr>
        <p:spPr>
          <a:xfrm>
            <a:off x="548640" y="2194560"/>
            <a:ext cx="2602154" cy="3931920"/>
          </a:xfrm>
          <a:prstGeom prst="roundRect">
            <a:avLst>
              <a:gd name="adj" fmla="val 4217"/>
            </a:avLst>
          </a:prstGeom>
          <a:solidFill>
            <a:srgbClr val="F1F7F9"/>
          </a:solidFill>
          <a:ln w="9525">
            <a:solidFill>
              <a:srgbClr val="DCE6EA"/>
            </a:solidFill>
            <a:prstDash val="solid"/>
          </a:ln>
        </p:spPr>
      </p:sp>
      <p:sp>
        <p:nvSpPr>
          <p:cNvPr id="7" name="Shape 4"/>
          <p:cNvSpPr/>
          <p:nvPr/>
        </p:nvSpPr>
        <p:spPr>
          <a:xfrm>
            <a:off x="1483957" y="1828800"/>
            <a:ext cx="731520" cy="731520"/>
          </a:xfrm>
          <a:prstGeom prst="ellipse">
            <a:avLst/>
          </a:prstGeom>
          <a:solidFill>
            <a:srgbClr val="0E7C86"/>
          </a:solidFill>
          <a:ln w="25400">
            <a:solidFill>
              <a:srgbClr val="FFFFFF"/>
            </a:solidFill>
            <a:prstDash val="solid"/>
          </a:ln>
        </p:spPr>
      </p:sp>
      <p:sp>
        <p:nvSpPr>
          <p:cNvPr id="8" name="Text 5"/>
          <p:cNvSpPr txBox="1"/>
          <p:nvPr/>
        </p:nvSpPr>
        <p:spPr>
          <a:xfrm>
            <a:off x="1483957" y="1828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6"/>
          <p:cNvSpPr txBox="1"/>
          <p:nvPr/>
        </p:nvSpPr>
        <p:spPr>
          <a:xfrm>
            <a:off x="685800" y="2697480"/>
            <a:ext cx="2327834" cy="73152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Multi-inquilino</a:t>
            </a:r>
            <a:endParaRPr lang="en-US" sz="1800" dirty="0"/>
          </a:p>
        </p:txBody>
      </p:sp>
      <p:sp>
        <p:nvSpPr>
          <p:cNvPr id="10" name="Text 7"/>
          <p:cNvSpPr txBox="1"/>
          <p:nvPr/>
        </p:nvSpPr>
        <p:spPr>
          <a:xfrm>
            <a:off x="731520" y="3520440"/>
            <a:ext cx="2236394" cy="246888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El proveedor divide sus data centers en miles de VM y las comparte entre muchos clientes, aislados entre sí.</a:t>
            </a:r>
            <a:endParaRPr lang="en-US" sz="2000" dirty="0"/>
          </a:p>
        </p:txBody>
      </p:sp>
      <p:sp>
        <p:nvSpPr>
          <p:cNvPr id="11" name="Shape 8"/>
          <p:cNvSpPr/>
          <p:nvPr/>
        </p:nvSpPr>
        <p:spPr>
          <a:xfrm>
            <a:off x="3379394" y="2194560"/>
            <a:ext cx="2602154" cy="3931920"/>
          </a:xfrm>
          <a:prstGeom prst="roundRect">
            <a:avLst>
              <a:gd name="adj" fmla="val 4217"/>
            </a:avLst>
          </a:prstGeom>
          <a:solidFill>
            <a:srgbClr val="FFFFFF"/>
          </a:solidFill>
          <a:ln w="9525">
            <a:solidFill>
              <a:srgbClr val="DCE6EA"/>
            </a:solidFill>
            <a:prstDash val="solid"/>
          </a:ln>
        </p:spPr>
      </p:sp>
      <p:sp>
        <p:nvSpPr>
          <p:cNvPr id="12" name="Shape 9"/>
          <p:cNvSpPr/>
          <p:nvPr/>
        </p:nvSpPr>
        <p:spPr>
          <a:xfrm>
            <a:off x="4314711" y="1828800"/>
            <a:ext cx="731520" cy="731520"/>
          </a:xfrm>
          <a:prstGeom prst="ellipse">
            <a:avLst/>
          </a:prstGeom>
          <a:solidFill>
            <a:srgbClr val="0E7C86"/>
          </a:solidFill>
          <a:ln w="25400">
            <a:solidFill>
              <a:srgbClr val="FFFFFF"/>
            </a:solidFill>
            <a:prstDash val="solid"/>
          </a:ln>
        </p:spPr>
      </p:sp>
      <p:sp>
        <p:nvSpPr>
          <p:cNvPr id="13" name="Text 10"/>
          <p:cNvSpPr txBox="1"/>
          <p:nvPr/>
        </p:nvSpPr>
        <p:spPr>
          <a:xfrm>
            <a:off x="4314711" y="1828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1"/>
          <p:cNvSpPr txBox="1"/>
          <p:nvPr/>
        </p:nvSpPr>
        <p:spPr>
          <a:xfrm>
            <a:off x="3516554" y="2697480"/>
            <a:ext cx="2327834" cy="73152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Autoservicio</a:t>
            </a:r>
            <a:endParaRPr lang="en-US" sz="1800" dirty="0"/>
          </a:p>
        </p:txBody>
      </p:sp>
      <p:sp>
        <p:nvSpPr>
          <p:cNvPr id="15" name="Text 12"/>
          <p:cNvSpPr txBox="1"/>
          <p:nvPr/>
        </p:nvSpPr>
        <p:spPr>
          <a:xfrm>
            <a:off x="3562274" y="3520440"/>
            <a:ext cx="2236394" cy="246888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El cliente crea recursos desde una consola web y el hipervisor los entrega en minutos.</a:t>
            </a:r>
            <a:endParaRPr lang="en-US" sz="2000" dirty="0"/>
          </a:p>
        </p:txBody>
      </p:sp>
      <p:sp>
        <p:nvSpPr>
          <p:cNvPr id="16" name="Shape 13"/>
          <p:cNvSpPr/>
          <p:nvPr/>
        </p:nvSpPr>
        <p:spPr>
          <a:xfrm>
            <a:off x="6210148" y="2194560"/>
            <a:ext cx="2602154" cy="3931920"/>
          </a:xfrm>
          <a:prstGeom prst="roundRect">
            <a:avLst>
              <a:gd name="adj" fmla="val 4217"/>
            </a:avLst>
          </a:prstGeom>
          <a:solidFill>
            <a:srgbClr val="F1F7F9"/>
          </a:solidFill>
          <a:ln w="9525">
            <a:solidFill>
              <a:srgbClr val="DCE6EA"/>
            </a:solidFill>
            <a:prstDash val="solid"/>
          </a:ln>
        </p:spPr>
      </p:sp>
      <p:sp>
        <p:nvSpPr>
          <p:cNvPr id="17" name="Shape 14"/>
          <p:cNvSpPr/>
          <p:nvPr/>
        </p:nvSpPr>
        <p:spPr>
          <a:xfrm>
            <a:off x="7145465" y="1828800"/>
            <a:ext cx="731520" cy="731520"/>
          </a:xfrm>
          <a:prstGeom prst="ellipse">
            <a:avLst/>
          </a:prstGeom>
          <a:solidFill>
            <a:srgbClr val="0E7C86"/>
          </a:solidFill>
          <a:ln w="25400">
            <a:solidFill>
              <a:srgbClr val="FFFFFF"/>
            </a:solidFill>
            <a:prstDash val="solid"/>
          </a:ln>
        </p:spPr>
      </p:sp>
      <p:sp>
        <p:nvSpPr>
          <p:cNvPr id="18" name="Text 15"/>
          <p:cNvSpPr txBox="1"/>
          <p:nvPr/>
        </p:nvSpPr>
        <p:spPr>
          <a:xfrm>
            <a:off x="7145465" y="1828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6"/>
          <p:cNvSpPr txBox="1"/>
          <p:nvPr/>
        </p:nvSpPr>
        <p:spPr>
          <a:xfrm>
            <a:off x="6347308" y="2697480"/>
            <a:ext cx="2327834" cy="73152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Elasticidad</a:t>
            </a:r>
            <a:endParaRPr lang="en-US" sz="1800" dirty="0"/>
          </a:p>
        </p:txBody>
      </p:sp>
      <p:sp>
        <p:nvSpPr>
          <p:cNvPr id="20" name="Text 17"/>
          <p:cNvSpPr txBox="1"/>
          <p:nvPr/>
        </p:nvSpPr>
        <p:spPr>
          <a:xfrm>
            <a:off x="6393028" y="3520440"/>
            <a:ext cx="2236394" cy="246888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Se agregan o quitan VM automáticamente según la demanda.</a:t>
            </a:r>
            <a:endParaRPr lang="en-US" sz="2000" dirty="0"/>
          </a:p>
        </p:txBody>
      </p:sp>
      <p:sp>
        <p:nvSpPr>
          <p:cNvPr id="21" name="Shape 18"/>
          <p:cNvSpPr/>
          <p:nvPr/>
        </p:nvSpPr>
        <p:spPr>
          <a:xfrm>
            <a:off x="9040901" y="2194560"/>
            <a:ext cx="2602154" cy="3931920"/>
          </a:xfrm>
          <a:prstGeom prst="roundRect">
            <a:avLst>
              <a:gd name="adj" fmla="val 4217"/>
            </a:avLst>
          </a:prstGeom>
          <a:solidFill>
            <a:srgbClr val="FFFFFF"/>
          </a:solidFill>
          <a:ln w="9525">
            <a:solidFill>
              <a:srgbClr val="DCE6EA"/>
            </a:solidFill>
            <a:prstDash val="solid"/>
          </a:ln>
        </p:spPr>
      </p:sp>
      <p:sp>
        <p:nvSpPr>
          <p:cNvPr id="22" name="Shape 19"/>
          <p:cNvSpPr/>
          <p:nvPr/>
        </p:nvSpPr>
        <p:spPr>
          <a:xfrm>
            <a:off x="9976218" y="1828800"/>
            <a:ext cx="731520" cy="731520"/>
          </a:xfrm>
          <a:prstGeom prst="ellipse">
            <a:avLst/>
          </a:prstGeom>
          <a:solidFill>
            <a:srgbClr val="F4A261"/>
          </a:solidFill>
          <a:ln w="25400">
            <a:solidFill>
              <a:srgbClr val="FFFFFF"/>
            </a:solidFill>
            <a:prstDash val="solid"/>
          </a:ln>
        </p:spPr>
      </p:sp>
      <p:sp>
        <p:nvSpPr>
          <p:cNvPr id="23" name="Text 20"/>
          <p:cNvSpPr txBox="1"/>
          <p:nvPr/>
        </p:nvSpPr>
        <p:spPr>
          <a:xfrm>
            <a:off x="9976218" y="1828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4" name="Text 21"/>
          <p:cNvSpPr txBox="1"/>
          <p:nvPr/>
        </p:nvSpPr>
        <p:spPr>
          <a:xfrm>
            <a:off x="9178061" y="2697480"/>
            <a:ext cx="2327834" cy="73152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Medición</a:t>
            </a:r>
            <a:endParaRPr lang="en-US" sz="1800" dirty="0"/>
          </a:p>
        </p:txBody>
      </p:sp>
      <p:sp>
        <p:nvSpPr>
          <p:cNvPr id="25" name="Text 22"/>
          <p:cNvSpPr txBox="1"/>
          <p:nvPr/>
        </p:nvSpPr>
        <p:spPr>
          <a:xfrm>
            <a:off x="9223781" y="3520440"/>
            <a:ext cx="2236394" cy="246888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El hipervisor mide el consumo de cada cliente para cobrarle lo justo.</a:t>
            </a:r>
            <a:endParaRPr lang="en-US" sz="2000" dirty="0"/>
          </a:p>
        </p:txBody>
      </p:sp>
      <p:sp>
        <p:nvSpPr>
          <p:cNvPr id="26" name="Text 23"/>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t"/>
          <a:lstStyle/>
          <a:p>
            <a:pPr indent="0" marL="0">
              <a:buNone/>
            </a:pPr>
            <a:r>
              <a:rPr lang="en-US" sz="9600" b="1" dirty="0">
                <a:solidFill>
                  <a:srgbClr val="F4A261"/>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834640"/>
            <a:ext cx="7680960" cy="1371600"/>
          </a:xfrm>
          <a:prstGeom prst="rect">
            <a:avLst/>
          </a:prstGeom>
          <a:noFill/>
          <a:ln/>
        </p:spPr>
        <p:txBody>
          <a:bodyPr wrap="square" lIns="0" tIns="0" rIns="0" bIns="0"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Software de virtualización</a:t>
            </a:r>
            <a:endParaRPr lang="en-US" sz="3600" dirty="0"/>
          </a:p>
        </p:txBody>
      </p:sp>
      <p:sp>
        <p:nvSpPr>
          <p:cNvPr id="4" name="Text 2"/>
          <p:cNvSpPr txBox="1"/>
          <p:nvPr/>
        </p:nvSpPr>
        <p:spPr>
          <a:xfrm>
            <a:off x="548640" y="4389120"/>
            <a:ext cx="7315200" cy="914400"/>
          </a:xfrm>
          <a:prstGeom prst="rect">
            <a:avLst/>
          </a:prstGeom>
          <a:noFill/>
          <a:ln/>
        </p:spPr>
        <p:txBody>
          <a:bodyPr wrap="square" lIns="0" tIns="0" rIns="0" bIns="0" rtlCol="0" anchor="t"/>
          <a:lstStyle/>
          <a:p>
            <a:pPr indent="0" marL="0">
              <a:buNone/>
            </a:pPr>
            <a:r>
              <a:rPr lang="en-US" sz="1800" dirty="0">
                <a:solidFill>
                  <a:srgbClr val="CFE3F0"/>
                </a:solidFill>
                <a:latin typeface="Calibri" pitchFamily="34" charset="0"/>
                <a:ea typeface="Calibri" pitchFamily="34" charset="-122"/>
                <a:cs typeface="Calibri" pitchFamily="34" charset="-120"/>
              </a:rPr>
              <a:t>Las herramientas más usadas en empresas y en el aula.</a:t>
            </a:r>
            <a:endParaRPr lang="en-US" sz="1800" dirty="0"/>
          </a:p>
        </p:txBody>
      </p:sp>
      <p:sp>
        <p:nvSpPr>
          <p:cNvPr id="5" name="Shape 3"/>
          <p:cNvSpPr/>
          <p:nvPr/>
        </p:nvSpPr>
        <p:spPr>
          <a:xfrm>
            <a:off x="8503920" y="1737360"/>
            <a:ext cx="3017520" cy="301752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9326880" y="2560320"/>
            <a:ext cx="1371600" cy="1371600"/>
          </a:xfrm>
          <a:prstGeom prst="rect">
            <a:avLst/>
          </a:prstGeom>
        </p:spPr>
      </p:pic>
      <p:sp>
        <p:nvSpPr>
          <p:cNvPr id="7" name="Text 4"/>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9FB3C8"/>
                </a:solidFill>
                <a:latin typeface="Calibri" pitchFamily="34" charset="0"/>
                <a:ea typeface="Calibri" pitchFamily="34" charset="-122"/>
                <a:cs typeface="Calibri" pitchFamily="34" charset="-120"/>
              </a:rPr>
              <a:t>RA1 · Nube y virtualización  ·  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VMware</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VMware (hoy parte de Broadcom) es la empresa líder en virtualización empresarial. Tiene productos para centros de datos y para computadoras personales.</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ESXi: </a:t>
            </a:r>
            <a:pPr indent="0" marL="0">
              <a:buNone/>
            </a:pPr>
            <a:r>
              <a:rPr lang="en-US" sz="1950" dirty="0">
                <a:solidFill>
                  <a:srgbClr val="1F2937"/>
                </a:solidFill>
                <a:latin typeface="Calibri" pitchFamily="34" charset="0"/>
                <a:ea typeface="Calibri" pitchFamily="34" charset="-122"/>
                <a:cs typeface="Calibri" pitchFamily="34" charset="-120"/>
              </a:rPr>
              <a:t>hipervisor tipo 1 que se instala en el servidor.</a:t>
            </a:r>
            <a:endParaRPr lang="en-US" sz="1950" dirty="0"/>
          </a:p>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vSphere / vCenter: </a:t>
            </a:r>
            <a:pPr indent="0" marL="0">
              <a:buNone/>
            </a:pPr>
            <a:r>
              <a:rPr lang="en-US" sz="1950" dirty="0">
                <a:solidFill>
                  <a:srgbClr val="1F2937"/>
                </a:solidFill>
                <a:latin typeface="Calibri" pitchFamily="34" charset="0"/>
                <a:ea typeface="Calibri" pitchFamily="34" charset="-122"/>
                <a:cs typeface="Calibri" pitchFamily="34" charset="-120"/>
              </a:rPr>
              <a:t>consola para administrar muchos servidores ESXi desde un solo lugar.</a:t>
            </a:r>
            <a:endParaRPr lang="en-US" sz="1950" dirty="0"/>
          </a:p>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vMotion: </a:t>
            </a:r>
            <a:pPr indent="0" marL="0">
              <a:buNone/>
            </a:pPr>
            <a:r>
              <a:rPr lang="en-US" sz="1950" dirty="0">
                <a:solidFill>
                  <a:srgbClr val="1F2937"/>
                </a:solidFill>
                <a:latin typeface="Calibri" pitchFamily="34" charset="0"/>
                <a:ea typeface="Calibri" pitchFamily="34" charset="-122"/>
                <a:cs typeface="Calibri" pitchFamily="34" charset="-120"/>
              </a:rPr>
              <a:t>mueve VM encendidas entre servidores sin cortar el servicio.</a:t>
            </a:r>
            <a:endParaRPr lang="en-US" sz="1950" dirty="0"/>
          </a:p>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Workstation / Fusion: </a:t>
            </a:r>
            <a:pPr indent="0" marL="0">
              <a:buNone/>
            </a:pPr>
            <a:r>
              <a:rPr lang="en-US" sz="1950" dirty="0">
                <a:solidFill>
                  <a:srgbClr val="1F2937"/>
                </a:solidFill>
                <a:latin typeface="Calibri" pitchFamily="34" charset="0"/>
                <a:ea typeface="Calibri" pitchFamily="34" charset="-122"/>
                <a:cs typeface="Calibri" pitchFamily="34" charset="-120"/>
              </a:rPr>
              <a:t>versiones tipo 2 para Windows, Linux y Mac.</a:t>
            </a:r>
            <a:endParaRPr lang="en-US" sz="1950" dirty="0"/>
          </a:p>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Desventaja: </a:t>
            </a:r>
            <a:pPr indent="0" marL="0">
              <a:buNone/>
            </a:pPr>
            <a:r>
              <a:rPr lang="en-US" sz="1950" dirty="0">
                <a:solidFill>
                  <a:srgbClr val="1F2937"/>
                </a:solidFill>
                <a:latin typeface="Calibri" pitchFamily="34" charset="0"/>
                <a:ea typeface="Calibri" pitchFamily="34" charset="-122"/>
                <a:cs typeface="Calibri" pitchFamily="34" charset="-120"/>
              </a:rPr>
              <a:t>licencias costosas para empresas.</a:t>
            </a:r>
            <a:endParaRPr lang="en-US" sz="19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 de uso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 banco tiene 4 servidores con ESXi y 60 VM. Cuando hay que darle mantenimiento a un servidor, vMotion mueve sus VM a los otros 3 y los clientes nunca notan el cambio.</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Xen</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Xen es un hipervisor tipo 1 de código abierto creado en la Universidad de Cambridge (2003) y mantenido hoy por la Linux Foundation.</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Paravirtualización: </a:t>
            </a:r>
            <a:pPr indent="0" marL="0">
              <a:buNone/>
            </a:pPr>
            <a:r>
              <a:rPr lang="en-US" sz="1850" dirty="0">
                <a:solidFill>
                  <a:srgbClr val="1F2937"/>
                </a:solidFill>
                <a:latin typeface="Calibri" pitchFamily="34" charset="0"/>
                <a:ea typeface="Calibri" pitchFamily="34" charset="-122"/>
                <a:cs typeface="Calibri" pitchFamily="34" charset="-120"/>
              </a:rPr>
              <a:t>el sistema invitado 'sabe' que está virtualizado y coopera, lo que mejora el rendimiento.</a:t>
            </a:r>
            <a:endParaRPr lang="en-US" sz="1850" dirty="0"/>
          </a:p>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Gratuito: </a:t>
            </a:r>
            <a:pPr indent="0" marL="0">
              <a:buNone/>
            </a:pPr>
            <a:r>
              <a:rPr lang="en-US" sz="1850" dirty="0">
                <a:solidFill>
                  <a:srgbClr val="1F2937"/>
                </a:solidFill>
                <a:latin typeface="Calibri" pitchFamily="34" charset="0"/>
                <a:ea typeface="Calibri" pitchFamily="34" charset="-122"/>
                <a:cs typeface="Calibri" pitchFamily="34" charset="-120"/>
              </a:rPr>
              <a:t>código abierto: cualquiera lo puede usar y modificar.</a:t>
            </a:r>
            <a:endParaRPr lang="en-US" sz="1850" dirty="0"/>
          </a:p>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Historia: </a:t>
            </a:r>
            <a:pPr indent="0" marL="0">
              <a:buNone/>
            </a:pPr>
            <a:r>
              <a:rPr lang="en-US" sz="1850" dirty="0">
                <a:solidFill>
                  <a:srgbClr val="1F2937"/>
                </a:solidFill>
                <a:latin typeface="Calibri" pitchFamily="34" charset="0"/>
                <a:ea typeface="Calibri" pitchFamily="34" charset="-122"/>
                <a:cs typeface="Calibri" pitchFamily="34" charset="-120"/>
              </a:rPr>
              <a:t>fue la base de los primeros servidores de Amazon EC2.</a:t>
            </a:r>
            <a:endParaRPr lang="en-US" sz="1850" dirty="0"/>
          </a:p>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Derivados: </a:t>
            </a:r>
            <a:pPr indent="0" marL="0">
              <a:buNone/>
            </a:pPr>
            <a:r>
              <a:rPr lang="en-US" sz="1850" dirty="0">
                <a:solidFill>
                  <a:srgbClr val="1F2937"/>
                </a:solidFill>
                <a:latin typeface="Calibri" pitchFamily="34" charset="0"/>
                <a:ea typeface="Calibri" pitchFamily="34" charset="-122"/>
                <a:cs typeface="Calibri" pitchFamily="34" charset="-120"/>
              </a:rPr>
              <a:t>XenServer (Citrix) y XCP-ng.</a:t>
            </a:r>
            <a:endParaRPr lang="en-US" sz="1850" dirty="0"/>
          </a:p>
          <a:p>
            <a:pPr marL="228600" indent="-228600">
              <a:spcAft>
                <a:spcPts val="800"/>
              </a:spcAft>
              <a:buSzPct val="100000"/>
              <a:buChar char="•"/>
            </a:pPr>
            <a:r>
              <a:rPr lang="en-US" sz="1850" b="1" dirty="0">
                <a:solidFill>
                  <a:srgbClr val="0E7C86"/>
                </a:solidFill>
                <a:latin typeface="Calibri" pitchFamily="34" charset="0"/>
                <a:ea typeface="Calibri" pitchFamily="34" charset="-122"/>
                <a:cs typeface="Calibri" pitchFamily="34" charset="-120"/>
              </a:rPr>
              <a:t>Desventaja: </a:t>
            </a:r>
            <a:pPr indent="0" marL="0">
              <a:buNone/>
            </a:pPr>
            <a:r>
              <a:rPr lang="en-US" sz="1850" dirty="0">
                <a:solidFill>
                  <a:srgbClr val="1F2937"/>
                </a:solidFill>
                <a:latin typeface="Calibri" pitchFamily="34" charset="0"/>
                <a:ea typeface="Calibri" pitchFamily="34" charset="-122"/>
                <a:cs typeface="Calibri" pitchFamily="34" charset="-120"/>
              </a:rPr>
              <a:t>más complejo de administrar para principiantes.</a:t>
            </a:r>
            <a:endParaRPr lang="en-US" sz="18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 de uso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 proveedor de hosting que alquila servidores virtuales baratos usa Xen porque no paga licencias y puede ajustarlo a sus necesidades.</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Microsoft Hyper-V Server</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Hyper-V es el hipervisor tipo 1 de Microsoft. Viene incluido en Windows Server y en Windows 10/11 Pro, y es la base tecnológica de Microsoft Azure.</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Integración: </a:t>
            </a:r>
            <a:pPr indent="0" marL="0">
              <a:buNone/>
            </a:pPr>
            <a:r>
              <a:rPr lang="en-US" sz="1750" dirty="0">
                <a:solidFill>
                  <a:srgbClr val="1F2937"/>
                </a:solidFill>
                <a:latin typeface="Calibri" pitchFamily="34" charset="0"/>
                <a:ea typeface="Calibri" pitchFamily="34" charset="-122"/>
                <a:cs typeface="Calibri" pitchFamily="34" charset="-120"/>
              </a:rPr>
              <a:t>se activa como una característica de Windows; no hay que comprar otro producto.</a:t>
            </a:r>
            <a:endParaRPr lang="en-US" sz="1750" dirty="0"/>
          </a:p>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Administración: </a:t>
            </a:r>
            <a:pPr indent="0" marL="0">
              <a:buNone/>
            </a:pPr>
            <a:r>
              <a:rPr lang="en-US" sz="1750" dirty="0">
                <a:solidFill>
                  <a:srgbClr val="1F2937"/>
                </a:solidFill>
                <a:latin typeface="Calibri" pitchFamily="34" charset="0"/>
                <a:ea typeface="Calibri" pitchFamily="34" charset="-122"/>
                <a:cs typeface="Calibri" pitchFamily="34" charset="-120"/>
              </a:rPr>
              <a:t>Hyper-V Manager (gráfico) y PowerShell (comandos).</a:t>
            </a:r>
            <a:endParaRPr lang="en-US" sz="1750" dirty="0"/>
          </a:p>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Funciones: </a:t>
            </a:r>
            <a:pPr indent="0" marL="0">
              <a:buNone/>
            </a:pPr>
            <a:r>
              <a:rPr lang="en-US" sz="1750" dirty="0">
                <a:solidFill>
                  <a:srgbClr val="1F2937"/>
                </a:solidFill>
                <a:latin typeface="Calibri" pitchFamily="34" charset="0"/>
                <a:ea typeface="Calibri" pitchFamily="34" charset="-122"/>
                <a:cs typeface="Calibri" pitchFamily="34" charset="-120"/>
              </a:rPr>
              <a:t>puntos de control (snapshots), réplica y migración en vivo.</a:t>
            </a:r>
            <a:endParaRPr lang="en-US" sz="1750" dirty="0"/>
          </a:p>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Ideal para: </a:t>
            </a:r>
            <a:pPr indent="0" marL="0">
              <a:buNone/>
            </a:pPr>
            <a:r>
              <a:rPr lang="en-US" sz="1750" dirty="0">
                <a:solidFill>
                  <a:srgbClr val="1F2937"/>
                </a:solidFill>
                <a:latin typeface="Calibri" pitchFamily="34" charset="0"/>
                <a:ea typeface="Calibri" pitchFamily="34" charset="-122"/>
                <a:cs typeface="Calibri" pitchFamily="34" charset="-120"/>
              </a:rPr>
              <a:t>organizaciones que ya usan Windows y Active Directory.</a:t>
            </a:r>
            <a:endParaRPr lang="en-US" sz="1750" dirty="0"/>
          </a:p>
          <a:p>
            <a:pPr marL="228600" indent="-228600">
              <a:spcAft>
                <a:spcPts val="800"/>
              </a:spcAft>
              <a:buSzPct val="100000"/>
              <a:buChar char="•"/>
            </a:pPr>
            <a:r>
              <a:rPr lang="en-US" sz="1750" b="1" dirty="0">
                <a:solidFill>
                  <a:srgbClr val="0E7C86"/>
                </a:solidFill>
                <a:latin typeface="Calibri" pitchFamily="34" charset="0"/>
                <a:ea typeface="Calibri" pitchFamily="34" charset="-122"/>
                <a:cs typeface="Calibri" pitchFamily="34" charset="-120"/>
              </a:rPr>
              <a:t>Desventaja: </a:t>
            </a:r>
            <a:pPr indent="0" marL="0">
              <a:buNone/>
            </a:pPr>
            <a:r>
              <a:rPr lang="en-US" sz="1750" dirty="0">
                <a:solidFill>
                  <a:srgbClr val="1F2937"/>
                </a:solidFill>
                <a:latin typeface="Calibri" pitchFamily="34" charset="0"/>
                <a:ea typeface="Calibri" pitchFamily="34" charset="-122"/>
                <a:cs typeface="Calibri" pitchFamily="34" charset="-120"/>
              </a:rPr>
              <a:t>mejor soporte para invitados Windows que para otros sistemas.</a:t>
            </a:r>
            <a:endParaRPr lang="en-US" sz="17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 de uso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Una dirección regional del MEP con Windows Server activa Hyper-V y crea 3 VM: una para el directorio de usuarios, otra para archivos y otra para la impresión.</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VirtualBox</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Oracle VM VirtualBox es un hipervisor tipo 2, gratuito y de código abierto, que funciona en Windows, Linux y macOS. Es la herramienta más usada para aprender virtualización.</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1900" b="1" dirty="0">
                <a:solidFill>
                  <a:srgbClr val="0E7C86"/>
                </a:solidFill>
                <a:latin typeface="Calibri" pitchFamily="34" charset="0"/>
                <a:ea typeface="Calibri" pitchFamily="34" charset="-122"/>
                <a:cs typeface="Calibri" pitchFamily="34" charset="-120"/>
              </a:rPr>
              <a:t>Gratuito: </a:t>
            </a:r>
            <a:pPr indent="0" marL="0">
              <a:buNone/>
            </a:pPr>
            <a:r>
              <a:rPr lang="en-US" sz="1900" dirty="0">
                <a:solidFill>
                  <a:srgbClr val="1F2937"/>
                </a:solidFill>
                <a:latin typeface="Calibri" pitchFamily="34" charset="0"/>
                <a:ea typeface="Calibri" pitchFamily="34" charset="-122"/>
                <a:cs typeface="Calibri" pitchFamily="34" charset="-120"/>
              </a:rPr>
              <a:t>sin licencia para uso personal y educativo.</a:t>
            </a:r>
            <a:endParaRPr lang="en-US" sz="1900" dirty="0"/>
          </a:p>
          <a:p>
            <a:pPr marL="228600" indent="-228600">
              <a:spcAft>
                <a:spcPts val="800"/>
              </a:spcAft>
              <a:buSzPct val="100000"/>
              <a:buChar char="•"/>
            </a:pPr>
            <a:r>
              <a:rPr lang="en-US" sz="1900" b="1" dirty="0">
                <a:solidFill>
                  <a:srgbClr val="0E7C86"/>
                </a:solidFill>
                <a:latin typeface="Calibri" pitchFamily="34" charset="0"/>
                <a:ea typeface="Calibri" pitchFamily="34" charset="-122"/>
                <a:cs typeface="Calibri" pitchFamily="34" charset="-120"/>
              </a:rPr>
              <a:t>Multiplataforma: </a:t>
            </a:r>
            <a:pPr indent="0" marL="0">
              <a:buNone/>
            </a:pPr>
            <a:r>
              <a:rPr lang="en-US" sz="1900" dirty="0">
                <a:solidFill>
                  <a:srgbClr val="1F2937"/>
                </a:solidFill>
                <a:latin typeface="Calibri" pitchFamily="34" charset="0"/>
                <a:ea typeface="Calibri" pitchFamily="34" charset="-122"/>
                <a:cs typeface="Calibri" pitchFamily="34" charset="-120"/>
              </a:rPr>
              <a:t>el mismo programa en casi cualquier computadora.</a:t>
            </a:r>
            <a:endParaRPr lang="en-US" sz="1900" dirty="0"/>
          </a:p>
          <a:p>
            <a:pPr marL="228600" indent="-228600">
              <a:spcAft>
                <a:spcPts val="800"/>
              </a:spcAft>
              <a:buSzPct val="100000"/>
              <a:buChar char="•"/>
            </a:pPr>
            <a:r>
              <a:rPr lang="en-US" sz="1900" b="1" dirty="0">
                <a:solidFill>
                  <a:srgbClr val="0E7C86"/>
                </a:solidFill>
                <a:latin typeface="Calibri" pitchFamily="34" charset="0"/>
                <a:ea typeface="Calibri" pitchFamily="34" charset="-122"/>
                <a:cs typeface="Calibri" pitchFamily="34" charset="-120"/>
              </a:rPr>
              <a:t>Funciones: </a:t>
            </a:r>
            <a:pPr indent="0" marL="0">
              <a:buNone/>
            </a:pPr>
            <a:r>
              <a:rPr lang="en-US" sz="1900" dirty="0">
                <a:solidFill>
                  <a:srgbClr val="1F2937"/>
                </a:solidFill>
                <a:latin typeface="Calibri" pitchFamily="34" charset="0"/>
                <a:ea typeface="Calibri" pitchFamily="34" charset="-122"/>
                <a:cs typeface="Calibri" pitchFamily="34" charset="-120"/>
              </a:rPr>
              <a:t>snapshots, clonación, carpetas compartidas, redes NAT y puente.</a:t>
            </a:r>
            <a:endParaRPr lang="en-US" sz="1900" dirty="0"/>
          </a:p>
          <a:p>
            <a:pPr marL="228600" indent="-228600">
              <a:spcAft>
                <a:spcPts val="800"/>
              </a:spcAft>
              <a:buSzPct val="100000"/>
              <a:buChar char="•"/>
            </a:pPr>
            <a:r>
              <a:rPr lang="en-US" sz="1900" b="1" dirty="0">
                <a:solidFill>
                  <a:srgbClr val="0E7C86"/>
                </a:solidFill>
                <a:latin typeface="Calibri" pitchFamily="34" charset="0"/>
                <a:ea typeface="Calibri" pitchFamily="34" charset="-122"/>
                <a:cs typeface="Calibri" pitchFamily="34" charset="-120"/>
              </a:rPr>
              <a:t>Formatos: </a:t>
            </a:r>
            <a:pPr indent="0" marL="0">
              <a:buNone/>
            </a:pPr>
            <a:r>
              <a:rPr lang="en-US" sz="1900" dirty="0">
                <a:solidFill>
                  <a:srgbClr val="1F2937"/>
                </a:solidFill>
                <a:latin typeface="Calibri" pitchFamily="34" charset="0"/>
                <a:ea typeface="Calibri" pitchFamily="34" charset="-122"/>
                <a:cs typeface="Calibri" pitchFamily="34" charset="-120"/>
              </a:rPr>
              <a:t>discos VDI, VMDK y VHD; importar y exportar VM (.ova).</a:t>
            </a:r>
            <a:endParaRPr lang="en-US" sz="1900" dirty="0"/>
          </a:p>
          <a:p>
            <a:pPr marL="228600" indent="-228600">
              <a:spcAft>
                <a:spcPts val="800"/>
              </a:spcAft>
              <a:buSzPct val="100000"/>
              <a:buChar char="•"/>
            </a:pPr>
            <a:r>
              <a:rPr lang="en-US" sz="1900" b="1" dirty="0">
                <a:solidFill>
                  <a:srgbClr val="0E7C86"/>
                </a:solidFill>
                <a:latin typeface="Calibri" pitchFamily="34" charset="0"/>
                <a:ea typeface="Calibri" pitchFamily="34" charset="-122"/>
                <a:cs typeface="Calibri" pitchFamily="34" charset="-120"/>
              </a:rPr>
              <a:t>Desventaja: </a:t>
            </a:r>
            <a:pPr indent="0" marL="0">
              <a:buNone/>
            </a:pPr>
            <a:r>
              <a:rPr lang="en-US" sz="1900" dirty="0">
                <a:solidFill>
                  <a:srgbClr val="1F2937"/>
                </a:solidFill>
                <a:latin typeface="Calibri" pitchFamily="34" charset="0"/>
                <a:ea typeface="Calibri" pitchFamily="34" charset="-122"/>
                <a:cs typeface="Calibri" pitchFamily="34" charset="-120"/>
              </a:rPr>
              <a:t>menor rendimiento que un tipo 1; no es para producción.</a:t>
            </a:r>
            <a:endParaRPr lang="en-US" sz="19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 de uso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En el laboratorio de 11°-3 cada estudiante crea una VM con Linux, practica comandos y, si se equivoca, restaura el snapshot sin dañar la computadora del colegio. (Cotidiano N.º 1)</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Virtual PC</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Virtual PC fue un hipervisor tipo 2 creado por Connectix y comprado por Microsoft en 2003. Permitía ejecutar versiones anteriores de Windows dentro de Windows.</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Uso principal: </a:t>
            </a:r>
            <a:pPr indent="0" marL="0">
              <a:buNone/>
            </a:pPr>
            <a:r>
              <a:rPr lang="en-US" sz="2200" dirty="0">
                <a:solidFill>
                  <a:srgbClr val="1F2937"/>
                </a:solidFill>
                <a:latin typeface="Calibri" pitchFamily="34" charset="0"/>
                <a:ea typeface="Calibri" pitchFamily="34" charset="-122"/>
                <a:cs typeface="Calibri" pitchFamily="34" charset="-120"/>
              </a:rPr>
              <a:t>correr programas viejos que no funcionaban en el Windows nuevo.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Modo XP: </a:t>
            </a:r>
            <a:pPr indent="0" marL="0">
              <a:buNone/>
            </a:pPr>
            <a:r>
              <a:rPr lang="en-US" sz="2200" dirty="0">
                <a:solidFill>
                  <a:srgbClr val="1F2937"/>
                </a:solidFill>
                <a:latin typeface="Calibri" pitchFamily="34" charset="0"/>
                <a:ea typeface="Calibri" pitchFamily="34" charset="-122"/>
                <a:cs typeface="Calibri" pitchFamily="34" charset="-120"/>
              </a:rPr>
              <a:t>Windows 7 lo usaba para ejecutar aplicaciones de Windows XP.</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Estado actual: </a:t>
            </a:r>
            <a:pPr indent="0" marL="0">
              <a:buNone/>
            </a:pPr>
            <a:r>
              <a:rPr lang="en-US" sz="2200" dirty="0">
                <a:solidFill>
                  <a:srgbClr val="1F2937"/>
                </a:solidFill>
                <a:latin typeface="Calibri" pitchFamily="34" charset="0"/>
                <a:ea typeface="Calibri" pitchFamily="34" charset="-122"/>
                <a:cs typeface="Calibri" pitchFamily="34" charset="-120"/>
              </a:rPr>
              <a:t>descontinuado; fue reemplazado por Hyper-V.</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Importancia: </a:t>
            </a:r>
            <a:pPr indent="0" marL="0">
              <a:buNone/>
            </a:pPr>
            <a:r>
              <a:rPr lang="en-US" sz="2200" dirty="0">
                <a:solidFill>
                  <a:srgbClr val="1F2937"/>
                </a:solidFill>
                <a:latin typeface="Calibri" pitchFamily="34" charset="0"/>
                <a:ea typeface="Calibri" pitchFamily="34" charset="-122"/>
                <a:cs typeface="Calibri" pitchFamily="34" charset="-120"/>
              </a:rPr>
              <a:t>acercó la virtualización a los usuarios comunes.</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 de uso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En 2010, una oficina contable que migró a Windows 7 usaba el Modo XP (Virtual PC) para seguir abriendo su viejo programa de planillas, que solo funcionaba en Windows XP.</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Comparativo de software de virtualización</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73604"/>
                <a:gridCol w="2773604"/>
                <a:gridCol w="2773604"/>
                <a:gridCol w="2773604"/>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Software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Tipo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Costo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Mejor para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VMware ESXi / vSphere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Tipo 1</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Licencia (pago)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Empresas grandes, bancos, centros de datos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VMware Workstation</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Tipo 2</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Gratis uso personal</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Profesionales y laboratorios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Xen / XCP-ng</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Tipo 1</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Gratis (código abierto)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Proveedores de hosting y nube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Microsoft Hyper-V</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Tipo 1</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Incluido en Windows Server/Pro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Organizaciones con Windows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VirtualBox</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Tipo 2</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Gratis (código abierto)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Aprender, probar y desarrollar</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Virtual PC</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Tipo 2</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Descontinuado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Historia; reemplazado por Hyper-V</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t"/>
          <a:lstStyle/>
          <a:p>
            <a:pPr indent="0" marL="0">
              <a:buNone/>
            </a:pPr>
            <a:r>
              <a:rPr lang="en-US" sz="9600" b="1" dirty="0">
                <a:solidFill>
                  <a:srgbClr val="F4A261"/>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834640"/>
            <a:ext cx="7680960" cy="1371600"/>
          </a:xfrm>
          <a:prstGeom prst="rect">
            <a:avLst/>
          </a:prstGeom>
          <a:noFill/>
          <a:ln/>
        </p:spPr>
        <p:txBody>
          <a:bodyPr wrap="square" lIns="0" tIns="0" rIns="0" bIns="0"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La computación en la nube en detalle</a:t>
            </a:r>
            <a:endParaRPr lang="en-US" sz="3600" dirty="0"/>
          </a:p>
        </p:txBody>
      </p:sp>
      <p:sp>
        <p:nvSpPr>
          <p:cNvPr id="4" name="Text 2"/>
          <p:cNvSpPr txBox="1"/>
          <p:nvPr/>
        </p:nvSpPr>
        <p:spPr>
          <a:xfrm>
            <a:off x="548640" y="4389120"/>
            <a:ext cx="7315200" cy="914400"/>
          </a:xfrm>
          <a:prstGeom prst="rect">
            <a:avLst/>
          </a:prstGeom>
          <a:noFill/>
          <a:ln/>
        </p:spPr>
        <p:txBody>
          <a:bodyPr wrap="square" lIns="0" tIns="0" rIns="0" bIns="0" rtlCol="0" anchor="t"/>
          <a:lstStyle/>
          <a:p>
            <a:pPr indent="0" marL="0">
              <a:buNone/>
            </a:pPr>
            <a:r>
              <a:rPr lang="en-US" sz="1800" dirty="0">
                <a:solidFill>
                  <a:srgbClr val="CFE3F0"/>
                </a:solidFill>
                <a:latin typeface="Calibri" pitchFamily="34" charset="0"/>
                <a:ea typeface="Calibri" pitchFamily="34" charset="-122"/>
                <a:cs typeface="Calibri" pitchFamily="34" charset="-120"/>
              </a:rPr>
              <a:t>Características, historia, tipos de soluciones, ventajas, seguridad y casos de uso.</a:t>
            </a:r>
            <a:endParaRPr lang="en-US" sz="1800" dirty="0"/>
          </a:p>
        </p:txBody>
      </p:sp>
      <p:sp>
        <p:nvSpPr>
          <p:cNvPr id="5" name="Shape 3"/>
          <p:cNvSpPr/>
          <p:nvPr/>
        </p:nvSpPr>
        <p:spPr>
          <a:xfrm>
            <a:off x="8503920" y="1737360"/>
            <a:ext cx="3017520" cy="301752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9326880" y="2560320"/>
            <a:ext cx="1371600" cy="1371600"/>
          </a:xfrm>
          <a:prstGeom prst="rect">
            <a:avLst/>
          </a:prstGeom>
        </p:spPr>
      </p:pic>
      <p:sp>
        <p:nvSpPr>
          <p:cNvPr id="7" name="Text 4"/>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9FB3C8"/>
                </a:solidFill>
                <a:latin typeface="Calibri" pitchFamily="34" charset="0"/>
                <a:ea typeface="Calibri" pitchFamily="34" charset="-122"/>
                <a:cs typeface="Calibri" pitchFamily="34" charset="-120"/>
              </a:rPr>
              <a:t>RA1 · Nube y virtualización  ·  36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Características esenciales (NIST) con ejemplos</a:t>
            </a:r>
            <a:endParaRPr lang="en-US" sz="3200" dirty="0"/>
          </a:p>
        </p:txBody>
      </p:sp>
      <p:sp>
        <p:nvSpPr>
          <p:cNvPr id="5" name="Shape 2"/>
          <p:cNvSpPr/>
          <p:nvPr/>
        </p:nvSpPr>
        <p:spPr>
          <a:xfrm>
            <a:off x="548640" y="1417320"/>
            <a:ext cx="3515258" cy="2240280"/>
          </a:xfrm>
          <a:prstGeom prst="roundRect">
            <a:avLst>
              <a:gd name="adj" fmla="val 4898"/>
            </a:avLst>
          </a:prstGeom>
          <a:solidFill>
            <a:srgbClr val="F1F7F9"/>
          </a:solidFill>
          <a:ln w="9525">
            <a:solidFill>
              <a:srgbClr val="DCE6EA"/>
            </a:solidFill>
            <a:prstDash val="solid"/>
          </a:ln>
        </p:spPr>
      </p:sp>
      <p:sp>
        <p:nvSpPr>
          <p:cNvPr id="6" name="Shape 3"/>
          <p:cNvSpPr/>
          <p:nvPr/>
        </p:nvSpPr>
        <p:spPr>
          <a:xfrm>
            <a:off x="777240" y="1645920"/>
            <a:ext cx="548640" cy="54864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19886" y="1788566"/>
            <a:ext cx="263347" cy="263347"/>
          </a:xfrm>
          <a:prstGeom prst="rect">
            <a:avLst/>
          </a:prstGeom>
        </p:spPr>
      </p:pic>
      <p:sp>
        <p:nvSpPr>
          <p:cNvPr id="8" name="Text 4"/>
          <p:cNvSpPr txBox="1"/>
          <p:nvPr/>
        </p:nvSpPr>
        <p:spPr>
          <a:xfrm>
            <a:off x="1463040"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Autoservicio bajo demanda</a:t>
            </a:r>
            <a:endParaRPr lang="en-US" sz="1700" dirty="0"/>
          </a:p>
        </p:txBody>
      </p:sp>
      <p:sp>
        <p:nvSpPr>
          <p:cNvPr id="9" name="Text 5"/>
          <p:cNvSpPr txBox="1"/>
          <p:nvPr/>
        </p:nvSpPr>
        <p:spPr>
          <a:xfrm>
            <a:off x="777240"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Creo un servidor desde la consola sin llamar a nadie. Ej.: abrir una cuenta de Drive en 1 minuto.</a:t>
            </a:r>
            <a:endParaRPr lang="en-US" sz="1750" dirty="0"/>
          </a:p>
        </p:txBody>
      </p:sp>
      <p:sp>
        <p:nvSpPr>
          <p:cNvPr id="10" name="Shape 6"/>
          <p:cNvSpPr/>
          <p:nvPr/>
        </p:nvSpPr>
        <p:spPr>
          <a:xfrm>
            <a:off x="4338218" y="1417320"/>
            <a:ext cx="3515258" cy="2240280"/>
          </a:xfrm>
          <a:prstGeom prst="roundRect">
            <a:avLst>
              <a:gd name="adj" fmla="val 4898"/>
            </a:avLst>
          </a:prstGeom>
          <a:solidFill>
            <a:srgbClr val="F1F7F9"/>
          </a:solidFill>
          <a:ln w="9525">
            <a:solidFill>
              <a:srgbClr val="DCE6EA"/>
            </a:solidFill>
            <a:prstDash val="solid"/>
          </a:ln>
        </p:spPr>
      </p:sp>
      <p:sp>
        <p:nvSpPr>
          <p:cNvPr id="11" name="Shape 7"/>
          <p:cNvSpPr/>
          <p:nvPr/>
        </p:nvSpPr>
        <p:spPr>
          <a:xfrm>
            <a:off x="4566818" y="1645920"/>
            <a:ext cx="548640" cy="548640"/>
          </a:xfrm>
          <a:prstGeom prst="ellipse">
            <a:avLst/>
          </a:prstGeom>
          <a:solidFill>
            <a:srgbClr val="0E7C86"/>
          </a:solidFill>
          <a:ln w="12700">
            <a:solidFill>
              <a:srgbClr val="0E7C86"/>
            </a:solidFill>
            <a:prstDash val="solid"/>
          </a:ln>
        </p:spPr>
      </p:sp>
      <p:pic>
        <p:nvPicPr>
          <p:cNvPr id="12" name="Image 2" descr="preencoded.png">    </p:cNvPr>
          <p:cNvPicPr>
            <a:picLocks noChangeAspect="1"/>
          </p:cNvPicPr>
          <p:nvPr/>
        </p:nvPicPr>
        <p:blipFill>
          <a:blip r:embed="rId3"/>
          <a:stretch>
            <a:fillRect/>
          </a:stretch>
        </p:blipFill>
        <p:spPr>
          <a:xfrm>
            <a:off x="4709465" y="1788566"/>
            <a:ext cx="263347" cy="263347"/>
          </a:xfrm>
          <a:prstGeom prst="rect">
            <a:avLst/>
          </a:prstGeom>
        </p:spPr>
      </p:pic>
      <p:sp>
        <p:nvSpPr>
          <p:cNvPr id="13" name="Text 8"/>
          <p:cNvSpPr txBox="1"/>
          <p:nvPr/>
        </p:nvSpPr>
        <p:spPr>
          <a:xfrm>
            <a:off x="5252618"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Amplio acceso a la red</a:t>
            </a:r>
            <a:endParaRPr lang="en-US" sz="1700" dirty="0"/>
          </a:p>
        </p:txBody>
      </p:sp>
      <p:sp>
        <p:nvSpPr>
          <p:cNvPr id="14" name="Text 9"/>
          <p:cNvSpPr txBox="1"/>
          <p:nvPr/>
        </p:nvSpPr>
        <p:spPr>
          <a:xfrm>
            <a:off x="4566818"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Entro desde celular, tablet o PC. Ej.: Classroom en el bus y en el laboratorio.</a:t>
            </a:r>
            <a:endParaRPr lang="en-US" sz="1750" dirty="0"/>
          </a:p>
        </p:txBody>
      </p:sp>
      <p:sp>
        <p:nvSpPr>
          <p:cNvPr id="15" name="Shape 10"/>
          <p:cNvSpPr/>
          <p:nvPr/>
        </p:nvSpPr>
        <p:spPr>
          <a:xfrm>
            <a:off x="8127797" y="1417320"/>
            <a:ext cx="3515258" cy="2240280"/>
          </a:xfrm>
          <a:prstGeom prst="roundRect">
            <a:avLst>
              <a:gd name="adj" fmla="val 4898"/>
            </a:avLst>
          </a:prstGeom>
          <a:solidFill>
            <a:srgbClr val="F1F7F9"/>
          </a:solidFill>
          <a:ln w="9525">
            <a:solidFill>
              <a:srgbClr val="DCE6EA"/>
            </a:solidFill>
            <a:prstDash val="solid"/>
          </a:ln>
        </p:spPr>
      </p:sp>
      <p:sp>
        <p:nvSpPr>
          <p:cNvPr id="16" name="Shape 11"/>
          <p:cNvSpPr/>
          <p:nvPr/>
        </p:nvSpPr>
        <p:spPr>
          <a:xfrm>
            <a:off x="8356397" y="1645920"/>
            <a:ext cx="548640" cy="548640"/>
          </a:xfrm>
          <a:prstGeom prst="ellipse">
            <a:avLst/>
          </a:prstGeom>
          <a:solidFill>
            <a:srgbClr val="0E7C86"/>
          </a:solidFill>
          <a:ln w="12700">
            <a:solidFill>
              <a:srgbClr val="0E7C86"/>
            </a:solidFill>
            <a:prstDash val="solid"/>
          </a:ln>
        </p:spPr>
      </p:sp>
      <p:pic>
        <p:nvPicPr>
          <p:cNvPr id="17" name="Image 3" descr="preencoded.png">    </p:cNvPr>
          <p:cNvPicPr>
            <a:picLocks noChangeAspect="1"/>
          </p:cNvPicPr>
          <p:nvPr/>
        </p:nvPicPr>
        <p:blipFill>
          <a:blip r:embed="rId4"/>
          <a:stretch>
            <a:fillRect/>
          </a:stretch>
        </p:blipFill>
        <p:spPr>
          <a:xfrm>
            <a:off x="8499043" y="1788566"/>
            <a:ext cx="263347" cy="263347"/>
          </a:xfrm>
          <a:prstGeom prst="rect">
            <a:avLst/>
          </a:prstGeom>
        </p:spPr>
      </p:pic>
      <p:sp>
        <p:nvSpPr>
          <p:cNvPr id="18" name="Text 12"/>
          <p:cNvSpPr txBox="1"/>
          <p:nvPr/>
        </p:nvSpPr>
        <p:spPr>
          <a:xfrm>
            <a:off x="9042197"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Agrupación de recursos</a:t>
            </a:r>
            <a:endParaRPr lang="en-US" sz="1700" dirty="0"/>
          </a:p>
        </p:txBody>
      </p:sp>
      <p:sp>
        <p:nvSpPr>
          <p:cNvPr id="19" name="Text 13"/>
          <p:cNvSpPr txBox="1"/>
          <p:nvPr/>
        </p:nvSpPr>
        <p:spPr>
          <a:xfrm>
            <a:off x="8356397"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Muchos clientes comparten los mismos data centers, aislados entre sí.</a:t>
            </a:r>
            <a:endParaRPr lang="en-US" sz="1750" dirty="0"/>
          </a:p>
        </p:txBody>
      </p:sp>
      <p:sp>
        <p:nvSpPr>
          <p:cNvPr id="20" name="Shape 14"/>
          <p:cNvSpPr/>
          <p:nvPr/>
        </p:nvSpPr>
        <p:spPr>
          <a:xfrm>
            <a:off x="548640" y="3931920"/>
            <a:ext cx="3515258" cy="2240280"/>
          </a:xfrm>
          <a:prstGeom prst="roundRect">
            <a:avLst>
              <a:gd name="adj" fmla="val 4898"/>
            </a:avLst>
          </a:prstGeom>
          <a:solidFill>
            <a:srgbClr val="F1F7F9"/>
          </a:solidFill>
          <a:ln w="9525">
            <a:solidFill>
              <a:srgbClr val="DCE6EA"/>
            </a:solidFill>
            <a:prstDash val="solid"/>
          </a:ln>
        </p:spPr>
      </p:sp>
      <p:sp>
        <p:nvSpPr>
          <p:cNvPr id="21" name="Shape 15"/>
          <p:cNvSpPr/>
          <p:nvPr/>
        </p:nvSpPr>
        <p:spPr>
          <a:xfrm>
            <a:off x="777240" y="4160520"/>
            <a:ext cx="548640" cy="548640"/>
          </a:xfrm>
          <a:prstGeom prst="ellipse">
            <a:avLst/>
          </a:prstGeom>
          <a:solidFill>
            <a:srgbClr val="0E7C86"/>
          </a:solidFill>
          <a:ln w="12700">
            <a:solidFill>
              <a:srgbClr val="0E7C86"/>
            </a:solidFill>
            <a:prstDash val="solid"/>
          </a:ln>
        </p:spPr>
      </p:sp>
      <p:pic>
        <p:nvPicPr>
          <p:cNvPr id="22" name="Image 4" descr="preencoded.png">    </p:cNvPr>
          <p:cNvPicPr>
            <a:picLocks noChangeAspect="1"/>
          </p:cNvPicPr>
          <p:nvPr/>
        </p:nvPicPr>
        <p:blipFill>
          <a:blip r:embed="rId5"/>
          <a:stretch>
            <a:fillRect/>
          </a:stretch>
        </p:blipFill>
        <p:spPr>
          <a:xfrm>
            <a:off x="919886" y="4303166"/>
            <a:ext cx="263347" cy="263347"/>
          </a:xfrm>
          <a:prstGeom prst="rect">
            <a:avLst/>
          </a:prstGeom>
        </p:spPr>
      </p:pic>
      <p:sp>
        <p:nvSpPr>
          <p:cNvPr id="23" name="Text 16"/>
          <p:cNvSpPr txBox="1"/>
          <p:nvPr/>
        </p:nvSpPr>
        <p:spPr>
          <a:xfrm>
            <a:off x="1463040"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Elasticidad rápida</a:t>
            </a:r>
            <a:endParaRPr lang="en-US" sz="1700" dirty="0"/>
          </a:p>
        </p:txBody>
      </p:sp>
      <p:sp>
        <p:nvSpPr>
          <p:cNvPr id="24" name="Text 17"/>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Crece o se reduce sola. Ej.: la web de matrícula en enero.</a:t>
            </a:r>
            <a:endParaRPr lang="en-US" sz="1750" dirty="0"/>
          </a:p>
        </p:txBody>
      </p:sp>
      <p:sp>
        <p:nvSpPr>
          <p:cNvPr id="25" name="Shape 18"/>
          <p:cNvSpPr/>
          <p:nvPr/>
        </p:nvSpPr>
        <p:spPr>
          <a:xfrm>
            <a:off x="4338218" y="3931920"/>
            <a:ext cx="3515258" cy="2240280"/>
          </a:xfrm>
          <a:prstGeom prst="roundRect">
            <a:avLst>
              <a:gd name="adj" fmla="val 4898"/>
            </a:avLst>
          </a:prstGeom>
          <a:solidFill>
            <a:srgbClr val="F1F7F9"/>
          </a:solidFill>
          <a:ln w="9525">
            <a:solidFill>
              <a:srgbClr val="DCE6EA"/>
            </a:solidFill>
            <a:prstDash val="solid"/>
          </a:ln>
        </p:spPr>
      </p:sp>
      <p:sp>
        <p:nvSpPr>
          <p:cNvPr id="26" name="Shape 19"/>
          <p:cNvSpPr/>
          <p:nvPr/>
        </p:nvSpPr>
        <p:spPr>
          <a:xfrm>
            <a:off x="4566818" y="4160520"/>
            <a:ext cx="548640" cy="548640"/>
          </a:xfrm>
          <a:prstGeom prst="ellipse">
            <a:avLst/>
          </a:prstGeom>
          <a:solidFill>
            <a:srgbClr val="0E7C86"/>
          </a:solidFill>
          <a:ln w="12700">
            <a:solidFill>
              <a:srgbClr val="0E7C86"/>
            </a:solidFill>
            <a:prstDash val="solid"/>
          </a:ln>
        </p:spPr>
      </p:sp>
      <p:pic>
        <p:nvPicPr>
          <p:cNvPr id="27" name="Image 5" descr="preencoded.png">    </p:cNvPr>
          <p:cNvPicPr>
            <a:picLocks noChangeAspect="1"/>
          </p:cNvPicPr>
          <p:nvPr/>
        </p:nvPicPr>
        <p:blipFill>
          <a:blip r:embed="rId6"/>
          <a:stretch>
            <a:fillRect/>
          </a:stretch>
        </p:blipFill>
        <p:spPr>
          <a:xfrm>
            <a:off x="4709465" y="4303166"/>
            <a:ext cx="263347" cy="263347"/>
          </a:xfrm>
          <a:prstGeom prst="rect">
            <a:avLst/>
          </a:prstGeom>
        </p:spPr>
      </p:pic>
      <p:sp>
        <p:nvSpPr>
          <p:cNvPr id="28" name="Text 20"/>
          <p:cNvSpPr txBox="1"/>
          <p:nvPr/>
        </p:nvSpPr>
        <p:spPr>
          <a:xfrm>
            <a:off x="5252618"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Servicio medido</a:t>
            </a:r>
            <a:endParaRPr lang="en-US" sz="1700" dirty="0"/>
          </a:p>
        </p:txBody>
      </p:sp>
      <p:sp>
        <p:nvSpPr>
          <p:cNvPr id="29" name="Text 21"/>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Se mide y se cobra lo usado. Ej.: factura por GB y horas.</a:t>
            </a:r>
            <a:endParaRPr lang="en-US" sz="1750" dirty="0"/>
          </a:p>
        </p:txBody>
      </p:sp>
      <p:sp>
        <p:nvSpPr>
          <p:cNvPr id="30" name="Text 22"/>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37</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Historia de la computación en la nube</a:t>
            </a:r>
            <a:endParaRPr lang="en-US" sz="3200" dirty="0"/>
          </a:p>
        </p:txBody>
      </p:sp>
      <p:sp>
        <p:nvSpPr>
          <p:cNvPr id="5" name="Shape 2"/>
          <p:cNvSpPr/>
          <p:nvPr/>
        </p:nvSpPr>
        <p:spPr>
          <a:xfrm>
            <a:off x="822960" y="3291840"/>
            <a:ext cx="10545775" cy="0"/>
          </a:xfrm>
          <a:prstGeom prst="line">
            <a:avLst/>
          </a:prstGeom>
          <a:noFill/>
          <a:ln w="38100">
            <a:solidFill>
              <a:srgbClr val="0E7C86"/>
            </a:solidFill>
            <a:prstDash val="solid"/>
          </a:ln>
        </p:spPr>
      </p:sp>
      <p:sp>
        <p:nvSpPr>
          <p:cNvPr id="6" name="Shape 3"/>
          <p:cNvSpPr/>
          <p:nvPr/>
        </p:nvSpPr>
        <p:spPr>
          <a:xfrm>
            <a:off x="676656" y="3145536"/>
            <a:ext cx="292608" cy="292608"/>
          </a:xfrm>
          <a:prstGeom prst="ellipse">
            <a:avLst/>
          </a:prstGeom>
          <a:solidFill>
            <a:srgbClr val="0E7C86"/>
          </a:solidFill>
          <a:ln w="25400">
            <a:solidFill>
              <a:srgbClr val="FFFFFF"/>
            </a:solidFill>
            <a:prstDash val="solid"/>
          </a:ln>
        </p:spPr>
      </p:sp>
      <p:sp>
        <p:nvSpPr>
          <p:cNvPr id="7" name="Text 4"/>
          <p:cNvSpPr txBox="1"/>
          <p:nvPr/>
        </p:nvSpPr>
        <p:spPr>
          <a:xfrm>
            <a:off x="548640" y="146304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1961</a:t>
            </a:r>
            <a:endParaRPr lang="en-US" sz="2000" dirty="0"/>
          </a:p>
        </p:txBody>
      </p:sp>
      <p:sp>
        <p:nvSpPr>
          <p:cNvPr id="8" name="Text 5"/>
          <p:cNvSpPr txBox="1"/>
          <p:nvPr/>
        </p:nvSpPr>
        <p:spPr>
          <a:xfrm>
            <a:off x="548640" y="187452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McCarthy: la computación se venderá como la electricidad.</a:t>
            </a:r>
            <a:endParaRPr lang="en-US" sz="1400" dirty="0"/>
          </a:p>
        </p:txBody>
      </p:sp>
      <p:sp>
        <p:nvSpPr>
          <p:cNvPr id="9" name="Shape 6"/>
          <p:cNvSpPr/>
          <p:nvPr/>
        </p:nvSpPr>
        <p:spPr>
          <a:xfrm>
            <a:off x="2434285" y="3145536"/>
            <a:ext cx="292608" cy="292608"/>
          </a:xfrm>
          <a:prstGeom prst="ellipse">
            <a:avLst/>
          </a:prstGeom>
          <a:solidFill>
            <a:srgbClr val="F4A261"/>
          </a:solidFill>
          <a:ln w="25400">
            <a:solidFill>
              <a:srgbClr val="FFFFFF"/>
            </a:solidFill>
            <a:prstDash val="solid"/>
          </a:ln>
        </p:spPr>
      </p:sp>
      <p:sp>
        <p:nvSpPr>
          <p:cNvPr id="10" name="Text 7"/>
          <p:cNvSpPr txBox="1"/>
          <p:nvPr/>
        </p:nvSpPr>
        <p:spPr>
          <a:xfrm>
            <a:off x="1529029" y="361188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1969</a:t>
            </a:r>
            <a:endParaRPr lang="en-US" sz="2000" dirty="0"/>
          </a:p>
        </p:txBody>
      </p:sp>
      <p:sp>
        <p:nvSpPr>
          <p:cNvPr id="11" name="Text 8"/>
          <p:cNvSpPr txBox="1"/>
          <p:nvPr/>
        </p:nvSpPr>
        <p:spPr>
          <a:xfrm>
            <a:off x="1529029" y="402336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ARPANET, antecesora de Internet.</a:t>
            </a:r>
            <a:endParaRPr lang="en-US" sz="1400" dirty="0"/>
          </a:p>
        </p:txBody>
      </p:sp>
      <p:sp>
        <p:nvSpPr>
          <p:cNvPr id="12" name="Shape 9"/>
          <p:cNvSpPr/>
          <p:nvPr/>
        </p:nvSpPr>
        <p:spPr>
          <a:xfrm>
            <a:off x="4191914" y="3145536"/>
            <a:ext cx="292608" cy="292608"/>
          </a:xfrm>
          <a:prstGeom prst="ellipse">
            <a:avLst/>
          </a:prstGeom>
          <a:solidFill>
            <a:srgbClr val="0E7C86"/>
          </a:solidFill>
          <a:ln w="25400">
            <a:solidFill>
              <a:srgbClr val="FFFFFF"/>
            </a:solidFill>
            <a:prstDash val="solid"/>
          </a:ln>
        </p:spPr>
      </p:sp>
      <p:sp>
        <p:nvSpPr>
          <p:cNvPr id="13" name="Text 10"/>
          <p:cNvSpPr txBox="1"/>
          <p:nvPr/>
        </p:nvSpPr>
        <p:spPr>
          <a:xfrm>
            <a:off x="3286658" y="146304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1999</a:t>
            </a:r>
            <a:endParaRPr lang="en-US" sz="2000" dirty="0"/>
          </a:p>
        </p:txBody>
      </p:sp>
      <p:sp>
        <p:nvSpPr>
          <p:cNvPr id="14" name="Text 11"/>
          <p:cNvSpPr txBox="1"/>
          <p:nvPr/>
        </p:nvSpPr>
        <p:spPr>
          <a:xfrm>
            <a:off x="3286658" y="187452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Salesforce vende software por la web (inicio del SaaS).</a:t>
            </a:r>
            <a:endParaRPr lang="en-US" sz="1400" dirty="0"/>
          </a:p>
        </p:txBody>
      </p:sp>
      <p:sp>
        <p:nvSpPr>
          <p:cNvPr id="15" name="Shape 12"/>
          <p:cNvSpPr/>
          <p:nvPr/>
        </p:nvSpPr>
        <p:spPr>
          <a:xfrm>
            <a:off x="5949544" y="3145536"/>
            <a:ext cx="292608" cy="292608"/>
          </a:xfrm>
          <a:prstGeom prst="ellipse">
            <a:avLst/>
          </a:prstGeom>
          <a:solidFill>
            <a:srgbClr val="F4A261"/>
          </a:solidFill>
          <a:ln w="25400">
            <a:solidFill>
              <a:srgbClr val="FFFFFF"/>
            </a:solidFill>
            <a:prstDash val="solid"/>
          </a:ln>
        </p:spPr>
      </p:sp>
      <p:sp>
        <p:nvSpPr>
          <p:cNvPr id="16" name="Text 13"/>
          <p:cNvSpPr txBox="1"/>
          <p:nvPr/>
        </p:nvSpPr>
        <p:spPr>
          <a:xfrm>
            <a:off x="5044288" y="361188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2006</a:t>
            </a:r>
            <a:endParaRPr lang="en-US" sz="2000" dirty="0"/>
          </a:p>
        </p:txBody>
      </p:sp>
      <p:sp>
        <p:nvSpPr>
          <p:cNvPr id="17" name="Text 14"/>
          <p:cNvSpPr txBox="1"/>
          <p:nvPr/>
        </p:nvSpPr>
        <p:spPr>
          <a:xfrm>
            <a:off x="5044288" y="402336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Amazon lanza AWS con S3 y EC2.</a:t>
            </a:r>
            <a:endParaRPr lang="en-US" sz="1400" dirty="0"/>
          </a:p>
        </p:txBody>
      </p:sp>
      <p:sp>
        <p:nvSpPr>
          <p:cNvPr id="18" name="Shape 15"/>
          <p:cNvSpPr/>
          <p:nvPr/>
        </p:nvSpPr>
        <p:spPr>
          <a:xfrm>
            <a:off x="7707173" y="3145536"/>
            <a:ext cx="292608" cy="292608"/>
          </a:xfrm>
          <a:prstGeom prst="ellipse">
            <a:avLst/>
          </a:prstGeom>
          <a:solidFill>
            <a:srgbClr val="0E7C86"/>
          </a:solidFill>
          <a:ln w="25400">
            <a:solidFill>
              <a:srgbClr val="FFFFFF"/>
            </a:solidFill>
            <a:prstDash val="solid"/>
          </a:ln>
        </p:spPr>
      </p:sp>
      <p:sp>
        <p:nvSpPr>
          <p:cNvPr id="19" name="Text 16"/>
          <p:cNvSpPr txBox="1"/>
          <p:nvPr/>
        </p:nvSpPr>
        <p:spPr>
          <a:xfrm>
            <a:off x="6801917" y="146304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2008–10</a:t>
            </a:r>
            <a:endParaRPr lang="en-US" sz="2000" dirty="0"/>
          </a:p>
        </p:txBody>
      </p:sp>
      <p:sp>
        <p:nvSpPr>
          <p:cNvPr id="20" name="Text 17"/>
          <p:cNvSpPr txBox="1"/>
          <p:nvPr/>
        </p:nvSpPr>
        <p:spPr>
          <a:xfrm>
            <a:off x="6801917" y="187452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Google App Engine, Microsoft Azure y OpenStack.</a:t>
            </a:r>
            <a:endParaRPr lang="en-US" sz="1400" dirty="0"/>
          </a:p>
        </p:txBody>
      </p:sp>
      <p:sp>
        <p:nvSpPr>
          <p:cNvPr id="21" name="Shape 18"/>
          <p:cNvSpPr/>
          <p:nvPr/>
        </p:nvSpPr>
        <p:spPr>
          <a:xfrm>
            <a:off x="9464802" y="3145536"/>
            <a:ext cx="292608" cy="292608"/>
          </a:xfrm>
          <a:prstGeom prst="ellipse">
            <a:avLst/>
          </a:prstGeom>
          <a:solidFill>
            <a:srgbClr val="F4A261"/>
          </a:solidFill>
          <a:ln w="25400">
            <a:solidFill>
              <a:srgbClr val="FFFFFF"/>
            </a:solidFill>
            <a:prstDash val="solid"/>
          </a:ln>
        </p:spPr>
      </p:sp>
      <p:sp>
        <p:nvSpPr>
          <p:cNvPr id="22" name="Text 19"/>
          <p:cNvSpPr txBox="1"/>
          <p:nvPr/>
        </p:nvSpPr>
        <p:spPr>
          <a:xfrm>
            <a:off x="8559546" y="361188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2011</a:t>
            </a:r>
            <a:endParaRPr lang="en-US" sz="2000" dirty="0"/>
          </a:p>
        </p:txBody>
      </p:sp>
      <p:sp>
        <p:nvSpPr>
          <p:cNvPr id="23" name="Text 20"/>
          <p:cNvSpPr txBox="1"/>
          <p:nvPr/>
        </p:nvSpPr>
        <p:spPr>
          <a:xfrm>
            <a:off x="8559546" y="402336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El NIST publica la definición oficial.</a:t>
            </a:r>
            <a:endParaRPr lang="en-US" sz="1400" dirty="0"/>
          </a:p>
        </p:txBody>
      </p:sp>
      <p:sp>
        <p:nvSpPr>
          <p:cNvPr id="24" name="Shape 21"/>
          <p:cNvSpPr/>
          <p:nvPr/>
        </p:nvSpPr>
        <p:spPr>
          <a:xfrm>
            <a:off x="11222431" y="3145536"/>
            <a:ext cx="292608" cy="292608"/>
          </a:xfrm>
          <a:prstGeom prst="ellipse">
            <a:avLst/>
          </a:prstGeom>
          <a:solidFill>
            <a:srgbClr val="0E7C86"/>
          </a:solidFill>
          <a:ln w="25400">
            <a:solidFill>
              <a:srgbClr val="FFFFFF"/>
            </a:solidFill>
            <a:prstDash val="solid"/>
          </a:ln>
        </p:spPr>
      </p:sp>
      <p:sp>
        <p:nvSpPr>
          <p:cNvPr id="25" name="Text 22"/>
          <p:cNvSpPr txBox="1"/>
          <p:nvPr/>
        </p:nvSpPr>
        <p:spPr>
          <a:xfrm>
            <a:off x="9539935" y="1463040"/>
            <a:ext cx="2103120" cy="411480"/>
          </a:xfrm>
          <a:prstGeom prst="rect">
            <a:avLst/>
          </a:prstGeom>
          <a:noFill/>
          <a:ln/>
        </p:spPr>
        <p:txBody>
          <a:bodyPr wrap="square" lIns="0" tIns="0" rIns="0" bIns="0" rtlCol="0" anchor="t"/>
          <a:lstStyle/>
          <a:p>
            <a:pPr algn="ctr" indent="0" marL="0">
              <a:buNone/>
            </a:pPr>
            <a:r>
              <a:rPr lang="en-US" sz="2000" b="1" dirty="0">
                <a:solidFill>
                  <a:srgbClr val="0B2545"/>
                </a:solidFill>
                <a:latin typeface="Cambria" pitchFamily="34" charset="0"/>
                <a:ea typeface="Cambria" pitchFamily="34" charset="-122"/>
                <a:cs typeface="Cambria" pitchFamily="34" charset="-120"/>
              </a:rPr>
              <a:t>Hoy</a:t>
            </a:r>
            <a:endParaRPr lang="en-US" sz="2000" dirty="0"/>
          </a:p>
        </p:txBody>
      </p:sp>
      <p:sp>
        <p:nvSpPr>
          <p:cNvPr id="26" name="Text 23"/>
          <p:cNvSpPr txBox="1"/>
          <p:nvPr/>
        </p:nvSpPr>
        <p:spPr>
          <a:xfrm>
            <a:off x="9539935" y="1874520"/>
            <a:ext cx="2103120" cy="12801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Serverless, contenedores, multicloud e inteligencia artificial.</a:t>
            </a:r>
            <a:endParaRPr lang="en-US" sz="1400" dirty="0"/>
          </a:p>
        </p:txBody>
      </p:sp>
      <p:sp>
        <p:nvSpPr>
          <p:cNvPr id="27" name="Text 24"/>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IaaS: Infraestructura como servicio</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El proveedor alquila la infraestructura básica: servidores virtuales, almacenamiento y redes. El cliente instala y administra el sistema operativo y sus aplicaciones.</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El cliente controla: </a:t>
            </a:r>
            <a:pPr indent="0" marL="0">
              <a:buNone/>
            </a:pPr>
            <a:r>
              <a:rPr lang="en-US" sz="2200" dirty="0">
                <a:solidFill>
                  <a:srgbClr val="1F2937"/>
                </a:solidFill>
                <a:latin typeface="Calibri" pitchFamily="34" charset="0"/>
                <a:ea typeface="Calibri" pitchFamily="34" charset="-122"/>
                <a:cs typeface="Calibri" pitchFamily="34" charset="-120"/>
              </a:rPr>
              <a:t>sistema operativo, aplicaciones, datos y parte de la red.</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El proveedor controla: </a:t>
            </a:r>
            <a:pPr indent="0" marL="0">
              <a:buNone/>
            </a:pPr>
            <a:r>
              <a:rPr lang="en-US" sz="2200" dirty="0">
                <a:solidFill>
                  <a:srgbClr val="1F2937"/>
                </a:solidFill>
                <a:latin typeface="Calibri" pitchFamily="34" charset="0"/>
                <a:ea typeface="Calibri" pitchFamily="34" charset="-122"/>
                <a:cs typeface="Calibri" pitchFamily="34" charset="-120"/>
              </a:rPr>
              <a:t>hardware, virtualización y data center.</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Productos: </a:t>
            </a:r>
            <a:pPr indent="0" marL="0">
              <a:buNone/>
            </a:pPr>
            <a:r>
              <a:rPr lang="en-US" sz="2200" dirty="0">
                <a:solidFill>
                  <a:srgbClr val="1F2937"/>
                </a:solidFill>
                <a:latin typeface="Calibri" pitchFamily="34" charset="0"/>
                <a:ea typeface="Calibri" pitchFamily="34" charset="-122"/>
                <a:cs typeface="Calibri" pitchFamily="34" charset="-120"/>
              </a:rPr>
              <a:t>AWS EC2, Azure Virtual Machines, Google Compute Engine.</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Una empresa de contabilidad alquila en Azure una VM con Windows Server para su programa contable. Ella instala el programa, aplica los parches y hace los usuarios; Microsoft se encarga del hardware.</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39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PaaS: Plataforma como servicio</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El proveedor entrega una plataforma lista (sistema operativo, servidor web, base de datos, herramientas) para que el cliente solo suba su código y publique su aplicación.</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El cliente controla: </a:t>
            </a:r>
            <a:pPr indent="0" marL="0">
              <a:buNone/>
            </a:pPr>
            <a:r>
              <a:rPr lang="en-US" sz="2200" dirty="0">
                <a:solidFill>
                  <a:srgbClr val="1F2937"/>
                </a:solidFill>
                <a:latin typeface="Calibri" pitchFamily="34" charset="0"/>
                <a:ea typeface="Calibri" pitchFamily="34" charset="-122"/>
                <a:cs typeface="Calibri" pitchFamily="34" charset="-120"/>
              </a:rPr>
              <a:t>su aplicación, su código y sus datos.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El proveedor controla: </a:t>
            </a:r>
            <a:pPr indent="0" marL="0">
              <a:buNone/>
            </a:pPr>
            <a:r>
              <a:rPr lang="en-US" sz="2200" dirty="0">
                <a:solidFill>
                  <a:srgbClr val="1F2937"/>
                </a:solidFill>
                <a:latin typeface="Calibri" pitchFamily="34" charset="0"/>
                <a:ea typeface="Calibri" pitchFamily="34" charset="-122"/>
                <a:cs typeface="Calibri" pitchFamily="34" charset="-120"/>
              </a:rPr>
              <a:t>sistema operativo, parches, servidor web, escalado.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Productos: </a:t>
            </a:r>
            <a:pPr indent="0" marL="0">
              <a:buNone/>
            </a:pPr>
            <a:r>
              <a:rPr lang="en-US" sz="2200" dirty="0">
                <a:solidFill>
                  <a:srgbClr val="1F2937"/>
                </a:solidFill>
                <a:latin typeface="Calibri" pitchFamily="34" charset="0"/>
                <a:ea typeface="Calibri" pitchFamily="34" charset="-122"/>
                <a:cs typeface="Calibri" pitchFamily="34" charset="-120"/>
              </a:rPr>
              <a:t>Google App Engine, Azure App Service, Heroku, Firebase.</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 grupo de estudiantes programa una app para reportar huecos en las calles del cantón y la publica en Firebase. No instalan servidores: solo suben el código y Firebase la mantiene funcionando.</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40</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SaaS: Software como servicio</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El proveedor entrega la aplicación completa, lista para usar desde el navegador o una app. El cliente solo la usa y configura su cuenta.</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El cliente controla: </a:t>
            </a:r>
            <a:pPr indent="0" marL="0">
              <a:buNone/>
            </a:pPr>
            <a:r>
              <a:rPr lang="en-US" sz="2200" dirty="0">
                <a:solidFill>
                  <a:srgbClr val="1F2937"/>
                </a:solidFill>
                <a:latin typeface="Calibri" pitchFamily="34" charset="0"/>
                <a:ea typeface="Calibri" pitchFamily="34" charset="-122"/>
                <a:cs typeface="Calibri" pitchFamily="34" charset="-120"/>
              </a:rPr>
              <a:t>sus datos, usuarios, permisos y configuración de la cuenta.</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El proveedor controla: </a:t>
            </a:r>
            <a:pPr indent="0" marL="0">
              <a:buNone/>
            </a:pPr>
            <a:r>
              <a:rPr lang="en-US" sz="2200" dirty="0">
                <a:solidFill>
                  <a:srgbClr val="1F2937"/>
                </a:solidFill>
                <a:latin typeface="Calibri" pitchFamily="34" charset="0"/>
                <a:ea typeface="Calibri" pitchFamily="34" charset="-122"/>
                <a:cs typeface="Calibri" pitchFamily="34" charset="-120"/>
              </a:rPr>
              <a:t>todo lo demás: aplicación, servidores, actualizaciones.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Productos: </a:t>
            </a:r>
            <a:pPr indent="0" marL="0">
              <a:buNone/>
            </a:pPr>
            <a:r>
              <a:rPr lang="en-US" sz="2200" dirty="0">
                <a:solidFill>
                  <a:srgbClr val="1F2937"/>
                </a:solidFill>
                <a:latin typeface="Calibri" pitchFamily="34" charset="0"/>
                <a:ea typeface="Calibri" pitchFamily="34" charset="-122"/>
                <a:cs typeface="Calibri" pitchFamily="34" charset="-120"/>
              </a:rPr>
              <a:t>Gmail, Microsoft 365, Zoom, Canva, Salesforce, Classroom.</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El colegio usa Google Classroom: no instala nada, solo crea las clases y agrega a los estudiantes. Cuando Google agrega una función nueva, aparece sola para todos.</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41</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Otras soluciones: todo como servicio (XaaS)</a:t>
            </a:r>
            <a:endParaRPr lang="en-US" sz="3200" dirty="0"/>
          </a:p>
        </p:txBody>
      </p:sp>
      <p:sp>
        <p:nvSpPr>
          <p:cNvPr id="5" name="Text 2"/>
          <p:cNvSpPr txBox="1"/>
          <p:nvPr/>
        </p:nvSpPr>
        <p:spPr>
          <a:xfrm>
            <a:off x="548640" y="1325880"/>
            <a:ext cx="11094415" cy="59436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Analogía de la pizza: IaaS = te alquilan la cocina · PaaS = masa y horno listos · SaaS = pizza a domicilio.</a:t>
            </a:r>
            <a:endParaRPr lang="en-US" sz="1600" dirty="0"/>
          </a:p>
        </p:txBody>
      </p:sp>
      <p:sp>
        <p:nvSpPr>
          <p:cNvPr id="6" name="Shape 3"/>
          <p:cNvSpPr/>
          <p:nvPr/>
        </p:nvSpPr>
        <p:spPr>
          <a:xfrm>
            <a:off x="548640" y="2011680"/>
            <a:ext cx="2567864" cy="4160520"/>
          </a:xfrm>
          <a:prstGeom prst="roundRect">
            <a:avLst>
              <a:gd name="adj" fmla="val 4273"/>
            </a:avLst>
          </a:prstGeom>
          <a:solidFill>
            <a:srgbClr val="F1F7F9"/>
          </a:solidFill>
          <a:ln w="9525">
            <a:solidFill>
              <a:srgbClr val="DCE6EA"/>
            </a:solidFill>
            <a:prstDash val="solid"/>
          </a:ln>
        </p:spPr>
      </p:sp>
      <p:sp>
        <p:nvSpPr>
          <p:cNvPr id="7" name="Shape 4"/>
          <p:cNvSpPr/>
          <p:nvPr/>
        </p:nvSpPr>
        <p:spPr>
          <a:xfrm>
            <a:off x="777240" y="2240280"/>
            <a:ext cx="548640" cy="548640"/>
          </a:xfrm>
          <a:prstGeom prst="ellipse">
            <a:avLst/>
          </a:prstGeom>
          <a:solidFill>
            <a:srgbClr val="0E7C86"/>
          </a:solidFill>
          <a:ln w="12700">
            <a:solidFill>
              <a:srgbClr val="0E7C86"/>
            </a:solidFill>
            <a:prstDash val="solid"/>
          </a:ln>
        </p:spPr>
      </p:sp>
      <p:pic>
        <p:nvPicPr>
          <p:cNvPr id="8" name="Image 1" descr="preencoded.png">    </p:cNvPr>
          <p:cNvPicPr>
            <a:picLocks noChangeAspect="1"/>
          </p:cNvPicPr>
          <p:nvPr/>
        </p:nvPicPr>
        <p:blipFill>
          <a:blip r:embed="rId2"/>
          <a:stretch>
            <a:fillRect/>
          </a:stretch>
        </p:blipFill>
        <p:spPr>
          <a:xfrm>
            <a:off x="919886" y="2382926"/>
            <a:ext cx="263347" cy="263347"/>
          </a:xfrm>
          <a:prstGeom prst="rect">
            <a:avLst/>
          </a:prstGeom>
        </p:spPr>
      </p:pic>
      <p:sp>
        <p:nvSpPr>
          <p:cNvPr id="9" name="Text 5"/>
          <p:cNvSpPr txBox="1"/>
          <p:nvPr/>
        </p:nvSpPr>
        <p:spPr>
          <a:xfrm>
            <a:off x="1463040" y="2240280"/>
            <a:ext cx="147058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FaaS / Serverless</a:t>
            </a:r>
            <a:endParaRPr lang="en-US" sz="1700" dirty="0"/>
          </a:p>
        </p:txBody>
      </p:sp>
      <p:sp>
        <p:nvSpPr>
          <p:cNvPr id="10" name="Text 6"/>
          <p:cNvSpPr txBox="1"/>
          <p:nvPr/>
        </p:nvSpPr>
        <p:spPr>
          <a:xfrm>
            <a:off x="777240" y="2926080"/>
            <a:ext cx="2110664" cy="310896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Se sube una función que corre solo cuando se necesita. Ej.: redimensionar fotos al subirlas.</a:t>
            </a:r>
            <a:endParaRPr lang="en-US" sz="2000" dirty="0"/>
          </a:p>
        </p:txBody>
      </p:sp>
      <p:sp>
        <p:nvSpPr>
          <p:cNvPr id="11" name="Shape 7"/>
          <p:cNvSpPr/>
          <p:nvPr/>
        </p:nvSpPr>
        <p:spPr>
          <a:xfrm>
            <a:off x="3390824" y="2011680"/>
            <a:ext cx="2567864" cy="4160520"/>
          </a:xfrm>
          <a:prstGeom prst="roundRect">
            <a:avLst>
              <a:gd name="adj" fmla="val 4273"/>
            </a:avLst>
          </a:prstGeom>
          <a:solidFill>
            <a:srgbClr val="F1F7F9"/>
          </a:solidFill>
          <a:ln w="9525">
            <a:solidFill>
              <a:srgbClr val="DCE6EA"/>
            </a:solidFill>
            <a:prstDash val="solid"/>
          </a:ln>
        </p:spPr>
      </p:sp>
      <p:sp>
        <p:nvSpPr>
          <p:cNvPr id="12" name="Shape 8"/>
          <p:cNvSpPr/>
          <p:nvPr/>
        </p:nvSpPr>
        <p:spPr>
          <a:xfrm>
            <a:off x="3619424" y="2240280"/>
            <a:ext cx="548640" cy="548640"/>
          </a:xfrm>
          <a:prstGeom prst="ellipse">
            <a:avLst/>
          </a:prstGeom>
          <a:solidFill>
            <a:srgbClr val="0E7C86"/>
          </a:solidFill>
          <a:ln w="12700">
            <a:solidFill>
              <a:srgbClr val="0E7C86"/>
            </a:solidFill>
            <a:prstDash val="solid"/>
          </a:ln>
        </p:spPr>
      </p:sp>
      <p:pic>
        <p:nvPicPr>
          <p:cNvPr id="13" name="Image 2" descr="preencoded.png">    </p:cNvPr>
          <p:cNvPicPr>
            <a:picLocks noChangeAspect="1"/>
          </p:cNvPicPr>
          <p:nvPr/>
        </p:nvPicPr>
        <p:blipFill>
          <a:blip r:embed="rId3"/>
          <a:stretch>
            <a:fillRect/>
          </a:stretch>
        </p:blipFill>
        <p:spPr>
          <a:xfrm>
            <a:off x="3762070" y="2382926"/>
            <a:ext cx="263347" cy="263347"/>
          </a:xfrm>
          <a:prstGeom prst="rect">
            <a:avLst/>
          </a:prstGeom>
        </p:spPr>
      </p:pic>
      <p:sp>
        <p:nvSpPr>
          <p:cNvPr id="14" name="Text 9"/>
          <p:cNvSpPr txBox="1"/>
          <p:nvPr/>
        </p:nvSpPr>
        <p:spPr>
          <a:xfrm>
            <a:off x="4305224" y="2240280"/>
            <a:ext cx="147058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DaaS</a:t>
            </a:r>
            <a:endParaRPr lang="en-US" sz="1700" dirty="0"/>
          </a:p>
        </p:txBody>
      </p:sp>
      <p:sp>
        <p:nvSpPr>
          <p:cNvPr id="15" name="Text 10"/>
          <p:cNvSpPr txBox="1"/>
          <p:nvPr/>
        </p:nvSpPr>
        <p:spPr>
          <a:xfrm>
            <a:off x="3619424" y="2926080"/>
            <a:ext cx="2110664" cy="310896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Escritorio como servicio. Ej.: Windows 365 para trabajar desde cualquier PC.</a:t>
            </a:r>
            <a:endParaRPr lang="en-US" sz="2000" dirty="0"/>
          </a:p>
        </p:txBody>
      </p:sp>
      <p:sp>
        <p:nvSpPr>
          <p:cNvPr id="16" name="Shape 11"/>
          <p:cNvSpPr/>
          <p:nvPr/>
        </p:nvSpPr>
        <p:spPr>
          <a:xfrm>
            <a:off x="6233008" y="2011680"/>
            <a:ext cx="2567864" cy="4160520"/>
          </a:xfrm>
          <a:prstGeom prst="roundRect">
            <a:avLst>
              <a:gd name="adj" fmla="val 4273"/>
            </a:avLst>
          </a:prstGeom>
          <a:solidFill>
            <a:srgbClr val="F1F7F9"/>
          </a:solidFill>
          <a:ln w="9525">
            <a:solidFill>
              <a:srgbClr val="DCE6EA"/>
            </a:solidFill>
            <a:prstDash val="solid"/>
          </a:ln>
        </p:spPr>
      </p:sp>
      <p:sp>
        <p:nvSpPr>
          <p:cNvPr id="17" name="Shape 12"/>
          <p:cNvSpPr/>
          <p:nvPr/>
        </p:nvSpPr>
        <p:spPr>
          <a:xfrm>
            <a:off x="6461608" y="2240280"/>
            <a:ext cx="548640" cy="548640"/>
          </a:xfrm>
          <a:prstGeom prst="ellipse">
            <a:avLst/>
          </a:prstGeom>
          <a:solidFill>
            <a:srgbClr val="0E7C86"/>
          </a:solidFill>
          <a:ln w="12700">
            <a:solidFill>
              <a:srgbClr val="0E7C86"/>
            </a:solidFill>
            <a:prstDash val="solid"/>
          </a:ln>
        </p:spPr>
      </p:sp>
      <p:pic>
        <p:nvPicPr>
          <p:cNvPr id="18" name="Image 3" descr="preencoded.png">    </p:cNvPr>
          <p:cNvPicPr>
            <a:picLocks noChangeAspect="1"/>
          </p:cNvPicPr>
          <p:nvPr/>
        </p:nvPicPr>
        <p:blipFill>
          <a:blip r:embed="rId4"/>
          <a:stretch>
            <a:fillRect/>
          </a:stretch>
        </p:blipFill>
        <p:spPr>
          <a:xfrm>
            <a:off x="6604254" y="2382926"/>
            <a:ext cx="263347" cy="263347"/>
          </a:xfrm>
          <a:prstGeom prst="rect">
            <a:avLst/>
          </a:prstGeom>
        </p:spPr>
      </p:pic>
      <p:sp>
        <p:nvSpPr>
          <p:cNvPr id="19" name="Text 13"/>
          <p:cNvSpPr txBox="1"/>
          <p:nvPr/>
        </p:nvSpPr>
        <p:spPr>
          <a:xfrm>
            <a:off x="7147408" y="2240280"/>
            <a:ext cx="147058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BaaS</a:t>
            </a:r>
            <a:endParaRPr lang="en-US" sz="1700" dirty="0"/>
          </a:p>
        </p:txBody>
      </p:sp>
      <p:sp>
        <p:nvSpPr>
          <p:cNvPr id="20" name="Text 14"/>
          <p:cNvSpPr txBox="1"/>
          <p:nvPr/>
        </p:nvSpPr>
        <p:spPr>
          <a:xfrm>
            <a:off x="6461608" y="2926080"/>
            <a:ext cx="2110664" cy="310896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Respaldo como servicio. Ej.: copias automáticas diarias en la nube.</a:t>
            </a:r>
            <a:endParaRPr lang="en-US" sz="2000" dirty="0"/>
          </a:p>
        </p:txBody>
      </p:sp>
      <p:sp>
        <p:nvSpPr>
          <p:cNvPr id="21" name="Shape 15"/>
          <p:cNvSpPr/>
          <p:nvPr/>
        </p:nvSpPr>
        <p:spPr>
          <a:xfrm>
            <a:off x="9075191" y="2011680"/>
            <a:ext cx="2567864" cy="4160520"/>
          </a:xfrm>
          <a:prstGeom prst="roundRect">
            <a:avLst>
              <a:gd name="adj" fmla="val 4273"/>
            </a:avLst>
          </a:prstGeom>
          <a:solidFill>
            <a:srgbClr val="F1F7F9"/>
          </a:solidFill>
          <a:ln w="9525">
            <a:solidFill>
              <a:srgbClr val="DCE6EA"/>
            </a:solidFill>
            <a:prstDash val="solid"/>
          </a:ln>
        </p:spPr>
      </p:sp>
      <p:sp>
        <p:nvSpPr>
          <p:cNvPr id="22" name="Shape 16"/>
          <p:cNvSpPr/>
          <p:nvPr/>
        </p:nvSpPr>
        <p:spPr>
          <a:xfrm>
            <a:off x="9303791" y="2240280"/>
            <a:ext cx="548640" cy="548640"/>
          </a:xfrm>
          <a:prstGeom prst="ellipse">
            <a:avLst/>
          </a:prstGeom>
          <a:solidFill>
            <a:srgbClr val="0E7C86"/>
          </a:solidFill>
          <a:ln w="12700">
            <a:solidFill>
              <a:srgbClr val="0E7C86"/>
            </a:solidFill>
            <a:prstDash val="solid"/>
          </a:ln>
        </p:spPr>
      </p:sp>
      <p:pic>
        <p:nvPicPr>
          <p:cNvPr id="23" name="Image 4" descr="preencoded.png">    </p:cNvPr>
          <p:cNvPicPr>
            <a:picLocks noChangeAspect="1"/>
          </p:cNvPicPr>
          <p:nvPr/>
        </p:nvPicPr>
        <p:blipFill>
          <a:blip r:embed="rId5"/>
          <a:stretch>
            <a:fillRect/>
          </a:stretch>
        </p:blipFill>
        <p:spPr>
          <a:xfrm>
            <a:off x="9446438" y="2382926"/>
            <a:ext cx="263347" cy="263347"/>
          </a:xfrm>
          <a:prstGeom prst="rect">
            <a:avLst/>
          </a:prstGeom>
        </p:spPr>
      </p:pic>
      <p:sp>
        <p:nvSpPr>
          <p:cNvPr id="24" name="Text 17"/>
          <p:cNvSpPr txBox="1"/>
          <p:nvPr/>
        </p:nvSpPr>
        <p:spPr>
          <a:xfrm>
            <a:off x="9989591" y="2240280"/>
            <a:ext cx="1470584"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SECaaS</a:t>
            </a:r>
            <a:endParaRPr lang="en-US" sz="1700" dirty="0"/>
          </a:p>
        </p:txBody>
      </p:sp>
      <p:sp>
        <p:nvSpPr>
          <p:cNvPr id="25" name="Text 18"/>
          <p:cNvSpPr txBox="1"/>
          <p:nvPr/>
        </p:nvSpPr>
        <p:spPr>
          <a:xfrm>
            <a:off x="9303791" y="2926080"/>
            <a:ext cx="2110664" cy="310896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Seguridad como servicio. Ej.: antivirus o firewall administrado en la nube.</a:t>
            </a:r>
            <a:endParaRPr lang="en-US" sz="2000" dirty="0"/>
          </a:p>
        </p:txBody>
      </p:sp>
      <p:sp>
        <p:nvSpPr>
          <p:cNvPr id="26" name="Text 19"/>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42</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Ventajas de la computación en la nube</a:t>
            </a:r>
            <a:endParaRPr lang="en-US" sz="3200" dirty="0"/>
          </a:p>
        </p:txBody>
      </p:sp>
      <p:sp>
        <p:nvSpPr>
          <p:cNvPr id="5" name="Shape 2"/>
          <p:cNvSpPr/>
          <p:nvPr/>
        </p:nvSpPr>
        <p:spPr>
          <a:xfrm>
            <a:off x="548640" y="1417320"/>
            <a:ext cx="5364328" cy="4709160"/>
          </a:xfrm>
          <a:prstGeom prst="roundRect">
            <a:avLst>
              <a:gd name="adj" fmla="val 2330"/>
            </a:avLst>
          </a:prstGeom>
          <a:solidFill>
            <a:srgbClr val="D5EEF0"/>
          </a:solidFill>
          <a:ln w="12700">
            <a:solidFill>
              <a:srgbClr val="D5EEF0"/>
            </a:solidFill>
            <a:prstDash val="solid"/>
          </a:ln>
        </p:spPr>
      </p:sp>
      <p:sp>
        <p:nvSpPr>
          <p:cNvPr id="6" name="Shape 3"/>
          <p:cNvSpPr/>
          <p:nvPr/>
        </p:nvSpPr>
        <p:spPr>
          <a:xfrm>
            <a:off x="822960" y="1645920"/>
            <a:ext cx="640080" cy="64008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89381" y="1812341"/>
            <a:ext cx="307238" cy="307238"/>
          </a:xfrm>
          <a:prstGeom prst="rect">
            <a:avLst/>
          </a:prstGeom>
        </p:spPr>
      </p:pic>
      <p:sp>
        <p:nvSpPr>
          <p:cNvPr id="8" name="Text 4"/>
          <p:cNvSpPr txBox="1"/>
          <p:nvPr/>
        </p:nvSpPr>
        <p:spPr>
          <a:xfrm>
            <a:off x="1645920" y="1645920"/>
            <a:ext cx="4084168" cy="6400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Económicas</a:t>
            </a:r>
            <a:endParaRPr lang="en-US" sz="2200" dirty="0"/>
          </a:p>
        </p:txBody>
      </p:sp>
      <p:sp>
        <p:nvSpPr>
          <p:cNvPr id="9" name="Text 5"/>
          <p:cNvSpPr txBox="1"/>
          <p:nvPr/>
        </p:nvSpPr>
        <p:spPr>
          <a:xfrm>
            <a:off x="868680" y="2514600"/>
            <a:ext cx="4724248" cy="3474720"/>
          </a:xfrm>
          <a:prstGeom prst="rect">
            <a:avLst/>
          </a:prstGeom>
          <a:noFill/>
          <a:ln/>
        </p:spPr>
        <p:txBody>
          <a:bodyPr wrap="square" lIns="0" tIns="0" rIns="0" bIns="0" rtlCol="0" anchor="t"/>
          <a:lstStyle/>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Sin inversión inicial en equipos (de CAPEX a OPEX).</a:t>
            </a:r>
            <a:endParaRPr lang="en-US" sz="2100" dirty="0"/>
          </a:p>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Se paga solo lo que se usa.</a:t>
            </a:r>
            <a:endParaRPr lang="en-US" sz="2100" dirty="0"/>
          </a:p>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Sin costos de electricidad ni aire acondicionado.</a:t>
            </a:r>
            <a:endParaRPr lang="en-US" sz="2100" dirty="0"/>
          </a:p>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Ej.: una startup lanza su app con $50 al mes.</a:t>
            </a:r>
            <a:endParaRPr lang="en-US" sz="2100" dirty="0"/>
          </a:p>
        </p:txBody>
      </p:sp>
      <p:sp>
        <p:nvSpPr>
          <p:cNvPr id="10" name="Shape 6"/>
          <p:cNvSpPr/>
          <p:nvPr/>
        </p:nvSpPr>
        <p:spPr>
          <a:xfrm>
            <a:off x="6278728" y="1417320"/>
            <a:ext cx="5364328" cy="4709160"/>
          </a:xfrm>
          <a:prstGeom prst="roundRect">
            <a:avLst>
              <a:gd name="adj" fmla="val 2330"/>
            </a:avLst>
          </a:prstGeom>
          <a:solidFill>
            <a:srgbClr val="FDF1E7"/>
          </a:solidFill>
          <a:ln w="12700">
            <a:solidFill>
              <a:srgbClr val="FDF1E7"/>
            </a:solidFill>
            <a:prstDash val="solid"/>
          </a:ln>
        </p:spPr>
      </p:sp>
      <p:sp>
        <p:nvSpPr>
          <p:cNvPr id="11" name="Shape 7"/>
          <p:cNvSpPr/>
          <p:nvPr/>
        </p:nvSpPr>
        <p:spPr>
          <a:xfrm>
            <a:off x="6553048" y="1645920"/>
            <a:ext cx="640080" cy="640080"/>
          </a:xfrm>
          <a:prstGeom prst="ellipse">
            <a:avLst/>
          </a:prstGeom>
          <a:solidFill>
            <a:srgbClr val="F4A261"/>
          </a:solidFill>
          <a:ln w="12700">
            <a:solidFill>
              <a:srgbClr val="F4A261"/>
            </a:solidFill>
            <a:prstDash val="solid"/>
          </a:ln>
        </p:spPr>
      </p:sp>
      <p:pic>
        <p:nvPicPr>
          <p:cNvPr id="12" name="Image 2" descr="preencoded.png">    </p:cNvPr>
          <p:cNvPicPr>
            <a:picLocks noChangeAspect="1"/>
          </p:cNvPicPr>
          <p:nvPr/>
        </p:nvPicPr>
        <p:blipFill>
          <a:blip r:embed="rId3"/>
          <a:stretch>
            <a:fillRect/>
          </a:stretch>
        </p:blipFill>
        <p:spPr>
          <a:xfrm>
            <a:off x="6719468" y="1812341"/>
            <a:ext cx="307238" cy="307238"/>
          </a:xfrm>
          <a:prstGeom prst="rect">
            <a:avLst/>
          </a:prstGeom>
        </p:spPr>
      </p:pic>
      <p:sp>
        <p:nvSpPr>
          <p:cNvPr id="13" name="Text 8"/>
          <p:cNvSpPr txBox="1"/>
          <p:nvPr/>
        </p:nvSpPr>
        <p:spPr>
          <a:xfrm>
            <a:off x="7376008" y="1645920"/>
            <a:ext cx="4084168" cy="6400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Operativas</a:t>
            </a:r>
            <a:endParaRPr lang="en-US" sz="2200" dirty="0"/>
          </a:p>
        </p:txBody>
      </p:sp>
      <p:sp>
        <p:nvSpPr>
          <p:cNvPr id="14" name="Text 9"/>
          <p:cNvSpPr txBox="1"/>
          <p:nvPr/>
        </p:nvSpPr>
        <p:spPr>
          <a:xfrm>
            <a:off x="6598768" y="2514600"/>
            <a:ext cx="4724248" cy="3474720"/>
          </a:xfrm>
          <a:prstGeom prst="rect">
            <a:avLst/>
          </a:prstGeom>
          <a:noFill/>
          <a:ln/>
        </p:spPr>
        <p:txBody>
          <a:bodyPr wrap="square" lIns="0" tIns="0" rIns="0" bIns="0" rtlCol="0" anchor="t"/>
          <a:lstStyle/>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Acceso desde cualquier lugar y dispositivo.</a:t>
            </a:r>
            <a:endParaRPr lang="en-US" sz="2100" dirty="0"/>
          </a:p>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Escala en minutos.</a:t>
            </a:r>
            <a:endParaRPr lang="en-US" sz="2100" dirty="0"/>
          </a:p>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El proveedor actualiza y repara.</a:t>
            </a:r>
            <a:endParaRPr lang="en-US" sz="2100" dirty="0"/>
          </a:p>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Respaldo y alta disponibilidad.</a:t>
            </a:r>
            <a:endParaRPr lang="en-US" sz="2100" dirty="0"/>
          </a:p>
          <a:p>
            <a:pPr marL="228600" indent="-228600">
              <a:spcAft>
                <a:spcPts val="700"/>
              </a:spcAft>
              <a:buSzPct val="100000"/>
              <a:buChar char="•"/>
            </a:pPr>
            <a:r>
              <a:rPr lang="en-US" sz="2100" dirty="0">
                <a:solidFill>
                  <a:srgbClr val="1F2937"/>
                </a:solidFill>
                <a:latin typeface="Calibri" pitchFamily="34" charset="0"/>
                <a:ea typeface="Calibri" pitchFamily="34" charset="-122"/>
                <a:cs typeface="Calibri" pitchFamily="34" charset="-120"/>
              </a:rPr>
              <a:t>Ej.: teletrabajo durante la pandemia con Teams y Drive.</a:t>
            </a:r>
            <a:endParaRPr lang="en-US" sz="2100" dirty="0"/>
          </a:p>
        </p:txBody>
      </p:sp>
      <p:sp>
        <p:nvSpPr>
          <p:cNvPr id="15" name="Text 10"/>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43</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Seguridad en la nube: lo básico</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La seguridad busca proteger la tríada CID: Confidencialidad (solo accede quien debe), Integridad (los datos no se alteran) y Disponibilidad (el servicio funciona cuando se necesita).</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MFA: </a:t>
            </a:r>
            <a:pPr indent="0" marL="0">
              <a:buNone/>
            </a:pPr>
            <a:r>
              <a:rPr lang="en-US" sz="1950" dirty="0">
                <a:solidFill>
                  <a:srgbClr val="1F2937"/>
                </a:solidFill>
                <a:latin typeface="Calibri" pitchFamily="34" charset="0"/>
                <a:ea typeface="Calibri" pitchFamily="34" charset="-122"/>
                <a:cs typeface="Calibri" pitchFamily="34" charset="-120"/>
              </a:rPr>
              <a:t>verificación en dos pasos: contraseña + código del celular.</a:t>
            </a:r>
            <a:endParaRPr lang="en-US" sz="1950" dirty="0"/>
          </a:p>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Cifrado: </a:t>
            </a:r>
            <a:pPr indent="0" marL="0">
              <a:buNone/>
            </a:pPr>
            <a:r>
              <a:rPr lang="en-US" sz="1950" dirty="0">
                <a:solidFill>
                  <a:srgbClr val="1F2937"/>
                </a:solidFill>
                <a:latin typeface="Calibri" pitchFamily="34" charset="0"/>
                <a:ea typeface="Calibri" pitchFamily="34" charset="-122"/>
                <a:cs typeface="Calibri" pitchFamily="34" charset="-120"/>
              </a:rPr>
              <a:t>los datos se guardan y viajan codificados.</a:t>
            </a:r>
            <a:endParaRPr lang="en-US" sz="1950" dirty="0"/>
          </a:p>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Control de accesos: </a:t>
            </a:r>
            <a:pPr indent="0" marL="0">
              <a:buNone/>
            </a:pPr>
            <a:r>
              <a:rPr lang="en-US" sz="1950" dirty="0">
                <a:solidFill>
                  <a:srgbClr val="1F2937"/>
                </a:solidFill>
                <a:latin typeface="Calibri" pitchFamily="34" charset="0"/>
                <a:ea typeface="Calibri" pitchFamily="34" charset="-122"/>
                <a:cs typeface="Calibri" pitchFamily="34" charset="-120"/>
              </a:rPr>
              <a:t>cada persona solo ve lo que le corresponde.</a:t>
            </a:r>
            <a:endParaRPr lang="en-US" sz="1950" dirty="0"/>
          </a:p>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Respaldos: </a:t>
            </a:r>
            <a:pPr indent="0" marL="0">
              <a:buNone/>
            </a:pPr>
            <a:r>
              <a:rPr lang="en-US" sz="1950" dirty="0">
                <a:solidFill>
                  <a:srgbClr val="1F2937"/>
                </a:solidFill>
                <a:latin typeface="Calibri" pitchFamily="34" charset="0"/>
                <a:ea typeface="Calibri" pitchFamily="34" charset="-122"/>
                <a:cs typeface="Calibri" pitchFamily="34" charset="-120"/>
              </a:rPr>
              <a:t>copias en otro lugar por si algo falla.</a:t>
            </a:r>
            <a:endParaRPr lang="en-US" sz="1950" dirty="0"/>
          </a:p>
          <a:p>
            <a:pPr marL="228600" indent="-228600">
              <a:spcAft>
                <a:spcPts val="800"/>
              </a:spcAft>
              <a:buSzPct val="100000"/>
              <a:buChar char="•"/>
            </a:pPr>
            <a:r>
              <a:rPr lang="en-US" sz="1950" b="1" dirty="0">
                <a:solidFill>
                  <a:srgbClr val="0E7C86"/>
                </a:solidFill>
                <a:latin typeface="Calibri" pitchFamily="34" charset="0"/>
                <a:ea typeface="Calibri" pitchFamily="34" charset="-122"/>
                <a:cs typeface="Calibri" pitchFamily="34" charset="-120"/>
              </a:rPr>
              <a:t>Normas: </a:t>
            </a:r>
            <a:pPr indent="0" marL="0">
              <a:buNone/>
            </a:pPr>
            <a:r>
              <a:rPr lang="en-US" sz="1950" dirty="0">
                <a:solidFill>
                  <a:srgbClr val="1F2937"/>
                </a:solidFill>
                <a:latin typeface="Calibri" pitchFamily="34" charset="0"/>
                <a:ea typeface="Calibri" pitchFamily="34" charset="-122"/>
                <a:cs typeface="Calibri" pitchFamily="34" charset="-120"/>
              </a:rPr>
              <a:t>ISO 27001, ISO 27017 y la Ley 8968 de Costa Rica.</a:t>
            </a:r>
            <a:endParaRPr lang="en-US" sz="19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A un docente le roban la contraseña del correo con un mensaje falso (phishing). Si tenía MFA activado, el atacante no puede entrar porque no tiene su celular.</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44</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Casos de uso de la nube</a:t>
            </a:r>
            <a:endParaRPr lang="en-US" sz="3200" dirty="0"/>
          </a:p>
        </p:txBody>
      </p:sp>
      <p:sp>
        <p:nvSpPr>
          <p:cNvPr id="5" name="Shape 2"/>
          <p:cNvSpPr/>
          <p:nvPr/>
        </p:nvSpPr>
        <p:spPr>
          <a:xfrm>
            <a:off x="548640" y="1417320"/>
            <a:ext cx="3515258" cy="2240280"/>
          </a:xfrm>
          <a:prstGeom prst="roundRect">
            <a:avLst>
              <a:gd name="adj" fmla="val 4898"/>
            </a:avLst>
          </a:prstGeom>
          <a:solidFill>
            <a:srgbClr val="F1F7F9"/>
          </a:solidFill>
          <a:ln w="9525">
            <a:solidFill>
              <a:srgbClr val="DCE6EA"/>
            </a:solidFill>
            <a:prstDash val="solid"/>
          </a:ln>
        </p:spPr>
      </p:sp>
      <p:sp>
        <p:nvSpPr>
          <p:cNvPr id="6" name="Shape 3"/>
          <p:cNvSpPr/>
          <p:nvPr/>
        </p:nvSpPr>
        <p:spPr>
          <a:xfrm>
            <a:off x="777240" y="1645920"/>
            <a:ext cx="548640" cy="54864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19886" y="1788566"/>
            <a:ext cx="263347" cy="263347"/>
          </a:xfrm>
          <a:prstGeom prst="rect">
            <a:avLst/>
          </a:prstGeom>
        </p:spPr>
      </p:pic>
      <p:sp>
        <p:nvSpPr>
          <p:cNvPr id="8" name="Text 4"/>
          <p:cNvSpPr txBox="1"/>
          <p:nvPr/>
        </p:nvSpPr>
        <p:spPr>
          <a:xfrm>
            <a:off x="1463040"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Respaldo</a:t>
            </a:r>
            <a:endParaRPr lang="en-US" sz="1700" dirty="0"/>
          </a:p>
        </p:txBody>
      </p:sp>
      <p:sp>
        <p:nvSpPr>
          <p:cNvPr id="9" name="Text 5"/>
          <p:cNvSpPr txBox="1"/>
          <p:nvPr/>
        </p:nvSpPr>
        <p:spPr>
          <a:xfrm>
            <a:off x="777240"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Una clínica guarda cada noche una copia de sus expedientes en la nube.</a:t>
            </a:r>
            <a:endParaRPr lang="en-US" sz="1750" dirty="0"/>
          </a:p>
        </p:txBody>
      </p:sp>
      <p:sp>
        <p:nvSpPr>
          <p:cNvPr id="10" name="Shape 6"/>
          <p:cNvSpPr/>
          <p:nvPr/>
        </p:nvSpPr>
        <p:spPr>
          <a:xfrm>
            <a:off x="4338218" y="1417320"/>
            <a:ext cx="3515258" cy="2240280"/>
          </a:xfrm>
          <a:prstGeom prst="roundRect">
            <a:avLst>
              <a:gd name="adj" fmla="val 4898"/>
            </a:avLst>
          </a:prstGeom>
          <a:solidFill>
            <a:srgbClr val="F1F7F9"/>
          </a:solidFill>
          <a:ln w="9525">
            <a:solidFill>
              <a:srgbClr val="DCE6EA"/>
            </a:solidFill>
            <a:prstDash val="solid"/>
          </a:ln>
        </p:spPr>
      </p:sp>
      <p:sp>
        <p:nvSpPr>
          <p:cNvPr id="11" name="Shape 7"/>
          <p:cNvSpPr/>
          <p:nvPr/>
        </p:nvSpPr>
        <p:spPr>
          <a:xfrm>
            <a:off x="4566818" y="1645920"/>
            <a:ext cx="548640" cy="548640"/>
          </a:xfrm>
          <a:prstGeom prst="ellipse">
            <a:avLst/>
          </a:prstGeom>
          <a:solidFill>
            <a:srgbClr val="0E7C86"/>
          </a:solidFill>
          <a:ln w="12700">
            <a:solidFill>
              <a:srgbClr val="0E7C86"/>
            </a:solidFill>
            <a:prstDash val="solid"/>
          </a:ln>
        </p:spPr>
      </p:sp>
      <p:pic>
        <p:nvPicPr>
          <p:cNvPr id="12" name="Image 2" descr="preencoded.png">    </p:cNvPr>
          <p:cNvPicPr>
            <a:picLocks noChangeAspect="1"/>
          </p:cNvPicPr>
          <p:nvPr/>
        </p:nvPicPr>
        <p:blipFill>
          <a:blip r:embed="rId3"/>
          <a:stretch>
            <a:fillRect/>
          </a:stretch>
        </p:blipFill>
        <p:spPr>
          <a:xfrm>
            <a:off x="4709465" y="1788566"/>
            <a:ext cx="263347" cy="263347"/>
          </a:xfrm>
          <a:prstGeom prst="rect">
            <a:avLst/>
          </a:prstGeom>
        </p:spPr>
      </p:pic>
      <p:sp>
        <p:nvSpPr>
          <p:cNvPr id="13" name="Text 8"/>
          <p:cNvSpPr txBox="1"/>
          <p:nvPr/>
        </p:nvSpPr>
        <p:spPr>
          <a:xfrm>
            <a:off x="5252618"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Educación</a:t>
            </a:r>
            <a:endParaRPr lang="en-US" sz="1700" dirty="0"/>
          </a:p>
        </p:txBody>
      </p:sp>
      <p:sp>
        <p:nvSpPr>
          <p:cNvPr id="14" name="Text 9"/>
          <p:cNvSpPr txBox="1"/>
          <p:nvPr/>
        </p:nvSpPr>
        <p:spPr>
          <a:xfrm>
            <a:off x="4566818"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Classroom, Teams y Moodle para clases presenciales y virtuales.</a:t>
            </a:r>
            <a:endParaRPr lang="en-US" sz="1750" dirty="0"/>
          </a:p>
        </p:txBody>
      </p:sp>
      <p:sp>
        <p:nvSpPr>
          <p:cNvPr id="15" name="Shape 10"/>
          <p:cNvSpPr/>
          <p:nvPr/>
        </p:nvSpPr>
        <p:spPr>
          <a:xfrm>
            <a:off x="8127797" y="1417320"/>
            <a:ext cx="3515258" cy="2240280"/>
          </a:xfrm>
          <a:prstGeom prst="roundRect">
            <a:avLst>
              <a:gd name="adj" fmla="val 4898"/>
            </a:avLst>
          </a:prstGeom>
          <a:solidFill>
            <a:srgbClr val="F1F7F9"/>
          </a:solidFill>
          <a:ln w="9525">
            <a:solidFill>
              <a:srgbClr val="DCE6EA"/>
            </a:solidFill>
            <a:prstDash val="solid"/>
          </a:ln>
        </p:spPr>
      </p:sp>
      <p:sp>
        <p:nvSpPr>
          <p:cNvPr id="16" name="Shape 11"/>
          <p:cNvSpPr/>
          <p:nvPr/>
        </p:nvSpPr>
        <p:spPr>
          <a:xfrm>
            <a:off x="8356397" y="1645920"/>
            <a:ext cx="548640" cy="548640"/>
          </a:xfrm>
          <a:prstGeom prst="ellipse">
            <a:avLst/>
          </a:prstGeom>
          <a:solidFill>
            <a:srgbClr val="0E7C86"/>
          </a:solidFill>
          <a:ln w="12700">
            <a:solidFill>
              <a:srgbClr val="0E7C86"/>
            </a:solidFill>
            <a:prstDash val="solid"/>
          </a:ln>
        </p:spPr>
      </p:sp>
      <p:pic>
        <p:nvPicPr>
          <p:cNvPr id="17" name="Image 3" descr="preencoded.png">    </p:cNvPr>
          <p:cNvPicPr>
            <a:picLocks noChangeAspect="1"/>
          </p:cNvPicPr>
          <p:nvPr/>
        </p:nvPicPr>
        <p:blipFill>
          <a:blip r:embed="rId4"/>
          <a:stretch>
            <a:fillRect/>
          </a:stretch>
        </p:blipFill>
        <p:spPr>
          <a:xfrm>
            <a:off x="8499043" y="1788566"/>
            <a:ext cx="263347" cy="263347"/>
          </a:xfrm>
          <a:prstGeom prst="rect">
            <a:avLst/>
          </a:prstGeom>
        </p:spPr>
      </p:pic>
      <p:sp>
        <p:nvSpPr>
          <p:cNvPr id="18" name="Text 12"/>
          <p:cNvSpPr txBox="1"/>
          <p:nvPr/>
        </p:nvSpPr>
        <p:spPr>
          <a:xfrm>
            <a:off x="9042197"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Streaming</a:t>
            </a:r>
            <a:endParaRPr lang="en-US" sz="1700" dirty="0"/>
          </a:p>
        </p:txBody>
      </p:sp>
      <p:sp>
        <p:nvSpPr>
          <p:cNvPr id="19" name="Text 13"/>
          <p:cNvSpPr txBox="1"/>
          <p:nvPr/>
        </p:nvSpPr>
        <p:spPr>
          <a:xfrm>
            <a:off x="8356397" y="23317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Netflix corre sobre AWS; Spotify sobre Google Cloud.</a:t>
            </a:r>
            <a:endParaRPr lang="en-US" sz="1750" dirty="0"/>
          </a:p>
        </p:txBody>
      </p:sp>
      <p:sp>
        <p:nvSpPr>
          <p:cNvPr id="20" name="Shape 14"/>
          <p:cNvSpPr/>
          <p:nvPr/>
        </p:nvSpPr>
        <p:spPr>
          <a:xfrm>
            <a:off x="548640" y="3931920"/>
            <a:ext cx="3515258" cy="2240280"/>
          </a:xfrm>
          <a:prstGeom prst="roundRect">
            <a:avLst>
              <a:gd name="adj" fmla="val 4898"/>
            </a:avLst>
          </a:prstGeom>
          <a:solidFill>
            <a:srgbClr val="F1F7F9"/>
          </a:solidFill>
          <a:ln w="9525">
            <a:solidFill>
              <a:srgbClr val="DCE6EA"/>
            </a:solidFill>
            <a:prstDash val="solid"/>
          </a:ln>
        </p:spPr>
      </p:sp>
      <p:sp>
        <p:nvSpPr>
          <p:cNvPr id="21" name="Shape 15"/>
          <p:cNvSpPr/>
          <p:nvPr/>
        </p:nvSpPr>
        <p:spPr>
          <a:xfrm>
            <a:off x="777240" y="4160520"/>
            <a:ext cx="548640" cy="548640"/>
          </a:xfrm>
          <a:prstGeom prst="ellipse">
            <a:avLst/>
          </a:prstGeom>
          <a:solidFill>
            <a:srgbClr val="0E7C86"/>
          </a:solidFill>
          <a:ln w="12700">
            <a:solidFill>
              <a:srgbClr val="0E7C86"/>
            </a:solidFill>
            <a:prstDash val="solid"/>
          </a:ln>
        </p:spPr>
      </p:sp>
      <p:pic>
        <p:nvPicPr>
          <p:cNvPr id="22" name="Image 4" descr="preencoded.png">    </p:cNvPr>
          <p:cNvPicPr>
            <a:picLocks noChangeAspect="1"/>
          </p:cNvPicPr>
          <p:nvPr/>
        </p:nvPicPr>
        <p:blipFill>
          <a:blip r:embed="rId5"/>
          <a:stretch>
            <a:fillRect/>
          </a:stretch>
        </p:blipFill>
        <p:spPr>
          <a:xfrm>
            <a:off x="919886" y="4303166"/>
            <a:ext cx="263347" cy="263347"/>
          </a:xfrm>
          <a:prstGeom prst="rect">
            <a:avLst/>
          </a:prstGeom>
        </p:spPr>
      </p:pic>
      <p:sp>
        <p:nvSpPr>
          <p:cNvPr id="23" name="Text 16"/>
          <p:cNvSpPr txBox="1"/>
          <p:nvPr/>
        </p:nvSpPr>
        <p:spPr>
          <a:xfrm>
            <a:off x="1463040"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Comercio</a:t>
            </a:r>
            <a:endParaRPr lang="en-US" sz="1700" dirty="0"/>
          </a:p>
        </p:txBody>
      </p:sp>
      <p:sp>
        <p:nvSpPr>
          <p:cNvPr id="24" name="Text 17"/>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Una tienda duplica servidores en Black Friday y luego los apaga.</a:t>
            </a:r>
            <a:endParaRPr lang="en-US" sz="1750" dirty="0"/>
          </a:p>
        </p:txBody>
      </p:sp>
      <p:sp>
        <p:nvSpPr>
          <p:cNvPr id="25" name="Shape 18"/>
          <p:cNvSpPr/>
          <p:nvPr/>
        </p:nvSpPr>
        <p:spPr>
          <a:xfrm>
            <a:off x="4338218" y="3931920"/>
            <a:ext cx="3515258" cy="2240280"/>
          </a:xfrm>
          <a:prstGeom prst="roundRect">
            <a:avLst>
              <a:gd name="adj" fmla="val 4898"/>
            </a:avLst>
          </a:prstGeom>
          <a:solidFill>
            <a:srgbClr val="F1F7F9"/>
          </a:solidFill>
          <a:ln w="9525">
            <a:solidFill>
              <a:srgbClr val="DCE6EA"/>
            </a:solidFill>
            <a:prstDash val="solid"/>
          </a:ln>
        </p:spPr>
      </p:sp>
      <p:sp>
        <p:nvSpPr>
          <p:cNvPr id="26" name="Shape 19"/>
          <p:cNvSpPr/>
          <p:nvPr/>
        </p:nvSpPr>
        <p:spPr>
          <a:xfrm>
            <a:off x="4566818" y="4160520"/>
            <a:ext cx="548640" cy="548640"/>
          </a:xfrm>
          <a:prstGeom prst="ellipse">
            <a:avLst/>
          </a:prstGeom>
          <a:solidFill>
            <a:srgbClr val="0E7C86"/>
          </a:solidFill>
          <a:ln w="12700">
            <a:solidFill>
              <a:srgbClr val="0E7C86"/>
            </a:solidFill>
            <a:prstDash val="solid"/>
          </a:ln>
        </p:spPr>
      </p:sp>
      <p:pic>
        <p:nvPicPr>
          <p:cNvPr id="27" name="Image 5" descr="preencoded.png">    </p:cNvPr>
          <p:cNvPicPr>
            <a:picLocks noChangeAspect="1"/>
          </p:cNvPicPr>
          <p:nvPr/>
        </p:nvPicPr>
        <p:blipFill>
          <a:blip r:embed="rId6"/>
          <a:stretch>
            <a:fillRect/>
          </a:stretch>
        </p:blipFill>
        <p:spPr>
          <a:xfrm>
            <a:off x="4709465" y="4303166"/>
            <a:ext cx="263347" cy="263347"/>
          </a:xfrm>
          <a:prstGeom prst="rect">
            <a:avLst/>
          </a:prstGeom>
        </p:spPr>
      </p:pic>
      <p:sp>
        <p:nvSpPr>
          <p:cNvPr id="28" name="Text 20"/>
          <p:cNvSpPr txBox="1"/>
          <p:nvPr/>
        </p:nvSpPr>
        <p:spPr>
          <a:xfrm>
            <a:off x="5252618"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Big Data e IA</a:t>
            </a:r>
            <a:endParaRPr lang="en-US" sz="1700" dirty="0"/>
          </a:p>
        </p:txBody>
      </p:sp>
      <p:sp>
        <p:nvSpPr>
          <p:cNvPr id="29" name="Text 21"/>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Analizar millones de datos o entrenar modelos de IA sin comprar supercomputadoras.</a:t>
            </a:r>
            <a:endParaRPr lang="en-US" sz="1750" dirty="0"/>
          </a:p>
        </p:txBody>
      </p:sp>
      <p:sp>
        <p:nvSpPr>
          <p:cNvPr id="30" name="Shape 22"/>
          <p:cNvSpPr/>
          <p:nvPr/>
        </p:nvSpPr>
        <p:spPr>
          <a:xfrm>
            <a:off x="8127797" y="3931920"/>
            <a:ext cx="3515258" cy="2240280"/>
          </a:xfrm>
          <a:prstGeom prst="roundRect">
            <a:avLst>
              <a:gd name="adj" fmla="val 4898"/>
            </a:avLst>
          </a:prstGeom>
          <a:solidFill>
            <a:srgbClr val="F1F7F9"/>
          </a:solidFill>
          <a:ln w="9525">
            <a:solidFill>
              <a:srgbClr val="DCE6EA"/>
            </a:solidFill>
            <a:prstDash val="solid"/>
          </a:ln>
        </p:spPr>
      </p:sp>
      <p:sp>
        <p:nvSpPr>
          <p:cNvPr id="31" name="Shape 23"/>
          <p:cNvSpPr/>
          <p:nvPr/>
        </p:nvSpPr>
        <p:spPr>
          <a:xfrm>
            <a:off x="8356397" y="4160520"/>
            <a:ext cx="548640" cy="548640"/>
          </a:xfrm>
          <a:prstGeom prst="ellipse">
            <a:avLst/>
          </a:prstGeom>
          <a:solidFill>
            <a:srgbClr val="0E7C86"/>
          </a:solidFill>
          <a:ln w="12700">
            <a:solidFill>
              <a:srgbClr val="0E7C86"/>
            </a:solidFill>
            <a:prstDash val="solid"/>
          </a:ln>
        </p:spPr>
      </p:sp>
      <p:pic>
        <p:nvPicPr>
          <p:cNvPr id="32" name="Image 6" descr="preencoded.png">    </p:cNvPr>
          <p:cNvPicPr>
            <a:picLocks noChangeAspect="1"/>
          </p:cNvPicPr>
          <p:nvPr/>
        </p:nvPicPr>
        <p:blipFill>
          <a:blip r:embed="rId7"/>
          <a:stretch>
            <a:fillRect/>
          </a:stretch>
        </p:blipFill>
        <p:spPr>
          <a:xfrm>
            <a:off x="8499043" y="4303166"/>
            <a:ext cx="263347" cy="263347"/>
          </a:xfrm>
          <a:prstGeom prst="rect">
            <a:avLst/>
          </a:prstGeom>
        </p:spPr>
      </p:pic>
      <p:sp>
        <p:nvSpPr>
          <p:cNvPr id="33" name="Text 24"/>
          <p:cNvSpPr txBox="1"/>
          <p:nvPr/>
        </p:nvSpPr>
        <p:spPr>
          <a:xfrm>
            <a:off x="9042197"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Recuperación</a:t>
            </a:r>
            <a:endParaRPr lang="en-US" sz="1700" dirty="0"/>
          </a:p>
        </p:txBody>
      </p:sp>
      <p:sp>
        <p:nvSpPr>
          <p:cNvPr id="34" name="Text 25"/>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1750" dirty="0">
                <a:solidFill>
                  <a:srgbClr val="1F2937"/>
                </a:solidFill>
                <a:latin typeface="Calibri" pitchFamily="34" charset="0"/>
                <a:ea typeface="Calibri" pitchFamily="34" charset="-122"/>
                <a:cs typeface="Calibri" pitchFamily="34" charset="-120"/>
              </a:rPr>
              <a:t>Réplica de sistemas en otra región por si hay un terremoto.</a:t>
            </a:r>
            <a:endParaRPr lang="en-US" sz="1750" dirty="0"/>
          </a:p>
        </p:txBody>
      </p:sp>
      <p:sp>
        <p:nvSpPr>
          <p:cNvPr id="35" name="Text 26"/>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45</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t"/>
          <a:lstStyle/>
          <a:p>
            <a:pPr indent="0" marL="0">
              <a:buNone/>
            </a:pPr>
            <a:r>
              <a:rPr lang="en-US" sz="9600" b="1" dirty="0">
                <a:solidFill>
                  <a:srgbClr val="F4A261"/>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834640"/>
            <a:ext cx="7680960" cy="1371600"/>
          </a:xfrm>
          <a:prstGeom prst="rect">
            <a:avLst/>
          </a:prstGeom>
          <a:noFill/>
          <a:ln/>
        </p:spPr>
        <p:txBody>
          <a:bodyPr wrap="square" lIns="0" tIns="0" rIns="0" bIns="0"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Componentes y modelos de despliegue</a:t>
            </a:r>
            <a:endParaRPr lang="en-US" sz="3600" dirty="0"/>
          </a:p>
        </p:txBody>
      </p:sp>
      <p:sp>
        <p:nvSpPr>
          <p:cNvPr id="4" name="Text 2"/>
          <p:cNvSpPr txBox="1"/>
          <p:nvPr/>
        </p:nvSpPr>
        <p:spPr>
          <a:xfrm>
            <a:off x="548640" y="4389120"/>
            <a:ext cx="7315200" cy="914400"/>
          </a:xfrm>
          <a:prstGeom prst="rect">
            <a:avLst/>
          </a:prstGeom>
          <a:noFill/>
          <a:ln/>
        </p:spPr>
        <p:txBody>
          <a:bodyPr wrap="square" lIns="0" tIns="0" rIns="0" bIns="0" rtlCol="0" anchor="t"/>
          <a:lstStyle/>
          <a:p>
            <a:pPr indent="0" marL="0">
              <a:buNone/>
            </a:pPr>
            <a:r>
              <a:rPr lang="en-US" sz="1800" dirty="0">
                <a:solidFill>
                  <a:srgbClr val="CFE3F0"/>
                </a:solidFill>
                <a:latin typeface="Calibri" pitchFamily="34" charset="0"/>
                <a:ea typeface="Calibri" pitchFamily="34" charset="-122"/>
                <a:cs typeface="Calibri" pitchFamily="34" charset="-120"/>
              </a:rPr>
              <a:t>Qué piezas forman la nube y cómo se implementa.</a:t>
            </a:r>
            <a:endParaRPr lang="en-US" sz="1800" dirty="0"/>
          </a:p>
        </p:txBody>
      </p:sp>
      <p:sp>
        <p:nvSpPr>
          <p:cNvPr id="5" name="Shape 3"/>
          <p:cNvSpPr/>
          <p:nvPr/>
        </p:nvSpPr>
        <p:spPr>
          <a:xfrm>
            <a:off x="8503920" y="1737360"/>
            <a:ext cx="3017520" cy="301752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9326880" y="2560320"/>
            <a:ext cx="1371600" cy="1371600"/>
          </a:xfrm>
          <a:prstGeom prst="rect">
            <a:avLst/>
          </a:prstGeom>
        </p:spPr>
      </p:pic>
      <p:sp>
        <p:nvSpPr>
          <p:cNvPr id="7" name="Text 4"/>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9FB3C8"/>
                </a:solidFill>
                <a:latin typeface="Calibri" pitchFamily="34" charset="0"/>
                <a:ea typeface="Calibri" pitchFamily="34" charset="-122"/>
                <a:cs typeface="Calibri" pitchFamily="34" charset="-120"/>
              </a:rPr>
              <a:t>RA1 · Nube y virtualización  ·  46</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Componentes computacionales en la nube</a:t>
            </a:r>
            <a:endParaRPr lang="en-US" sz="3200" dirty="0"/>
          </a:p>
        </p:txBody>
      </p:sp>
      <p:sp>
        <p:nvSpPr>
          <p:cNvPr id="5" name="Text 2"/>
          <p:cNvSpPr txBox="1"/>
          <p:nvPr/>
        </p:nvSpPr>
        <p:spPr>
          <a:xfrm>
            <a:off x="548640" y="1325880"/>
            <a:ext cx="11094415" cy="59436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El usuario entra por el front-end (navegador, app); el proveedor opera el back-end (data centers + hipervisor).</a:t>
            </a:r>
            <a:endParaRPr lang="en-US" sz="1600" dirty="0"/>
          </a:p>
        </p:txBody>
      </p:sp>
      <p:sp>
        <p:nvSpPr>
          <p:cNvPr id="6" name="Shape 3"/>
          <p:cNvSpPr/>
          <p:nvPr/>
        </p:nvSpPr>
        <p:spPr>
          <a:xfrm>
            <a:off x="548640" y="2011680"/>
            <a:ext cx="3515258" cy="1943100"/>
          </a:xfrm>
          <a:prstGeom prst="roundRect">
            <a:avLst>
              <a:gd name="adj" fmla="val 5647"/>
            </a:avLst>
          </a:prstGeom>
          <a:solidFill>
            <a:srgbClr val="F1F7F9"/>
          </a:solidFill>
          <a:ln w="9525">
            <a:solidFill>
              <a:srgbClr val="DCE6EA"/>
            </a:solidFill>
            <a:prstDash val="solid"/>
          </a:ln>
        </p:spPr>
      </p:sp>
      <p:sp>
        <p:nvSpPr>
          <p:cNvPr id="7" name="Shape 4"/>
          <p:cNvSpPr/>
          <p:nvPr/>
        </p:nvSpPr>
        <p:spPr>
          <a:xfrm>
            <a:off x="777240" y="2240280"/>
            <a:ext cx="548640" cy="548640"/>
          </a:xfrm>
          <a:prstGeom prst="ellipse">
            <a:avLst/>
          </a:prstGeom>
          <a:solidFill>
            <a:srgbClr val="0E7C86"/>
          </a:solidFill>
          <a:ln w="12700">
            <a:solidFill>
              <a:srgbClr val="0E7C86"/>
            </a:solidFill>
            <a:prstDash val="solid"/>
          </a:ln>
        </p:spPr>
      </p:sp>
      <p:pic>
        <p:nvPicPr>
          <p:cNvPr id="8" name="Image 1" descr="preencoded.png">    </p:cNvPr>
          <p:cNvPicPr>
            <a:picLocks noChangeAspect="1"/>
          </p:cNvPicPr>
          <p:nvPr/>
        </p:nvPicPr>
        <p:blipFill>
          <a:blip r:embed="rId2"/>
          <a:stretch>
            <a:fillRect/>
          </a:stretch>
        </p:blipFill>
        <p:spPr>
          <a:xfrm>
            <a:off x="919886" y="2382926"/>
            <a:ext cx="263347" cy="263347"/>
          </a:xfrm>
          <a:prstGeom prst="rect">
            <a:avLst/>
          </a:prstGeom>
        </p:spPr>
      </p:pic>
      <p:sp>
        <p:nvSpPr>
          <p:cNvPr id="9" name="Text 5"/>
          <p:cNvSpPr txBox="1"/>
          <p:nvPr/>
        </p:nvSpPr>
        <p:spPr>
          <a:xfrm>
            <a:off x="1463040" y="224028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Cómputo</a:t>
            </a:r>
            <a:endParaRPr lang="en-US" sz="1700" dirty="0"/>
          </a:p>
        </p:txBody>
      </p:sp>
      <p:sp>
        <p:nvSpPr>
          <p:cNvPr id="10" name="Text 6"/>
          <p:cNvSpPr txBox="1"/>
          <p:nvPr/>
        </p:nvSpPr>
        <p:spPr>
          <a:xfrm>
            <a:off x="777240" y="2926080"/>
            <a:ext cx="3058058" cy="891540"/>
          </a:xfrm>
          <a:prstGeom prst="rect">
            <a:avLst/>
          </a:prstGeom>
          <a:noFill/>
          <a:ln/>
        </p:spPr>
        <p:txBody>
          <a:bodyPr wrap="square" lIns="0" tIns="0" rIns="0" bIns="0" rtlCol="0" anchor="t"/>
          <a:lstStyle/>
          <a:p>
            <a:pPr indent="0" marL="0">
              <a:buNone/>
            </a:pPr>
            <a:r>
              <a:rPr lang="en-US" sz="1650" dirty="0">
                <a:solidFill>
                  <a:srgbClr val="1F2937"/>
                </a:solidFill>
                <a:latin typeface="Calibri" pitchFamily="34" charset="0"/>
                <a:ea typeface="Calibri" pitchFamily="34" charset="-122"/>
                <a:cs typeface="Calibri" pitchFamily="34" charset="-120"/>
              </a:rPr>
              <a:t>Procesamiento: VM, contenedores y funciones. Ej.: el servidor de la web.</a:t>
            </a:r>
            <a:endParaRPr lang="en-US" sz="1650" dirty="0"/>
          </a:p>
        </p:txBody>
      </p:sp>
      <p:sp>
        <p:nvSpPr>
          <p:cNvPr id="11" name="Shape 7"/>
          <p:cNvSpPr/>
          <p:nvPr/>
        </p:nvSpPr>
        <p:spPr>
          <a:xfrm>
            <a:off x="4338218" y="2011680"/>
            <a:ext cx="3515258" cy="1943100"/>
          </a:xfrm>
          <a:prstGeom prst="roundRect">
            <a:avLst>
              <a:gd name="adj" fmla="val 5647"/>
            </a:avLst>
          </a:prstGeom>
          <a:solidFill>
            <a:srgbClr val="F1F7F9"/>
          </a:solidFill>
          <a:ln w="9525">
            <a:solidFill>
              <a:srgbClr val="DCE6EA"/>
            </a:solidFill>
            <a:prstDash val="solid"/>
          </a:ln>
        </p:spPr>
      </p:sp>
      <p:sp>
        <p:nvSpPr>
          <p:cNvPr id="12" name="Shape 8"/>
          <p:cNvSpPr/>
          <p:nvPr/>
        </p:nvSpPr>
        <p:spPr>
          <a:xfrm>
            <a:off x="4566818" y="2240280"/>
            <a:ext cx="548640" cy="548640"/>
          </a:xfrm>
          <a:prstGeom prst="ellipse">
            <a:avLst/>
          </a:prstGeom>
          <a:solidFill>
            <a:srgbClr val="0E7C86"/>
          </a:solidFill>
          <a:ln w="12700">
            <a:solidFill>
              <a:srgbClr val="0E7C86"/>
            </a:solidFill>
            <a:prstDash val="solid"/>
          </a:ln>
        </p:spPr>
      </p:sp>
      <p:pic>
        <p:nvPicPr>
          <p:cNvPr id="13" name="Image 2" descr="preencoded.png">    </p:cNvPr>
          <p:cNvPicPr>
            <a:picLocks noChangeAspect="1"/>
          </p:cNvPicPr>
          <p:nvPr/>
        </p:nvPicPr>
        <p:blipFill>
          <a:blip r:embed="rId3"/>
          <a:stretch>
            <a:fillRect/>
          </a:stretch>
        </p:blipFill>
        <p:spPr>
          <a:xfrm>
            <a:off x="4709465" y="2382926"/>
            <a:ext cx="263347" cy="263347"/>
          </a:xfrm>
          <a:prstGeom prst="rect">
            <a:avLst/>
          </a:prstGeom>
        </p:spPr>
      </p:pic>
      <p:sp>
        <p:nvSpPr>
          <p:cNvPr id="14" name="Text 9"/>
          <p:cNvSpPr txBox="1"/>
          <p:nvPr/>
        </p:nvSpPr>
        <p:spPr>
          <a:xfrm>
            <a:off x="5252618" y="224028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Almacenamiento</a:t>
            </a:r>
            <a:endParaRPr lang="en-US" sz="1700" dirty="0"/>
          </a:p>
        </p:txBody>
      </p:sp>
      <p:sp>
        <p:nvSpPr>
          <p:cNvPr id="15" name="Text 10"/>
          <p:cNvSpPr txBox="1"/>
          <p:nvPr/>
        </p:nvSpPr>
        <p:spPr>
          <a:xfrm>
            <a:off x="4566818" y="2926080"/>
            <a:ext cx="3058058" cy="891540"/>
          </a:xfrm>
          <a:prstGeom prst="rect">
            <a:avLst/>
          </a:prstGeom>
          <a:noFill/>
          <a:ln/>
        </p:spPr>
        <p:txBody>
          <a:bodyPr wrap="square" lIns="0" tIns="0" rIns="0" bIns="0" rtlCol="0" anchor="t"/>
          <a:lstStyle/>
          <a:p>
            <a:pPr indent="0" marL="0">
              <a:buNone/>
            </a:pPr>
            <a:r>
              <a:rPr lang="en-US" sz="1650" dirty="0">
                <a:solidFill>
                  <a:srgbClr val="1F2937"/>
                </a:solidFill>
                <a:latin typeface="Calibri" pitchFamily="34" charset="0"/>
                <a:ea typeface="Calibri" pitchFamily="34" charset="-122"/>
                <a:cs typeface="Calibri" pitchFamily="34" charset="-120"/>
              </a:rPr>
              <a:t>Discos, archivos y objetos (buckets). Ej.: las fotos de Drive.</a:t>
            </a:r>
            <a:endParaRPr lang="en-US" sz="1650" dirty="0"/>
          </a:p>
        </p:txBody>
      </p:sp>
      <p:sp>
        <p:nvSpPr>
          <p:cNvPr id="16" name="Shape 11"/>
          <p:cNvSpPr/>
          <p:nvPr/>
        </p:nvSpPr>
        <p:spPr>
          <a:xfrm>
            <a:off x="8127797" y="2011680"/>
            <a:ext cx="3515258" cy="1943100"/>
          </a:xfrm>
          <a:prstGeom prst="roundRect">
            <a:avLst>
              <a:gd name="adj" fmla="val 5647"/>
            </a:avLst>
          </a:prstGeom>
          <a:solidFill>
            <a:srgbClr val="F1F7F9"/>
          </a:solidFill>
          <a:ln w="9525">
            <a:solidFill>
              <a:srgbClr val="DCE6EA"/>
            </a:solidFill>
            <a:prstDash val="solid"/>
          </a:ln>
        </p:spPr>
      </p:sp>
      <p:sp>
        <p:nvSpPr>
          <p:cNvPr id="17" name="Shape 12"/>
          <p:cNvSpPr/>
          <p:nvPr/>
        </p:nvSpPr>
        <p:spPr>
          <a:xfrm>
            <a:off x="8356397" y="2240280"/>
            <a:ext cx="548640" cy="548640"/>
          </a:xfrm>
          <a:prstGeom prst="ellipse">
            <a:avLst/>
          </a:prstGeom>
          <a:solidFill>
            <a:srgbClr val="0E7C86"/>
          </a:solidFill>
          <a:ln w="12700">
            <a:solidFill>
              <a:srgbClr val="0E7C86"/>
            </a:solidFill>
            <a:prstDash val="solid"/>
          </a:ln>
        </p:spPr>
      </p:sp>
      <p:pic>
        <p:nvPicPr>
          <p:cNvPr id="18" name="Image 3" descr="preencoded.png">    </p:cNvPr>
          <p:cNvPicPr>
            <a:picLocks noChangeAspect="1"/>
          </p:cNvPicPr>
          <p:nvPr/>
        </p:nvPicPr>
        <p:blipFill>
          <a:blip r:embed="rId4"/>
          <a:stretch>
            <a:fillRect/>
          </a:stretch>
        </p:blipFill>
        <p:spPr>
          <a:xfrm>
            <a:off x="8499043" y="2382926"/>
            <a:ext cx="263347" cy="263347"/>
          </a:xfrm>
          <a:prstGeom prst="rect">
            <a:avLst/>
          </a:prstGeom>
        </p:spPr>
      </p:pic>
      <p:sp>
        <p:nvSpPr>
          <p:cNvPr id="19" name="Text 13"/>
          <p:cNvSpPr txBox="1"/>
          <p:nvPr/>
        </p:nvSpPr>
        <p:spPr>
          <a:xfrm>
            <a:off x="9042197" y="224028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Redes</a:t>
            </a:r>
            <a:endParaRPr lang="en-US" sz="1700" dirty="0"/>
          </a:p>
        </p:txBody>
      </p:sp>
      <p:sp>
        <p:nvSpPr>
          <p:cNvPr id="20" name="Text 14"/>
          <p:cNvSpPr txBox="1"/>
          <p:nvPr/>
        </p:nvSpPr>
        <p:spPr>
          <a:xfrm>
            <a:off x="8356397" y="2926080"/>
            <a:ext cx="3058058" cy="891540"/>
          </a:xfrm>
          <a:prstGeom prst="rect">
            <a:avLst/>
          </a:prstGeom>
          <a:noFill/>
          <a:ln/>
        </p:spPr>
        <p:txBody>
          <a:bodyPr wrap="square" lIns="0" tIns="0" rIns="0" bIns="0" rtlCol="0" anchor="t"/>
          <a:lstStyle/>
          <a:p>
            <a:pPr indent="0" marL="0">
              <a:buNone/>
            </a:pPr>
            <a:r>
              <a:rPr lang="en-US" sz="1650" dirty="0">
                <a:solidFill>
                  <a:srgbClr val="1F2937"/>
                </a:solidFill>
                <a:latin typeface="Calibri" pitchFamily="34" charset="0"/>
                <a:ea typeface="Calibri" pitchFamily="34" charset="-122"/>
                <a:cs typeface="Calibri" pitchFamily="34" charset="-120"/>
              </a:rPr>
              <a:t>Redes virtuales, balanceadores, DNS. Ej.: que www llegue al servidor correcto.</a:t>
            </a:r>
            <a:endParaRPr lang="en-US" sz="1650" dirty="0"/>
          </a:p>
        </p:txBody>
      </p:sp>
      <p:sp>
        <p:nvSpPr>
          <p:cNvPr id="21" name="Shape 15"/>
          <p:cNvSpPr/>
          <p:nvPr/>
        </p:nvSpPr>
        <p:spPr>
          <a:xfrm>
            <a:off x="548640" y="4229100"/>
            <a:ext cx="3515258" cy="1943100"/>
          </a:xfrm>
          <a:prstGeom prst="roundRect">
            <a:avLst>
              <a:gd name="adj" fmla="val 5647"/>
            </a:avLst>
          </a:prstGeom>
          <a:solidFill>
            <a:srgbClr val="F1F7F9"/>
          </a:solidFill>
          <a:ln w="9525">
            <a:solidFill>
              <a:srgbClr val="DCE6EA"/>
            </a:solidFill>
            <a:prstDash val="solid"/>
          </a:ln>
        </p:spPr>
      </p:sp>
      <p:sp>
        <p:nvSpPr>
          <p:cNvPr id="22" name="Shape 16"/>
          <p:cNvSpPr/>
          <p:nvPr/>
        </p:nvSpPr>
        <p:spPr>
          <a:xfrm>
            <a:off x="777240" y="4457700"/>
            <a:ext cx="548640" cy="548640"/>
          </a:xfrm>
          <a:prstGeom prst="ellipse">
            <a:avLst/>
          </a:prstGeom>
          <a:solidFill>
            <a:srgbClr val="0E7C86"/>
          </a:solidFill>
          <a:ln w="12700">
            <a:solidFill>
              <a:srgbClr val="0E7C86"/>
            </a:solidFill>
            <a:prstDash val="solid"/>
          </a:ln>
        </p:spPr>
      </p:sp>
      <p:pic>
        <p:nvPicPr>
          <p:cNvPr id="23" name="Image 4" descr="preencoded.png">    </p:cNvPr>
          <p:cNvPicPr>
            <a:picLocks noChangeAspect="1"/>
          </p:cNvPicPr>
          <p:nvPr/>
        </p:nvPicPr>
        <p:blipFill>
          <a:blip r:embed="rId5"/>
          <a:stretch>
            <a:fillRect/>
          </a:stretch>
        </p:blipFill>
        <p:spPr>
          <a:xfrm>
            <a:off x="919886" y="4600346"/>
            <a:ext cx="263347" cy="263347"/>
          </a:xfrm>
          <a:prstGeom prst="rect">
            <a:avLst/>
          </a:prstGeom>
        </p:spPr>
      </p:pic>
      <p:sp>
        <p:nvSpPr>
          <p:cNvPr id="24" name="Text 17"/>
          <p:cNvSpPr txBox="1"/>
          <p:nvPr/>
        </p:nvSpPr>
        <p:spPr>
          <a:xfrm>
            <a:off x="1463040" y="445770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Bases de datos</a:t>
            </a:r>
            <a:endParaRPr lang="en-US" sz="1700" dirty="0"/>
          </a:p>
        </p:txBody>
      </p:sp>
      <p:sp>
        <p:nvSpPr>
          <p:cNvPr id="25" name="Text 18"/>
          <p:cNvSpPr txBox="1"/>
          <p:nvPr/>
        </p:nvSpPr>
        <p:spPr>
          <a:xfrm>
            <a:off x="777240" y="5143500"/>
            <a:ext cx="3058058" cy="891540"/>
          </a:xfrm>
          <a:prstGeom prst="rect">
            <a:avLst/>
          </a:prstGeom>
          <a:noFill/>
          <a:ln/>
        </p:spPr>
        <p:txBody>
          <a:bodyPr wrap="square" lIns="0" tIns="0" rIns="0" bIns="0" rtlCol="0" anchor="t"/>
          <a:lstStyle/>
          <a:p>
            <a:pPr indent="0" marL="0">
              <a:buNone/>
            </a:pPr>
            <a:r>
              <a:rPr lang="en-US" sz="1650" dirty="0">
                <a:solidFill>
                  <a:srgbClr val="1F2937"/>
                </a:solidFill>
                <a:latin typeface="Calibri" pitchFamily="34" charset="0"/>
                <a:ea typeface="Calibri" pitchFamily="34" charset="-122"/>
                <a:cs typeface="Calibri" pitchFamily="34" charset="-120"/>
              </a:rPr>
              <a:t>Relacionales y NoSQL administradas. Ej.: los productos de una tienda.</a:t>
            </a:r>
            <a:endParaRPr lang="en-US" sz="1650" dirty="0"/>
          </a:p>
        </p:txBody>
      </p:sp>
      <p:sp>
        <p:nvSpPr>
          <p:cNvPr id="26" name="Shape 19"/>
          <p:cNvSpPr/>
          <p:nvPr/>
        </p:nvSpPr>
        <p:spPr>
          <a:xfrm>
            <a:off x="4338218" y="4229100"/>
            <a:ext cx="3515258" cy="1943100"/>
          </a:xfrm>
          <a:prstGeom prst="roundRect">
            <a:avLst>
              <a:gd name="adj" fmla="val 5647"/>
            </a:avLst>
          </a:prstGeom>
          <a:solidFill>
            <a:srgbClr val="F1F7F9"/>
          </a:solidFill>
          <a:ln w="9525">
            <a:solidFill>
              <a:srgbClr val="DCE6EA"/>
            </a:solidFill>
            <a:prstDash val="solid"/>
          </a:ln>
        </p:spPr>
      </p:sp>
      <p:sp>
        <p:nvSpPr>
          <p:cNvPr id="27" name="Shape 20"/>
          <p:cNvSpPr/>
          <p:nvPr/>
        </p:nvSpPr>
        <p:spPr>
          <a:xfrm>
            <a:off x="4566818" y="4457700"/>
            <a:ext cx="548640" cy="548640"/>
          </a:xfrm>
          <a:prstGeom prst="ellipse">
            <a:avLst/>
          </a:prstGeom>
          <a:solidFill>
            <a:srgbClr val="0E7C86"/>
          </a:solidFill>
          <a:ln w="12700">
            <a:solidFill>
              <a:srgbClr val="0E7C86"/>
            </a:solidFill>
            <a:prstDash val="solid"/>
          </a:ln>
        </p:spPr>
      </p:sp>
      <p:pic>
        <p:nvPicPr>
          <p:cNvPr id="28" name="Image 5" descr="preencoded.png">    </p:cNvPr>
          <p:cNvPicPr>
            <a:picLocks noChangeAspect="1"/>
          </p:cNvPicPr>
          <p:nvPr/>
        </p:nvPicPr>
        <p:blipFill>
          <a:blip r:embed="rId6"/>
          <a:stretch>
            <a:fillRect/>
          </a:stretch>
        </p:blipFill>
        <p:spPr>
          <a:xfrm>
            <a:off x="4709465" y="4600346"/>
            <a:ext cx="263347" cy="263347"/>
          </a:xfrm>
          <a:prstGeom prst="rect">
            <a:avLst/>
          </a:prstGeom>
        </p:spPr>
      </p:pic>
      <p:sp>
        <p:nvSpPr>
          <p:cNvPr id="29" name="Text 21"/>
          <p:cNvSpPr txBox="1"/>
          <p:nvPr/>
        </p:nvSpPr>
        <p:spPr>
          <a:xfrm>
            <a:off x="5252618" y="445770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Gestión</a:t>
            </a:r>
            <a:endParaRPr lang="en-US" sz="1700" dirty="0"/>
          </a:p>
        </p:txBody>
      </p:sp>
      <p:sp>
        <p:nvSpPr>
          <p:cNvPr id="30" name="Text 22"/>
          <p:cNvSpPr txBox="1"/>
          <p:nvPr/>
        </p:nvSpPr>
        <p:spPr>
          <a:xfrm>
            <a:off x="4566818" y="5143500"/>
            <a:ext cx="3058058" cy="891540"/>
          </a:xfrm>
          <a:prstGeom prst="rect">
            <a:avLst/>
          </a:prstGeom>
          <a:noFill/>
          <a:ln/>
        </p:spPr>
        <p:txBody>
          <a:bodyPr wrap="square" lIns="0" tIns="0" rIns="0" bIns="0" rtlCol="0" anchor="t"/>
          <a:lstStyle/>
          <a:p>
            <a:pPr indent="0" marL="0">
              <a:buNone/>
            </a:pPr>
            <a:r>
              <a:rPr lang="en-US" sz="1650" dirty="0">
                <a:solidFill>
                  <a:srgbClr val="1F2937"/>
                </a:solidFill>
                <a:latin typeface="Calibri" pitchFamily="34" charset="0"/>
                <a:ea typeface="Calibri" pitchFamily="34" charset="-122"/>
                <a:cs typeface="Calibri" pitchFamily="34" charset="-120"/>
              </a:rPr>
              <a:t>Consola, APIs, monitoreo y facturación. Ej.: ver cuánto se gasta.</a:t>
            </a:r>
            <a:endParaRPr lang="en-US" sz="1650" dirty="0"/>
          </a:p>
        </p:txBody>
      </p:sp>
      <p:sp>
        <p:nvSpPr>
          <p:cNvPr id="31" name="Shape 23"/>
          <p:cNvSpPr/>
          <p:nvPr/>
        </p:nvSpPr>
        <p:spPr>
          <a:xfrm>
            <a:off x="8127797" y="4229100"/>
            <a:ext cx="3515258" cy="1943100"/>
          </a:xfrm>
          <a:prstGeom prst="roundRect">
            <a:avLst>
              <a:gd name="adj" fmla="val 5647"/>
            </a:avLst>
          </a:prstGeom>
          <a:solidFill>
            <a:srgbClr val="F1F7F9"/>
          </a:solidFill>
          <a:ln w="9525">
            <a:solidFill>
              <a:srgbClr val="DCE6EA"/>
            </a:solidFill>
            <a:prstDash val="solid"/>
          </a:ln>
        </p:spPr>
      </p:sp>
      <p:sp>
        <p:nvSpPr>
          <p:cNvPr id="32" name="Shape 24"/>
          <p:cNvSpPr/>
          <p:nvPr/>
        </p:nvSpPr>
        <p:spPr>
          <a:xfrm>
            <a:off x="8356397" y="4457700"/>
            <a:ext cx="548640" cy="548640"/>
          </a:xfrm>
          <a:prstGeom prst="ellipse">
            <a:avLst/>
          </a:prstGeom>
          <a:solidFill>
            <a:srgbClr val="0E7C86"/>
          </a:solidFill>
          <a:ln w="12700">
            <a:solidFill>
              <a:srgbClr val="0E7C86"/>
            </a:solidFill>
            <a:prstDash val="solid"/>
          </a:ln>
        </p:spPr>
      </p:sp>
      <p:pic>
        <p:nvPicPr>
          <p:cNvPr id="33" name="Image 6" descr="preencoded.png">    </p:cNvPr>
          <p:cNvPicPr>
            <a:picLocks noChangeAspect="1"/>
          </p:cNvPicPr>
          <p:nvPr/>
        </p:nvPicPr>
        <p:blipFill>
          <a:blip r:embed="rId7"/>
          <a:stretch>
            <a:fillRect/>
          </a:stretch>
        </p:blipFill>
        <p:spPr>
          <a:xfrm>
            <a:off x="8499043" y="4600346"/>
            <a:ext cx="263347" cy="263347"/>
          </a:xfrm>
          <a:prstGeom prst="rect">
            <a:avLst/>
          </a:prstGeom>
        </p:spPr>
      </p:pic>
      <p:sp>
        <p:nvSpPr>
          <p:cNvPr id="34" name="Text 25"/>
          <p:cNvSpPr txBox="1"/>
          <p:nvPr/>
        </p:nvSpPr>
        <p:spPr>
          <a:xfrm>
            <a:off x="9042197" y="445770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Seguridad</a:t>
            </a:r>
            <a:endParaRPr lang="en-US" sz="1700" dirty="0"/>
          </a:p>
        </p:txBody>
      </p:sp>
      <p:sp>
        <p:nvSpPr>
          <p:cNvPr id="35" name="Text 26"/>
          <p:cNvSpPr txBox="1"/>
          <p:nvPr/>
        </p:nvSpPr>
        <p:spPr>
          <a:xfrm>
            <a:off x="8356397" y="5143500"/>
            <a:ext cx="3058058" cy="891540"/>
          </a:xfrm>
          <a:prstGeom prst="rect">
            <a:avLst/>
          </a:prstGeom>
          <a:noFill/>
          <a:ln/>
        </p:spPr>
        <p:txBody>
          <a:bodyPr wrap="square" lIns="0" tIns="0" rIns="0" bIns="0" rtlCol="0" anchor="t"/>
          <a:lstStyle/>
          <a:p>
            <a:pPr indent="0" marL="0">
              <a:buNone/>
            </a:pPr>
            <a:r>
              <a:rPr lang="en-US" sz="1650" dirty="0">
                <a:solidFill>
                  <a:srgbClr val="1F2937"/>
                </a:solidFill>
                <a:latin typeface="Calibri" pitchFamily="34" charset="0"/>
                <a:ea typeface="Calibri" pitchFamily="34" charset="-122"/>
                <a:cs typeface="Calibri" pitchFamily="34" charset="-120"/>
              </a:rPr>
              <a:t>Identidades, cifrado, firewall, registros. Ej.: quién entró y cuándo.</a:t>
            </a:r>
            <a:endParaRPr lang="en-US" sz="1650" dirty="0"/>
          </a:p>
        </p:txBody>
      </p:sp>
      <p:sp>
        <p:nvSpPr>
          <p:cNvPr id="36" name="Text 27"/>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47</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Características de los servicios en la nube</a:t>
            </a:r>
            <a:endParaRPr lang="en-US" sz="3200" dirty="0"/>
          </a:p>
        </p:txBody>
      </p:sp>
      <p:sp>
        <p:nvSpPr>
          <p:cNvPr id="5" name="Shape 2"/>
          <p:cNvSpPr/>
          <p:nvPr/>
        </p:nvSpPr>
        <p:spPr>
          <a:xfrm>
            <a:off x="548640" y="1417320"/>
            <a:ext cx="3515258" cy="2240280"/>
          </a:xfrm>
          <a:prstGeom prst="roundRect">
            <a:avLst>
              <a:gd name="adj" fmla="val 4898"/>
            </a:avLst>
          </a:prstGeom>
          <a:solidFill>
            <a:srgbClr val="F1F7F9"/>
          </a:solidFill>
          <a:ln w="9525">
            <a:solidFill>
              <a:srgbClr val="DCE6EA"/>
            </a:solidFill>
            <a:prstDash val="solid"/>
          </a:ln>
        </p:spPr>
      </p:sp>
      <p:sp>
        <p:nvSpPr>
          <p:cNvPr id="6" name="Shape 3"/>
          <p:cNvSpPr/>
          <p:nvPr/>
        </p:nvSpPr>
        <p:spPr>
          <a:xfrm>
            <a:off x="777240" y="1645920"/>
            <a:ext cx="548640" cy="54864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19886" y="1788566"/>
            <a:ext cx="263347" cy="263347"/>
          </a:xfrm>
          <a:prstGeom prst="rect">
            <a:avLst/>
          </a:prstGeom>
        </p:spPr>
      </p:pic>
      <p:sp>
        <p:nvSpPr>
          <p:cNvPr id="8" name="Text 4"/>
          <p:cNvSpPr txBox="1"/>
          <p:nvPr/>
        </p:nvSpPr>
        <p:spPr>
          <a:xfrm>
            <a:off x="1463040"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Bajo demanda</a:t>
            </a:r>
            <a:endParaRPr lang="en-US" sz="1700" dirty="0"/>
          </a:p>
        </p:txBody>
      </p:sp>
      <p:sp>
        <p:nvSpPr>
          <p:cNvPr id="9" name="Text 5"/>
          <p:cNvSpPr txBox="1"/>
          <p:nvPr/>
        </p:nvSpPr>
        <p:spPr>
          <a:xfrm>
            <a:off x="777240" y="2331720"/>
            <a:ext cx="3058058" cy="1188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Se activan cuando se necesitan, sin trámites largos.</a:t>
            </a:r>
            <a:endParaRPr lang="en-US" sz="2000" dirty="0"/>
          </a:p>
        </p:txBody>
      </p:sp>
      <p:sp>
        <p:nvSpPr>
          <p:cNvPr id="10" name="Shape 6"/>
          <p:cNvSpPr/>
          <p:nvPr/>
        </p:nvSpPr>
        <p:spPr>
          <a:xfrm>
            <a:off x="4338218" y="1417320"/>
            <a:ext cx="3515258" cy="2240280"/>
          </a:xfrm>
          <a:prstGeom prst="roundRect">
            <a:avLst>
              <a:gd name="adj" fmla="val 4898"/>
            </a:avLst>
          </a:prstGeom>
          <a:solidFill>
            <a:srgbClr val="F1F7F9"/>
          </a:solidFill>
          <a:ln w="9525">
            <a:solidFill>
              <a:srgbClr val="DCE6EA"/>
            </a:solidFill>
            <a:prstDash val="solid"/>
          </a:ln>
        </p:spPr>
      </p:sp>
      <p:sp>
        <p:nvSpPr>
          <p:cNvPr id="11" name="Shape 7"/>
          <p:cNvSpPr/>
          <p:nvPr/>
        </p:nvSpPr>
        <p:spPr>
          <a:xfrm>
            <a:off x="4566818" y="1645920"/>
            <a:ext cx="548640" cy="548640"/>
          </a:xfrm>
          <a:prstGeom prst="ellipse">
            <a:avLst/>
          </a:prstGeom>
          <a:solidFill>
            <a:srgbClr val="0E7C86"/>
          </a:solidFill>
          <a:ln w="12700">
            <a:solidFill>
              <a:srgbClr val="0E7C86"/>
            </a:solidFill>
            <a:prstDash val="solid"/>
          </a:ln>
        </p:spPr>
      </p:sp>
      <p:pic>
        <p:nvPicPr>
          <p:cNvPr id="12" name="Image 2" descr="preencoded.png">    </p:cNvPr>
          <p:cNvPicPr>
            <a:picLocks noChangeAspect="1"/>
          </p:cNvPicPr>
          <p:nvPr/>
        </p:nvPicPr>
        <p:blipFill>
          <a:blip r:embed="rId3"/>
          <a:stretch>
            <a:fillRect/>
          </a:stretch>
        </p:blipFill>
        <p:spPr>
          <a:xfrm>
            <a:off x="4709465" y="1788566"/>
            <a:ext cx="263347" cy="263347"/>
          </a:xfrm>
          <a:prstGeom prst="rect">
            <a:avLst/>
          </a:prstGeom>
        </p:spPr>
      </p:pic>
      <p:sp>
        <p:nvSpPr>
          <p:cNvPr id="13" name="Text 8"/>
          <p:cNvSpPr txBox="1"/>
          <p:nvPr/>
        </p:nvSpPr>
        <p:spPr>
          <a:xfrm>
            <a:off x="5252618"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Multi-inquilino</a:t>
            </a:r>
            <a:endParaRPr lang="en-US" sz="1700" dirty="0"/>
          </a:p>
        </p:txBody>
      </p:sp>
      <p:sp>
        <p:nvSpPr>
          <p:cNvPr id="14" name="Text 9"/>
          <p:cNvSpPr txBox="1"/>
          <p:nvPr/>
        </p:nvSpPr>
        <p:spPr>
          <a:xfrm>
            <a:off x="4566818" y="2331720"/>
            <a:ext cx="3058058" cy="1188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Muchos clientes comparten infraestructura, aislados entre sí.</a:t>
            </a:r>
            <a:endParaRPr lang="en-US" sz="2000" dirty="0"/>
          </a:p>
        </p:txBody>
      </p:sp>
      <p:sp>
        <p:nvSpPr>
          <p:cNvPr id="15" name="Shape 10"/>
          <p:cNvSpPr/>
          <p:nvPr/>
        </p:nvSpPr>
        <p:spPr>
          <a:xfrm>
            <a:off x="8127797" y="1417320"/>
            <a:ext cx="3515258" cy="2240280"/>
          </a:xfrm>
          <a:prstGeom prst="roundRect">
            <a:avLst>
              <a:gd name="adj" fmla="val 4898"/>
            </a:avLst>
          </a:prstGeom>
          <a:solidFill>
            <a:srgbClr val="F1F7F9"/>
          </a:solidFill>
          <a:ln w="9525">
            <a:solidFill>
              <a:srgbClr val="DCE6EA"/>
            </a:solidFill>
            <a:prstDash val="solid"/>
          </a:ln>
        </p:spPr>
      </p:sp>
      <p:sp>
        <p:nvSpPr>
          <p:cNvPr id="16" name="Shape 11"/>
          <p:cNvSpPr/>
          <p:nvPr/>
        </p:nvSpPr>
        <p:spPr>
          <a:xfrm>
            <a:off x="8356397" y="1645920"/>
            <a:ext cx="548640" cy="548640"/>
          </a:xfrm>
          <a:prstGeom prst="ellipse">
            <a:avLst/>
          </a:prstGeom>
          <a:solidFill>
            <a:srgbClr val="0E7C86"/>
          </a:solidFill>
          <a:ln w="12700">
            <a:solidFill>
              <a:srgbClr val="0E7C86"/>
            </a:solidFill>
            <a:prstDash val="solid"/>
          </a:ln>
        </p:spPr>
      </p:sp>
      <p:pic>
        <p:nvPicPr>
          <p:cNvPr id="17" name="Image 3" descr="preencoded.png">    </p:cNvPr>
          <p:cNvPicPr>
            <a:picLocks noChangeAspect="1"/>
          </p:cNvPicPr>
          <p:nvPr/>
        </p:nvPicPr>
        <p:blipFill>
          <a:blip r:embed="rId4"/>
          <a:stretch>
            <a:fillRect/>
          </a:stretch>
        </p:blipFill>
        <p:spPr>
          <a:xfrm>
            <a:off x="8499043" y="1788566"/>
            <a:ext cx="263347" cy="263347"/>
          </a:xfrm>
          <a:prstGeom prst="rect">
            <a:avLst/>
          </a:prstGeom>
        </p:spPr>
      </p:pic>
      <p:sp>
        <p:nvSpPr>
          <p:cNvPr id="18" name="Text 12"/>
          <p:cNvSpPr txBox="1"/>
          <p:nvPr/>
        </p:nvSpPr>
        <p:spPr>
          <a:xfrm>
            <a:off x="9042197" y="16459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Escalables</a:t>
            </a:r>
            <a:endParaRPr lang="en-US" sz="1700" dirty="0"/>
          </a:p>
        </p:txBody>
      </p:sp>
      <p:sp>
        <p:nvSpPr>
          <p:cNvPr id="19" name="Text 13"/>
          <p:cNvSpPr txBox="1"/>
          <p:nvPr/>
        </p:nvSpPr>
        <p:spPr>
          <a:xfrm>
            <a:off x="8356397" y="2331720"/>
            <a:ext cx="3058058" cy="1188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Crecen o se reducen según la demanda.</a:t>
            </a:r>
            <a:endParaRPr lang="en-US" sz="2000" dirty="0"/>
          </a:p>
        </p:txBody>
      </p:sp>
      <p:sp>
        <p:nvSpPr>
          <p:cNvPr id="20" name="Shape 14"/>
          <p:cNvSpPr/>
          <p:nvPr/>
        </p:nvSpPr>
        <p:spPr>
          <a:xfrm>
            <a:off x="548640" y="3931920"/>
            <a:ext cx="3515258" cy="2240280"/>
          </a:xfrm>
          <a:prstGeom prst="roundRect">
            <a:avLst>
              <a:gd name="adj" fmla="val 4898"/>
            </a:avLst>
          </a:prstGeom>
          <a:solidFill>
            <a:srgbClr val="F1F7F9"/>
          </a:solidFill>
          <a:ln w="9525">
            <a:solidFill>
              <a:srgbClr val="DCE6EA"/>
            </a:solidFill>
            <a:prstDash val="solid"/>
          </a:ln>
        </p:spPr>
      </p:sp>
      <p:sp>
        <p:nvSpPr>
          <p:cNvPr id="21" name="Shape 15"/>
          <p:cNvSpPr/>
          <p:nvPr/>
        </p:nvSpPr>
        <p:spPr>
          <a:xfrm>
            <a:off x="777240" y="4160520"/>
            <a:ext cx="548640" cy="548640"/>
          </a:xfrm>
          <a:prstGeom prst="ellipse">
            <a:avLst/>
          </a:prstGeom>
          <a:solidFill>
            <a:srgbClr val="0E7C86"/>
          </a:solidFill>
          <a:ln w="12700">
            <a:solidFill>
              <a:srgbClr val="0E7C86"/>
            </a:solidFill>
            <a:prstDash val="solid"/>
          </a:ln>
        </p:spPr>
      </p:sp>
      <p:pic>
        <p:nvPicPr>
          <p:cNvPr id="22" name="Image 4" descr="preencoded.png">    </p:cNvPr>
          <p:cNvPicPr>
            <a:picLocks noChangeAspect="1"/>
          </p:cNvPicPr>
          <p:nvPr/>
        </p:nvPicPr>
        <p:blipFill>
          <a:blip r:embed="rId5"/>
          <a:stretch>
            <a:fillRect/>
          </a:stretch>
        </p:blipFill>
        <p:spPr>
          <a:xfrm>
            <a:off x="919886" y="4303166"/>
            <a:ext cx="263347" cy="263347"/>
          </a:xfrm>
          <a:prstGeom prst="rect">
            <a:avLst/>
          </a:prstGeom>
        </p:spPr>
      </p:pic>
      <p:sp>
        <p:nvSpPr>
          <p:cNvPr id="23" name="Text 16"/>
          <p:cNvSpPr txBox="1"/>
          <p:nvPr/>
        </p:nvSpPr>
        <p:spPr>
          <a:xfrm>
            <a:off x="1463040"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Medibles</a:t>
            </a:r>
            <a:endParaRPr lang="en-US" sz="1700" dirty="0"/>
          </a:p>
        </p:txBody>
      </p:sp>
      <p:sp>
        <p:nvSpPr>
          <p:cNvPr id="24" name="Text 17"/>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Cada recurso se mide y se factura.</a:t>
            </a:r>
            <a:endParaRPr lang="en-US" sz="2000" dirty="0"/>
          </a:p>
        </p:txBody>
      </p:sp>
      <p:sp>
        <p:nvSpPr>
          <p:cNvPr id="25" name="Shape 18"/>
          <p:cNvSpPr/>
          <p:nvPr/>
        </p:nvSpPr>
        <p:spPr>
          <a:xfrm>
            <a:off x="4338218" y="3931920"/>
            <a:ext cx="3515258" cy="2240280"/>
          </a:xfrm>
          <a:prstGeom prst="roundRect">
            <a:avLst>
              <a:gd name="adj" fmla="val 4898"/>
            </a:avLst>
          </a:prstGeom>
          <a:solidFill>
            <a:srgbClr val="F1F7F9"/>
          </a:solidFill>
          <a:ln w="9525">
            <a:solidFill>
              <a:srgbClr val="DCE6EA"/>
            </a:solidFill>
            <a:prstDash val="solid"/>
          </a:ln>
        </p:spPr>
      </p:sp>
      <p:sp>
        <p:nvSpPr>
          <p:cNvPr id="26" name="Shape 19"/>
          <p:cNvSpPr/>
          <p:nvPr/>
        </p:nvSpPr>
        <p:spPr>
          <a:xfrm>
            <a:off x="4566818" y="4160520"/>
            <a:ext cx="548640" cy="548640"/>
          </a:xfrm>
          <a:prstGeom prst="ellipse">
            <a:avLst/>
          </a:prstGeom>
          <a:solidFill>
            <a:srgbClr val="0E7C86"/>
          </a:solidFill>
          <a:ln w="12700">
            <a:solidFill>
              <a:srgbClr val="0E7C86"/>
            </a:solidFill>
            <a:prstDash val="solid"/>
          </a:ln>
        </p:spPr>
      </p:sp>
      <p:pic>
        <p:nvPicPr>
          <p:cNvPr id="27" name="Image 5" descr="preencoded.png">    </p:cNvPr>
          <p:cNvPicPr>
            <a:picLocks noChangeAspect="1"/>
          </p:cNvPicPr>
          <p:nvPr/>
        </p:nvPicPr>
        <p:blipFill>
          <a:blip r:embed="rId6"/>
          <a:stretch>
            <a:fillRect/>
          </a:stretch>
        </p:blipFill>
        <p:spPr>
          <a:xfrm>
            <a:off x="4709465" y="4303166"/>
            <a:ext cx="263347" cy="263347"/>
          </a:xfrm>
          <a:prstGeom prst="rect">
            <a:avLst/>
          </a:prstGeom>
        </p:spPr>
      </p:pic>
      <p:sp>
        <p:nvSpPr>
          <p:cNvPr id="28" name="Text 20"/>
          <p:cNvSpPr txBox="1"/>
          <p:nvPr/>
        </p:nvSpPr>
        <p:spPr>
          <a:xfrm>
            <a:off x="5252618"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Resilientes</a:t>
            </a:r>
            <a:endParaRPr lang="en-US" sz="1700" dirty="0"/>
          </a:p>
        </p:txBody>
      </p:sp>
      <p:sp>
        <p:nvSpPr>
          <p:cNvPr id="29" name="Text 21"/>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Redundancia: si algo falla, otra copia responde.</a:t>
            </a:r>
            <a:endParaRPr lang="en-US" sz="2000" dirty="0"/>
          </a:p>
        </p:txBody>
      </p:sp>
      <p:sp>
        <p:nvSpPr>
          <p:cNvPr id="30" name="Shape 22"/>
          <p:cNvSpPr/>
          <p:nvPr/>
        </p:nvSpPr>
        <p:spPr>
          <a:xfrm>
            <a:off x="8127797" y="3931920"/>
            <a:ext cx="3515258" cy="2240280"/>
          </a:xfrm>
          <a:prstGeom prst="roundRect">
            <a:avLst>
              <a:gd name="adj" fmla="val 4898"/>
            </a:avLst>
          </a:prstGeom>
          <a:solidFill>
            <a:srgbClr val="F1F7F9"/>
          </a:solidFill>
          <a:ln w="9525">
            <a:solidFill>
              <a:srgbClr val="DCE6EA"/>
            </a:solidFill>
            <a:prstDash val="solid"/>
          </a:ln>
        </p:spPr>
      </p:sp>
      <p:sp>
        <p:nvSpPr>
          <p:cNvPr id="31" name="Shape 23"/>
          <p:cNvSpPr/>
          <p:nvPr/>
        </p:nvSpPr>
        <p:spPr>
          <a:xfrm>
            <a:off x="8356397" y="4160520"/>
            <a:ext cx="548640" cy="548640"/>
          </a:xfrm>
          <a:prstGeom prst="ellipse">
            <a:avLst/>
          </a:prstGeom>
          <a:solidFill>
            <a:srgbClr val="0E7C86"/>
          </a:solidFill>
          <a:ln w="12700">
            <a:solidFill>
              <a:srgbClr val="0E7C86"/>
            </a:solidFill>
            <a:prstDash val="solid"/>
          </a:ln>
        </p:spPr>
      </p:sp>
      <p:pic>
        <p:nvPicPr>
          <p:cNvPr id="32" name="Image 6" descr="preencoded.png">    </p:cNvPr>
          <p:cNvPicPr>
            <a:picLocks noChangeAspect="1"/>
          </p:cNvPicPr>
          <p:nvPr/>
        </p:nvPicPr>
        <p:blipFill>
          <a:blip r:embed="rId7"/>
          <a:stretch>
            <a:fillRect/>
          </a:stretch>
        </p:blipFill>
        <p:spPr>
          <a:xfrm>
            <a:off x="8499043" y="4303166"/>
            <a:ext cx="263347" cy="263347"/>
          </a:xfrm>
          <a:prstGeom prst="rect">
            <a:avLst/>
          </a:prstGeom>
        </p:spPr>
      </p:pic>
      <p:sp>
        <p:nvSpPr>
          <p:cNvPr id="33" name="Text 24"/>
          <p:cNvSpPr txBox="1"/>
          <p:nvPr/>
        </p:nvSpPr>
        <p:spPr>
          <a:xfrm>
            <a:off x="9042197" y="4160520"/>
            <a:ext cx="2417978" cy="54864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Con SLA</a:t>
            </a:r>
            <a:endParaRPr lang="en-US" sz="1700" dirty="0"/>
          </a:p>
        </p:txBody>
      </p:sp>
      <p:sp>
        <p:nvSpPr>
          <p:cNvPr id="34" name="Text 25"/>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Contrato con metas: ej. 99,9 % disponible al mes.</a:t>
            </a:r>
            <a:endParaRPr lang="en-US" sz="2000" dirty="0"/>
          </a:p>
        </p:txBody>
      </p:sp>
      <p:sp>
        <p:nvSpPr>
          <p:cNvPr id="35" name="Text 26"/>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48</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Ventajas y desventajas (con ejemplos)</a:t>
            </a:r>
            <a:endParaRPr lang="en-US" sz="3200" dirty="0"/>
          </a:p>
        </p:txBody>
      </p:sp>
      <p:sp>
        <p:nvSpPr>
          <p:cNvPr id="5" name="Shape 2"/>
          <p:cNvSpPr/>
          <p:nvPr/>
        </p:nvSpPr>
        <p:spPr>
          <a:xfrm>
            <a:off x="548640" y="1417320"/>
            <a:ext cx="5364328" cy="4709160"/>
          </a:xfrm>
          <a:prstGeom prst="roundRect">
            <a:avLst>
              <a:gd name="adj" fmla="val 2330"/>
            </a:avLst>
          </a:prstGeom>
          <a:solidFill>
            <a:srgbClr val="D5EEF0"/>
          </a:solidFill>
          <a:ln w="12700">
            <a:solidFill>
              <a:srgbClr val="D5EEF0"/>
            </a:solidFill>
            <a:prstDash val="solid"/>
          </a:ln>
        </p:spPr>
      </p:sp>
      <p:sp>
        <p:nvSpPr>
          <p:cNvPr id="6" name="Shape 3"/>
          <p:cNvSpPr/>
          <p:nvPr/>
        </p:nvSpPr>
        <p:spPr>
          <a:xfrm>
            <a:off x="822960" y="1645920"/>
            <a:ext cx="640080" cy="64008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989381" y="1812341"/>
            <a:ext cx="307238" cy="307238"/>
          </a:xfrm>
          <a:prstGeom prst="rect">
            <a:avLst/>
          </a:prstGeom>
        </p:spPr>
      </p:pic>
      <p:sp>
        <p:nvSpPr>
          <p:cNvPr id="8" name="Text 4"/>
          <p:cNvSpPr txBox="1"/>
          <p:nvPr/>
        </p:nvSpPr>
        <p:spPr>
          <a:xfrm>
            <a:off x="1645920" y="1645920"/>
            <a:ext cx="4084168" cy="6400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Ventajas</a:t>
            </a:r>
            <a:endParaRPr lang="en-US" sz="2200" dirty="0"/>
          </a:p>
        </p:txBody>
      </p:sp>
      <p:sp>
        <p:nvSpPr>
          <p:cNvPr id="9" name="Text 5"/>
          <p:cNvSpPr txBox="1"/>
          <p:nvPr/>
        </p:nvSpPr>
        <p:spPr>
          <a:xfrm>
            <a:off x="868680" y="2514600"/>
            <a:ext cx="4724248" cy="347472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Menor inversión: la soda paga $15 al mes y no $1 200.</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Rapidez: un servidor listo en 5 minutos.</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Escalabilidad: la tienda soporta Black Friday.</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Movilidad: se trabaja desde la casa.</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Seguridad física profesional del proveedor.</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Continuidad ante desastres.</a:t>
            </a:r>
            <a:endParaRPr lang="en-US" sz="1700" dirty="0"/>
          </a:p>
        </p:txBody>
      </p:sp>
      <p:sp>
        <p:nvSpPr>
          <p:cNvPr id="10" name="Shape 6"/>
          <p:cNvSpPr/>
          <p:nvPr/>
        </p:nvSpPr>
        <p:spPr>
          <a:xfrm>
            <a:off x="6278728" y="1417320"/>
            <a:ext cx="5364328" cy="4709160"/>
          </a:xfrm>
          <a:prstGeom prst="roundRect">
            <a:avLst>
              <a:gd name="adj" fmla="val 2330"/>
            </a:avLst>
          </a:prstGeom>
          <a:solidFill>
            <a:srgbClr val="FDF1E7"/>
          </a:solidFill>
          <a:ln w="12700">
            <a:solidFill>
              <a:srgbClr val="FDF1E7"/>
            </a:solidFill>
            <a:prstDash val="solid"/>
          </a:ln>
        </p:spPr>
      </p:sp>
      <p:sp>
        <p:nvSpPr>
          <p:cNvPr id="11" name="Shape 7"/>
          <p:cNvSpPr/>
          <p:nvPr/>
        </p:nvSpPr>
        <p:spPr>
          <a:xfrm>
            <a:off x="6553048" y="1645920"/>
            <a:ext cx="640080" cy="640080"/>
          </a:xfrm>
          <a:prstGeom prst="ellipse">
            <a:avLst/>
          </a:prstGeom>
          <a:solidFill>
            <a:srgbClr val="F4A261"/>
          </a:solidFill>
          <a:ln w="12700">
            <a:solidFill>
              <a:srgbClr val="F4A261"/>
            </a:solidFill>
            <a:prstDash val="solid"/>
          </a:ln>
        </p:spPr>
      </p:sp>
      <p:pic>
        <p:nvPicPr>
          <p:cNvPr id="12" name="Image 2" descr="preencoded.png">    </p:cNvPr>
          <p:cNvPicPr>
            <a:picLocks noChangeAspect="1"/>
          </p:cNvPicPr>
          <p:nvPr/>
        </p:nvPicPr>
        <p:blipFill>
          <a:blip r:embed="rId3"/>
          <a:stretch>
            <a:fillRect/>
          </a:stretch>
        </p:blipFill>
        <p:spPr>
          <a:xfrm>
            <a:off x="6719468" y="1812341"/>
            <a:ext cx="307238" cy="307238"/>
          </a:xfrm>
          <a:prstGeom prst="rect">
            <a:avLst/>
          </a:prstGeom>
        </p:spPr>
      </p:pic>
      <p:sp>
        <p:nvSpPr>
          <p:cNvPr id="13" name="Text 8"/>
          <p:cNvSpPr txBox="1"/>
          <p:nvPr/>
        </p:nvSpPr>
        <p:spPr>
          <a:xfrm>
            <a:off x="7376008" y="1645920"/>
            <a:ext cx="4084168" cy="6400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Desventajas o inconvenientes</a:t>
            </a:r>
            <a:endParaRPr lang="en-US" sz="2200" dirty="0"/>
          </a:p>
        </p:txBody>
      </p:sp>
      <p:sp>
        <p:nvSpPr>
          <p:cNvPr id="14" name="Text 9"/>
          <p:cNvSpPr txBox="1"/>
          <p:nvPr/>
        </p:nvSpPr>
        <p:spPr>
          <a:xfrm>
            <a:off x="6598768" y="2514600"/>
            <a:ext cx="4724248" cy="347472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Sin Internet no hay servicio.</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Dependencia del proveedor (lock-in): cuesta cambiarse.</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Menos control sobre la infraestructura.</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Privacidad: ¿en qué país están los datos?</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Costos que crecen si nadie los vigila.</a:t>
            </a:r>
            <a:endParaRPr lang="en-US" sz="1700" dirty="0"/>
          </a:p>
          <a:p>
            <a:pPr marL="228600" indent="-228600">
              <a:spcAft>
                <a:spcPts val="700"/>
              </a:spcAft>
              <a:buSzPct val="100000"/>
              <a:buChar char="•"/>
            </a:pPr>
            <a:r>
              <a:rPr lang="en-US" sz="1700" dirty="0">
                <a:solidFill>
                  <a:srgbClr val="1F2937"/>
                </a:solidFill>
                <a:latin typeface="Calibri" pitchFamily="34" charset="0"/>
                <a:ea typeface="Calibri" pitchFamily="34" charset="-122"/>
                <a:cs typeface="Calibri" pitchFamily="34" charset="-120"/>
              </a:rPr>
              <a:t>Si el proveedor se cae, caen muchos clientes a la vez.</a:t>
            </a:r>
            <a:endParaRPr lang="en-US" sz="1700" dirty="0"/>
          </a:p>
        </p:txBody>
      </p:sp>
      <p:sp>
        <p:nvSpPr>
          <p:cNvPr id="15" name="Text 10"/>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49</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Opciones de contratación</a:t>
            </a:r>
            <a:endParaRPr lang="en-US" sz="3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98138"/>
                <a:gridCol w="3698138"/>
                <a:gridCol w="3698138"/>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Opción</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Descripción</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Ejemplo: ¿cuándo conviene?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Bajo demanda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Sin compromiso; se paga por hora o segundo.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Un proyecto de 2 meses o con demanda impredecible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Reservada / compromiso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Contrato de 1 a 3 años con hasta 70 % de descuento.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El sistema contable que funciona todo el año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Spot / interrumpible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Capacidad sobrante muy barata que el proveedor puede retirar.</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Procesar videos o datos que pueden pausarse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Suscripción por usuario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Costo mensual por persona (SaaS).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Microsoft 365 para 25 empleados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Nivel gratuito (free tier)</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Uso limitado sin costo.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Estudiantes aprendiendo AWS o Azure</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Contrato empresarial / bróker</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Acuerdo personalizado o por intermediario.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Una institución pública con licitación</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50</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Nube pública</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La infraestructura pertenece al proveedor y se comparte con muchos clientes a través de Internet. Cualquier persona o empresa puede contratarla.</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Ventajas: </a:t>
            </a:r>
            <a:pPr indent="0" marL="0">
              <a:buNone/>
            </a:pPr>
            <a:r>
              <a:rPr lang="en-US" sz="2200" dirty="0">
                <a:solidFill>
                  <a:srgbClr val="1F2937"/>
                </a:solidFill>
                <a:latin typeface="Calibri" pitchFamily="34" charset="0"/>
                <a:ea typeface="Calibri" pitchFamily="34" charset="-122"/>
                <a:cs typeface="Calibri" pitchFamily="34" charset="-120"/>
              </a:rPr>
              <a:t>bajo costo, sin mantenimiento, escalabilidad casi ilimitada.</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Desventajas: </a:t>
            </a:r>
            <a:pPr indent="0" marL="0">
              <a:buNone/>
            </a:pPr>
            <a:r>
              <a:rPr lang="en-US" sz="2200" dirty="0">
                <a:solidFill>
                  <a:srgbClr val="1F2937"/>
                </a:solidFill>
                <a:latin typeface="Calibri" pitchFamily="34" charset="0"/>
                <a:ea typeface="Calibri" pitchFamily="34" charset="-122"/>
                <a:cs typeface="Calibri" pitchFamily="34" charset="-120"/>
              </a:rPr>
              <a:t>menor control y datos en infraestructura compartida.</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Proveedores: </a:t>
            </a:r>
            <a:pPr indent="0" marL="0">
              <a:buNone/>
            </a:pPr>
            <a:r>
              <a:rPr lang="en-US" sz="2200" dirty="0">
                <a:solidFill>
                  <a:srgbClr val="1F2937"/>
                </a:solidFill>
                <a:latin typeface="Calibri" pitchFamily="34" charset="0"/>
                <a:ea typeface="Calibri" pitchFamily="34" charset="-122"/>
                <a:cs typeface="Calibri" pitchFamily="34" charset="-120"/>
              </a:rPr>
              <a:t>AWS, Microsoft Azure, Google Cloud.</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Ideal para: </a:t>
            </a:r>
            <a:pPr indent="0" marL="0">
              <a:buNone/>
            </a:pPr>
            <a:r>
              <a:rPr lang="en-US" sz="2200" dirty="0">
                <a:solidFill>
                  <a:srgbClr val="1F2937"/>
                </a:solidFill>
                <a:latin typeface="Calibri" pitchFamily="34" charset="0"/>
                <a:ea typeface="Calibri" pitchFamily="34" charset="-122"/>
                <a:cs typeface="Calibri" pitchFamily="34" charset="-120"/>
              </a:rPr>
              <a:t>pymes, startups, sitios web, correo y colaboración.</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Una cafetería de San Ramón usa Gmail, una tienda en Shopify y facturación electrónica en un SaaS: todo en la nube pública. Paga poco y no necesita técnico.</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51</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Nube privada</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La infraestructura de nube está dedicada a una sola organización. Puede estar en su propio CPD o alojada por un tercero, pero nadie más la comparte.</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Ventajas: </a:t>
            </a:r>
            <a:pPr indent="0" marL="0">
              <a:buNone/>
            </a:pPr>
            <a:r>
              <a:rPr lang="en-US" sz="2200" dirty="0">
                <a:solidFill>
                  <a:srgbClr val="1F2937"/>
                </a:solidFill>
                <a:latin typeface="Calibri" pitchFamily="34" charset="0"/>
                <a:ea typeface="Calibri" pitchFamily="34" charset="-122"/>
                <a:cs typeface="Calibri" pitchFamily="34" charset="-120"/>
              </a:rPr>
              <a:t>máximo control, seguridad y personalización; cumplimiento de normas estrictas.</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Desventajas: </a:t>
            </a:r>
            <a:pPr indent="0" marL="0">
              <a:buNone/>
            </a:pPr>
            <a:r>
              <a:rPr lang="en-US" sz="2200" dirty="0">
                <a:solidFill>
                  <a:srgbClr val="1F2937"/>
                </a:solidFill>
                <a:latin typeface="Calibri" pitchFamily="34" charset="0"/>
                <a:ea typeface="Calibri" pitchFamily="34" charset="-122"/>
                <a:cs typeface="Calibri" pitchFamily="34" charset="-120"/>
              </a:rPr>
              <a:t>costosa; requiere equipos y personal especializado.</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Tecnologías: </a:t>
            </a:r>
            <a:pPr indent="0" marL="0">
              <a:buNone/>
            </a:pPr>
            <a:r>
              <a:rPr lang="en-US" sz="2200" dirty="0">
                <a:solidFill>
                  <a:srgbClr val="1F2937"/>
                </a:solidFill>
                <a:latin typeface="Calibri" pitchFamily="34" charset="0"/>
                <a:ea typeface="Calibri" pitchFamily="34" charset="-122"/>
                <a:cs typeface="Calibri" pitchFamily="34" charset="-120"/>
              </a:rPr>
              <a:t>VMware vSphere, OpenStack, Microsoft Azure Stack.</a:t>
            </a:r>
            <a:endParaRPr lang="en-US" sz="2200" dirty="0"/>
          </a:p>
          <a:p>
            <a:pPr marL="228600" indent="-228600">
              <a:spcAft>
                <a:spcPts val="800"/>
              </a:spcAft>
              <a:buSzPct val="100000"/>
              <a:buChar char="•"/>
            </a:pPr>
            <a:r>
              <a:rPr lang="en-US" sz="2200" b="1" dirty="0">
                <a:solidFill>
                  <a:srgbClr val="0E7C86"/>
                </a:solidFill>
                <a:latin typeface="Calibri" pitchFamily="34" charset="0"/>
                <a:ea typeface="Calibri" pitchFamily="34" charset="-122"/>
                <a:cs typeface="Calibri" pitchFamily="34" charset="-120"/>
              </a:rPr>
              <a:t>Ideal para: </a:t>
            </a:r>
            <a:pPr indent="0" marL="0">
              <a:buNone/>
            </a:pPr>
            <a:r>
              <a:rPr lang="en-US" sz="2200" dirty="0">
                <a:solidFill>
                  <a:srgbClr val="1F2937"/>
                </a:solidFill>
                <a:latin typeface="Calibri" pitchFamily="34" charset="0"/>
                <a:ea typeface="Calibri" pitchFamily="34" charset="-122"/>
                <a:cs typeface="Calibri" pitchFamily="34" charset="-120"/>
              </a:rPr>
              <a:t>bancos, hospitales, gobierno, datos muy sensibles.</a:t>
            </a:r>
            <a:endParaRPr lang="en-US" sz="220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 hospital guarda los expedientes clínicos en su nube privada, dentro de su propio CPD, porque la ley y la ética exigen el máximo control sobre esos datos.</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52</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Nube híbrida</a:t>
            </a:r>
            <a:endParaRPr lang="en-US" sz="3200" dirty="0"/>
          </a:p>
        </p:txBody>
      </p:sp>
      <p:sp>
        <p:nvSpPr>
          <p:cNvPr id="5" name="Text 2"/>
          <p:cNvSpPr txBox="1"/>
          <p:nvPr/>
        </p:nvSpPr>
        <p:spPr>
          <a:xfrm>
            <a:off x="548640" y="1371600"/>
            <a:ext cx="6949440" cy="1188720"/>
          </a:xfrm>
          <a:prstGeom prst="rect">
            <a:avLst/>
          </a:prstGeom>
          <a:noFill/>
          <a:ln/>
        </p:spPr>
        <p:txBody>
          <a:bodyPr wrap="square" lIns="0" tIns="0" rIns="0" bIns="0" rtlCol="0" anchor="t"/>
          <a:lstStyle/>
          <a:p>
            <a:pPr indent="0" marL="0">
              <a:buNone/>
            </a:pPr>
            <a:r>
              <a:rPr lang="en-US" sz="1800" i="1" dirty="0">
                <a:solidFill>
                  <a:srgbClr val="0B2545"/>
                </a:solidFill>
                <a:latin typeface="Calibri" pitchFamily="34" charset="0"/>
                <a:ea typeface="Calibri" pitchFamily="34" charset="-122"/>
                <a:cs typeface="Calibri" pitchFamily="34" charset="-120"/>
              </a:rPr>
              <a:t>Combina una nube privada (o infraestructura propia) con una nube pública, conectadas entre sí, para mover datos y aplicaciones según convenga.</a:t>
            </a:r>
            <a:endParaRPr lang="en-US" sz="1800" dirty="0"/>
          </a:p>
        </p:txBody>
      </p:sp>
      <p:sp>
        <p:nvSpPr>
          <p:cNvPr id="6" name="Text 3"/>
          <p:cNvSpPr txBox="1"/>
          <p:nvPr/>
        </p:nvSpPr>
        <p:spPr>
          <a:xfrm>
            <a:off x="548640" y="2697480"/>
            <a:ext cx="6949440" cy="3566160"/>
          </a:xfrm>
          <a:prstGeom prst="rect">
            <a:avLst/>
          </a:prstGeom>
          <a:noFill/>
          <a:ln/>
        </p:spPr>
        <p:txBody>
          <a:bodyPr wrap="square" lIns="0" tIns="0" rIns="0" bIns="0" rtlCol="0" anchor="t"/>
          <a:lstStyle/>
          <a:p>
            <a:pPr marL="228600" indent="-228600">
              <a:spcAft>
                <a:spcPts val="800"/>
              </a:spcAft>
              <a:buSzPct val="100000"/>
              <a:buChar char="•"/>
            </a:pPr>
            <a:r>
              <a:rPr lang="en-US" sz="2150" b="1" dirty="0">
                <a:solidFill>
                  <a:srgbClr val="0E7C86"/>
                </a:solidFill>
                <a:latin typeface="Calibri" pitchFamily="34" charset="0"/>
                <a:ea typeface="Calibri" pitchFamily="34" charset="-122"/>
                <a:cs typeface="Calibri" pitchFamily="34" charset="-120"/>
              </a:rPr>
              <a:t>Ventajas: </a:t>
            </a:r>
            <a:pPr indent="0" marL="0">
              <a:buNone/>
            </a:pPr>
            <a:r>
              <a:rPr lang="en-US" sz="2150" dirty="0">
                <a:solidFill>
                  <a:srgbClr val="1F2937"/>
                </a:solidFill>
                <a:latin typeface="Calibri" pitchFamily="34" charset="0"/>
                <a:ea typeface="Calibri" pitchFamily="34" charset="-122"/>
                <a:cs typeface="Calibri" pitchFamily="34" charset="-120"/>
              </a:rPr>
              <a:t>datos sensibles en la privada; picos de demanda y servicios comunes en la pública.</a:t>
            </a:r>
            <a:endParaRPr lang="en-US" sz="2150" dirty="0"/>
          </a:p>
          <a:p>
            <a:pPr marL="228600" indent="-228600">
              <a:spcAft>
                <a:spcPts val="800"/>
              </a:spcAft>
              <a:buSzPct val="100000"/>
              <a:buChar char="•"/>
            </a:pPr>
            <a:r>
              <a:rPr lang="en-US" sz="2150" b="1" dirty="0">
                <a:solidFill>
                  <a:srgbClr val="0E7C86"/>
                </a:solidFill>
                <a:latin typeface="Calibri" pitchFamily="34" charset="0"/>
                <a:ea typeface="Calibri" pitchFamily="34" charset="-122"/>
                <a:cs typeface="Calibri" pitchFamily="34" charset="-120"/>
              </a:rPr>
              <a:t>Desventajas: </a:t>
            </a:r>
            <a:pPr indent="0" marL="0">
              <a:buNone/>
            </a:pPr>
            <a:r>
              <a:rPr lang="en-US" sz="2150" dirty="0">
                <a:solidFill>
                  <a:srgbClr val="1F2937"/>
                </a:solidFill>
                <a:latin typeface="Calibri" pitchFamily="34" charset="0"/>
                <a:ea typeface="Calibri" pitchFamily="34" charset="-122"/>
                <a:cs typeface="Calibri" pitchFamily="34" charset="-120"/>
              </a:rPr>
              <a:t>más compleja de administrar y de asegurar.</a:t>
            </a:r>
            <a:endParaRPr lang="en-US" sz="2150" dirty="0"/>
          </a:p>
          <a:p>
            <a:pPr marL="228600" indent="-228600">
              <a:spcAft>
                <a:spcPts val="800"/>
              </a:spcAft>
              <a:buSzPct val="100000"/>
              <a:buChar char="•"/>
            </a:pPr>
            <a:r>
              <a:rPr lang="en-US" sz="2150" b="1" dirty="0">
                <a:solidFill>
                  <a:srgbClr val="0E7C86"/>
                </a:solidFill>
                <a:latin typeface="Calibri" pitchFamily="34" charset="0"/>
                <a:ea typeface="Calibri" pitchFamily="34" charset="-122"/>
                <a:cs typeface="Calibri" pitchFamily="34" charset="-120"/>
              </a:rPr>
              <a:t>Conexión: </a:t>
            </a:r>
            <a:pPr indent="0" marL="0">
              <a:buNone/>
            </a:pPr>
            <a:r>
              <a:rPr lang="en-US" sz="2150" dirty="0">
                <a:solidFill>
                  <a:srgbClr val="1F2937"/>
                </a:solidFill>
                <a:latin typeface="Calibri" pitchFamily="34" charset="0"/>
                <a:ea typeface="Calibri" pitchFamily="34" charset="-122"/>
                <a:cs typeface="Calibri" pitchFamily="34" charset="-120"/>
              </a:rPr>
              <a:t>VPN o enlaces dedicados entre ambas nubes.</a:t>
            </a:r>
            <a:endParaRPr lang="en-US" sz="2150" dirty="0"/>
          </a:p>
          <a:p>
            <a:pPr marL="228600" indent="-228600">
              <a:spcAft>
                <a:spcPts val="800"/>
              </a:spcAft>
              <a:buSzPct val="100000"/>
              <a:buChar char="•"/>
            </a:pPr>
            <a:r>
              <a:rPr lang="en-US" sz="2150" b="1" dirty="0">
                <a:solidFill>
                  <a:srgbClr val="0E7C86"/>
                </a:solidFill>
                <a:latin typeface="Calibri" pitchFamily="34" charset="0"/>
                <a:ea typeface="Calibri" pitchFamily="34" charset="-122"/>
                <a:cs typeface="Calibri" pitchFamily="34" charset="-120"/>
              </a:rPr>
              <a:t>Ideal para: </a:t>
            </a:r>
            <a:pPr indent="0" marL="0">
              <a:buNone/>
            </a:pPr>
            <a:r>
              <a:rPr lang="en-US" sz="2150" dirty="0">
                <a:solidFill>
                  <a:srgbClr val="1F2937"/>
                </a:solidFill>
                <a:latin typeface="Calibri" pitchFamily="34" charset="0"/>
                <a:ea typeface="Calibri" pitchFamily="34" charset="-122"/>
                <a:cs typeface="Calibri" pitchFamily="34" charset="-120"/>
              </a:rPr>
              <a:t>organizaciones medianas y grandes con datos sensibles y demanda variable.</a:t>
            </a:r>
            <a:endParaRPr lang="en-US" sz="2150" dirty="0"/>
          </a:p>
        </p:txBody>
      </p:sp>
      <p:sp>
        <p:nvSpPr>
          <p:cNvPr id="7" name="Shape 4"/>
          <p:cNvSpPr/>
          <p:nvPr/>
        </p:nvSpPr>
        <p:spPr>
          <a:xfrm>
            <a:off x="7863840" y="1371600"/>
            <a:ext cx="3749040" cy="4754880"/>
          </a:xfrm>
          <a:prstGeom prst="roundRect">
            <a:avLst>
              <a:gd name="adj" fmla="val 3659"/>
            </a:avLst>
          </a:prstGeom>
          <a:solidFill>
            <a:srgbClr val="D5EEF0"/>
          </a:solidFill>
          <a:ln w="12700">
            <a:solidFill>
              <a:srgbClr val="D5EEF0"/>
            </a:solidFill>
            <a:prstDash val="solid"/>
          </a:ln>
        </p:spPr>
      </p:sp>
      <p:sp>
        <p:nvSpPr>
          <p:cNvPr id="8" name="Shape 5"/>
          <p:cNvSpPr/>
          <p:nvPr/>
        </p:nvSpPr>
        <p:spPr>
          <a:xfrm>
            <a:off x="8138160" y="1645920"/>
            <a:ext cx="640080" cy="64008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8304581" y="1812341"/>
            <a:ext cx="307238" cy="307238"/>
          </a:xfrm>
          <a:prstGeom prst="rect">
            <a:avLst/>
          </a:prstGeom>
        </p:spPr>
      </p:pic>
      <p:sp>
        <p:nvSpPr>
          <p:cNvPr id="10" name="Text 6"/>
          <p:cNvSpPr txBox="1"/>
          <p:nvPr/>
        </p:nvSpPr>
        <p:spPr>
          <a:xfrm>
            <a:off x="8915400" y="1645920"/>
            <a:ext cx="256032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Ejemplo</a:t>
            </a:r>
            <a:endParaRPr lang="en-US" sz="1800" dirty="0"/>
          </a:p>
        </p:txBody>
      </p:sp>
      <p:sp>
        <p:nvSpPr>
          <p:cNvPr id="11" name="Text 7"/>
          <p:cNvSpPr txBox="1"/>
          <p:nvPr/>
        </p:nvSpPr>
        <p:spPr>
          <a:xfrm>
            <a:off x="8138160" y="2514600"/>
            <a:ext cx="3200400" cy="3474720"/>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Un banco guarda las cuentas de sus clientes en su nube privada, pero su app móvil y su página de promociones corren en la nube pública para soportar miles de visitas el día de pago.</a:t>
            </a:r>
            <a:endParaRPr lang="en-US" sz="2000" dirty="0"/>
          </a:p>
        </p:txBody>
      </p:sp>
      <p:sp>
        <p:nvSpPr>
          <p:cNvPr id="12" name="Text 8"/>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53</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Comparación de modelos de despliegue</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73604"/>
                <a:gridCol w="2773604"/>
                <a:gridCol w="2773604"/>
                <a:gridCol w="2773604"/>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Criterio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Pública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Privada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Híbrida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B2545"/>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Propietario de la infraestructura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El proveedor</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La organización (o un tercero dedicado)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Ambos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Costo inicial</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Muy bajo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Alto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Medio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Control y personalización</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Bajo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Muy alto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Alto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Escalabilidad</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Casi ilimitada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Limitada a sus equipos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Alta (usa la pública en picos)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Seguridad y cumplimiento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Compartida con el proveedor</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Total control propio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Datos sensibles en la privada</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1F7F9"/>
                    </a:solidFill>
                  </a:tcPr>
                </a:tc>
              </a:tr>
              <a:tr h="0">
                <a:tc>
                  <a:txBody>
                    <a:bodyPr/>
                    <a:lstStyle/>
                    <a:p>
                      <a:pPr indent="0" marL="0">
                        <a:buNone/>
                      </a:pPr>
                      <a:r>
                        <a:rPr lang="en-US" sz="1600" b="1" dirty="0">
                          <a:solidFill>
                            <a:srgbClr val="0B2545"/>
                          </a:solidFill>
                          <a:latin typeface="Calibri" pitchFamily="34" charset="0"/>
                          <a:ea typeface="Calibri" pitchFamily="34" charset="-122"/>
                          <a:cs typeface="Calibri" pitchFamily="34" charset="-120"/>
                        </a:rPr>
                        <a:t>Ejemplo</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Cafetería con Gmail y Shopify</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Hospital con expedientes</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Banco con app móvil</a:t>
                      </a:r>
                      <a:endParaRPr lang="en-US" sz="1600" dirty="0">
                        <a:latin typeface="Calibri" charset="0"/>
                        <a:ea typeface="Calibri" charset="0"/>
                        <a:cs typeface="Calibri" charset="0"/>
                      </a:endParaRPr>
                    </a:p>
                  </a:txBody>
                  <a:tcPr marL="101600" marR="101600" marT="76200" marB="76200"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54</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0E7C86"/>
          </a:solidFill>
          <a:ln w="12700">
            <a:solidFill>
              <a:srgbClr val="0E7C86"/>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10225735"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Caso integrador: la cooperativa de café</a:t>
            </a:r>
            <a:endParaRPr lang="en-US" sz="3200" dirty="0"/>
          </a:p>
        </p:txBody>
      </p:sp>
      <p:sp>
        <p:nvSpPr>
          <p:cNvPr id="5" name="Shape 2"/>
          <p:cNvSpPr/>
          <p:nvPr/>
        </p:nvSpPr>
        <p:spPr>
          <a:xfrm>
            <a:off x="548640" y="1417320"/>
            <a:ext cx="4023360" cy="3840480"/>
          </a:xfrm>
          <a:prstGeom prst="roundRect">
            <a:avLst>
              <a:gd name="adj" fmla="val 2857"/>
            </a:avLst>
          </a:prstGeom>
          <a:solidFill>
            <a:srgbClr val="0B2545"/>
          </a:solidFill>
          <a:ln w="12700">
            <a:solidFill>
              <a:srgbClr val="0B2545"/>
            </a:solidFill>
            <a:prstDash val="solid"/>
          </a:ln>
        </p:spPr>
      </p:sp>
      <p:sp>
        <p:nvSpPr>
          <p:cNvPr id="6" name="Shape 3"/>
          <p:cNvSpPr/>
          <p:nvPr/>
        </p:nvSpPr>
        <p:spPr>
          <a:xfrm>
            <a:off x="822960" y="1691640"/>
            <a:ext cx="548640" cy="548640"/>
          </a:xfrm>
          <a:prstGeom prst="ellipse">
            <a:avLst/>
          </a:prstGeom>
          <a:solidFill>
            <a:srgbClr val="F4A261"/>
          </a:solidFill>
          <a:ln w="12700">
            <a:solidFill>
              <a:srgbClr val="F4A261"/>
            </a:solidFill>
            <a:prstDash val="solid"/>
          </a:ln>
        </p:spPr>
      </p:sp>
      <p:pic>
        <p:nvPicPr>
          <p:cNvPr id="7" name="Image 1" descr="preencoded.png">    </p:cNvPr>
          <p:cNvPicPr>
            <a:picLocks noChangeAspect="1"/>
          </p:cNvPicPr>
          <p:nvPr/>
        </p:nvPicPr>
        <p:blipFill>
          <a:blip r:embed="rId2"/>
          <a:stretch>
            <a:fillRect/>
          </a:stretch>
        </p:blipFill>
        <p:spPr>
          <a:xfrm>
            <a:off x="965606" y="1834286"/>
            <a:ext cx="263347" cy="263347"/>
          </a:xfrm>
          <a:prstGeom prst="rect">
            <a:avLst/>
          </a:prstGeom>
        </p:spPr>
      </p:pic>
      <p:sp>
        <p:nvSpPr>
          <p:cNvPr id="8" name="Text 4"/>
          <p:cNvSpPr txBox="1"/>
          <p:nvPr/>
        </p:nvSpPr>
        <p:spPr>
          <a:xfrm>
            <a:off x="1508760" y="1691640"/>
            <a:ext cx="27432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Situación</a:t>
            </a:r>
            <a:endParaRPr lang="en-US" sz="1900" dirty="0"/>
          </a:p>
        </p:txBody>
      </p:sp>
      <p:sp>
        <p:nvSpPr>
          <p:cNvPr id="9" name="Text 5"/>
          <p:cNvSpPr txBox="1"/>
          <p:nvPr/>
        </p:nvSpPr>
        <p:spPr>
          <a:xfrm>
            <a:off x="822960" y="2423160"/>
            <a:ext cx="3474720" cy="2651760"/>
          </a:xfrm>
          <a:prstGeom prst="rect">
            <a:avLst/>
          </a:prstGeom>
          <a:noFill/>
          <a:ln/>
        </p:spPr>
        <p:txBody>
          <a:bodyPr wrap="square" lIns="0" tIns="0" rIns="0" bIns="0" rtlCol="0" anchor="t"/>
          <a:lstStyle/>
          <a:p>
            <a:pPr indent="0" marL="0">
              <a:buNone/>
            </a:pPr>
            <a:r>
              <a:rPr lang="en-US" sz="1800" dirty="0">
                <a:solidFill>
                  <a:srgbClr val="E6F2F4"/>
                </a:solidFill>
                <a:latin typeface="Calibri" pitchFamily="34" charset="0"/>
                <a:ea typeface="Calibri" pitchFamily="34" charset="-122"/>
                <a:cs typeface="Calibri" pitchFamily="34" charset="-120"/>
              </a:rPr>
              <a:t>La Cooperativa Los Santos tiene 60 empleados, 1 200 asociados y 3 servidores viejos en una bodega. Necesita correo, un sistema contable con datos personales y una tienda en línea que en diciembre recibe 10 veces más visitas.</a:t>
            </a:r>
            <a:endParaRPr lang="en-US" sz="1800" dirty="0"/>
          </a:p>
        </p:txBody>
      </p:sp>
      <p:sp>
        <p:nvSpPr>
          <p:cNvPr id="10" name="Shape 6"/>
          <p:cNvSpPr/>
          <p:nvPr/>
        </p:nvSpPr>
        <p:spPr>
          <a:xfrm>
            <a:off x="4892040" y="1417320"/>
            <a:ext cx="6751015" cy="857250"/>
          </a:xfrm>
          <a:prstGeom prst="roundRect">
            <a:avLst>
              <a:gd name="adj" fmla="val 8533"/>
            </a:avLst>
          </a:prstGeom>
          <a:solidFill>
            <a:srgbClr val="F1F7F9"/>
          </a:solidFill>
          <a:ln w="9525">
            <a:solidFill>
              <a:srgbClr val="DCE6EA"/>
            </a:solidFill>
            <a:prstDash val="solid"/>
          </a:ln>
        </p:spPr>
      </p:sp>
      <p:sp>
        <p:nvSpPr>
          <p:cNvPr id="11" name="Shape 7"/>
          <p:cNvSpPr/>
          <p:nvPr/>
        </p:nvSpPr>
        <p:spPr>
          <a:xfrm>
            <a:off x="5074920" y="1617345"/>
            <a:ext cx="457200" cy="457200"/>
          </a:xfrm>
          <a:prstGeom prst="ellipse">
            <a:avLst/>
          </a:prstGeom>
          <a:solidFill>
            <a:srgbClr val="0E7C86"/>
          </a:solidFill>
          <a:ln w="12700">
            <a:solidFill>
              <a:srgbClr val="0E7C86"/>
            </a:solidFill>
            <a:prstDash val="solid"/>
          </a:ln>
        </p:spPr>
      </p:sp>
      <p:sp>
        <p:nvSpPr>
          <p:cNvPr id="12" name="Text 8"/>
          <p:cNvSpPr txBox="1"/>
          <p:nvPr/>
        </p:nvSpPr>
        <p:spPr>
          <a:xfrm>
            <a:off x="5074920" y="161734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9"/>
          <p:cNvSpPr txBox="1"/>
          <p:nvPr/>
        </p:nvSpPr>
        <p:spPr>
          <a:xfrm>
            <a:off x="5715000" y="1463040"/>
            <a:ext cx="5790895" cy="765810"/>
          </a:xfrm>
          <a:prstGeom prst="rect">
            <a:avLst/>
          </a:prstGeom>
          <a:noFill/>
          <a:ln/>
        </p:spPr>
        <p:txBody>
          <a:bodyPr wrap="square" lIns="0" tIns="0" rIns="0" bIns="0" rtlCol="0" anchor="ctr"/>
          <a:lstStyle/>
          <a:p>
            <a:pPr indent="0" marL="0">
              <a:buNone/>
            </a:pPr>
            <a:r>
              <a:rPr lang="en-US" sz="1650" dirty="0">
                <a:solidFill>
                  <a:srgbClr val="1F2937"/>
                </a:solidFill>
                <a:latin typeface="Calibri" pitchFamily="34" charset="0"/>
                <a:ea typeface="Calibri" pitchFamily="34" charset="-122"/>
                <a:cs typeface="Calibri" pitchFamily="34" charset="-120"/>
              </a:rPr>
              <a:t>Correo y documentos: SaaS en nube pública (Microsoft 365 o Google Workspace).</a:t>
            </a:r>
            <a:endParaRPr lang="en-US" sz="1650" dirty="0"/>
          </a:p>
        </p:txBody>
      </p:sp>
      <p:sp>
        <p:nvSpPr>
          <p:cNvPr id="14" name="Shape 10"/>
          <p:cNvSpPr/>
          <p:nvPr/>
        </p:nvSpPr>
        <p:spPr>
          <a:xfrm>
            <a:off x="4892040" y="2411730"/>
            <a:ext cx="6751015" cy="857250"/>
          </a:xfrm>
          <a:prstGeom prst="roundRect">
            <a:avLst>
              <a:gd name="adj" fmla="val 8533"/>
            </a:avLst>
          </a:prstGeom>
          <a:solidFill>
            <a:srgbClr val="FFFFFF"/>
          </a:solidFill>
          <a:ln w="9525">
            <a:solidFill>
              <a:srgbClr val="DCE6EA"/>
            </a:solidFill>
            <a:prstDash val="solid"/>
          </a:ln>
        </p:spPr>
      </p:sp>
      <p:sp>
        <p:nvSpPr>
          <p:cNvPr id="15" name="Shape 11"/>
          <p:cNvSpPr/>
          <p:nvPr/>
        </p:nvSpPr>
        <p:spPr>
          <a:xfrm>
            <a:off x="5074920" y="2611755"/>
            <a:ext cx="457200" cy="457200"/>
          </a:xfrm>
          <a:prstGeom prst="ellipse">
            <a:avLst/>
          </a:prstGeom>
          <a:solidFill>
            <a:srgbClr val="0E7C86"/>
          </a:solidFill>
          <a:ln w="12700">
            <a:solidFill>
              <a:srgbClr val="0E7C86"/>
            </a:solidFill>
            <a:prstDash val="solid"/>
          </a:ln>
        </p:spPr>
      </p:sp>
      <p:sp>
        <p:nvSpPr>
          <p:cNvPr id="16" name="Text 12"/>
          <p:cNvSpPr txBox="1"/>
          <p:nvPr/>
        </p:nvSpPr>
        <p:spPr>
          <a:xfrm>
            <a:off x="5074920" y="261175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3"/>
          <p:cNvSpPr txBox="1"/>
          <p:nvPr/>
        </p:nvSpPr>
        <p:spPr>
          <a:xfrm>
            <a:off x="5715000" y="2457450"/>
            <a:ext cx="5790895" cy="765810"/>
          </a:xfrm>
          <a:prstGeom prst="rect">
            <a:avLst/>
          </a:prstGeom>
          <a:noFill/>
          <a:ln/>
        </p:spPr>
        <p:txBody>
          <a:bodyPr wrap="square" lIns="0" tIns="0" rIns="0" bIns="0" rtlCol="0" anchor="ctr"/>
          <a:lstStyle/>
          <a:p>
            <a:pPr indent="0" marL="0">
              <a:buNone/>
            </a:pPr>
            <a:r>
              <a:rPr lang="en-US" sz="1650" dirty="0">
                <a:solidFill>
                  <a:srgbClr val="1F2937"/>
                </a:solidFill>
                <a:latin typeface="Calibri" pitchFamily="34" charset="0"/>
                <a:ea typeface="Calibri" pitchFamily="34" charset="-122"/>
                <a:cs typeface="Calibri" pitchFamily="34" charset="-120"/>
              </a:rPr>
              <a:t>Contabilidad y datos de asociados: IaaS o SaaS con cifrado; si se queda en sitio, virtualizar con Hyper-V.</a:t>
            </a:r>
            <a:endParaRPr lang="en-US" sz="1650" dirty="0"/>
          </a:p>
        </p:txBody>
      </p:sp>
      <p:sp>
        <p:nvSpPr>
          <p:cNvPr id="18" name="Shape 14"/>
          <p:cNvSpPr/>
          <p:nvPr/>
        </p:nvSpPr>
        <p:spPr>
          <a:xfrm>
            <a:off x="4892040" y="3406140"/>
            <a:ext cx="6751015" cy="857250"/>
          </a:xfrm>
          <a:prstGeom prst="roundRect">
            <a:avLst>
              <a:gd name="adj" fmla="val 8533"/>
            </a:avLst>
          </a:prstGeom>
          <a:solidFill>
            <a:srgbClr val="F1F7F9"/>
          </a:solidFill>
          <a:ln w="9525">
            <a:solidFill>
              <a:srgbClr val="DCE6EA"/>
            </a:solidFill>
            <a:prstDash val="solid"/>
          </a:ln>
        </p:spPr>
      </p:sp>
      <p:sp>
        <p:nvSpPr>
          <p:cNvPr id="19" name="Shape 15"/>
          <p:cNvSpPr/>
          <p:nvPr/>
        </p:nvSpPr>
        <p:spPr>
          <a:xfrm>
            <a:off x="5074920" y="3606165"/>
            <a:ext cx="457200" cy="457200"/>
          </a:xfrm>
          <a:prstGeom prst="ellipse">
            <a:avLst/>
          </a:prstGeom>
          <a:solidFill>
            <a:srgbClr val="0E7C86"/>
          </a:solidFill>
          <a:ln w="12700">
            <a:solidFill>
              <a:srgbClr val="0E7C86"/>
            </a:solidFill>
            <a:prstDash val="solid"/>
          </a:ln>
        </p:spPr>
      </p:sp>
      <p:sp>
        <p:nvSpPr>
          <p:cNvPr id="20" name="Text 16"/>
          <p:cNvSpPr txBox="1"/>
          <p:nvPr/>
        </p:nvSpPr>
        <p:spPr>
          <a:xfrm>
            <a:off x="5074920" y="360616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7"/>
          <p:cNvSpPr txBox="1"/>
          <p:nvPr/>
        </p:nvSpPr>
        <p:spPr>
          <a:xfrm>
            <a:off x="5715000" y="3451860"/>
            <a:ext cx="5790895" cy="765810"/>
          </a:xfrm>
          <a:prstGeom prst="rect">
            <a:avLst/>
          </a:prstGeom>
          <a:noFill/>
          <a:ln/>
        </p:spPr>
        <p:txBody>
          <a:bodyPr wrap="square" lIns="0" tIns="0" rIns="0" bIns="0" rtlCol="0" anchor="ctr"/>
          <a:lstStyle/>
          <a:p>
            <a:pPr indent="0" marL="0">
              <a:buNone/>
            </a:pPr>
            <a:r>
              <a:rPr lang="en-US" sz="1650" dirty="0">
                <a:solidFill>
                  <a:srgbClr val="1F2937"/>
                </a:solidFill>
                <a:latin typeface="Calibri" pitchFamily="34" charset="0"/>
                <a:ea typeface="Calibri" pitchFamily="34" charset="-122"/>
                <a:cs typeface="Calibri" pitchFamily="34" charset="-120"/>
              </a:rPr>
              <a:t>Tienda en línea: PaaS o SaaS en nube pública por la elasticidad de diciembre.</a:t>
            </a:r>
            <a:endParaRPr lang="en-US" sz="1650" dirty="0"/>
          </a:p>
        </p:txBody>
      </p:sp>
      <p:sp>
        <p:nvSpPr>
          <p:cNvPr id="22" name="Shape 18"/>
          <p:cNvSpPr/>
          <p:nvPr/>
        </p:nvSpPr>
        <p:spPr>
          <a:xfrm>
            <a:off x="4892040" y="4400550"/>
            <a:ext cx="6751015" cy="857250"/>
          </a:xfrm>
          <a:prstGeom prst="roundRect">
            <a:avLst>
              <a:gd name="adj" fmla="val 8533"/>
            </a:avLst>
          </a:prstGeom>
          <a:solidFill>
            <a:srgbClr val="FFFFFF"/>
          </a:solidFill>
          <a:ln w="9525">
            <a:solidFill>
              <a:srgbClr val="DCE6EA"/>
            </a:solidFill>
            <a:prstDash val="solid"/>
          </a:ln>
        </p:spPr>
      </p:sp>
      <p:sp>
        <p:nvSpPr>
          <p:cNvPr id="23" name="Shape 19"/>
          <p:cNvSpPr/>
          <p:nvPr/>
        </p:nvSpPr>
        <p:spPr>
          <a:xfrm>
            <a:off x="5074920" y="4600575"/>
            <a:ext cx="457200" cy="457200"/>
          </a:xfrm>
          <a:prstGeom prst="ellipse">
            <a:avLst/>
          </a:prstGeom>
          <a:solidFill>
            <a:srgbClr val="0E7C86"/>
          </a:solidFill>
          <a:ln w="12700">
            <a:solidFill>
              <a:srgbClr val="0E7C86"/>
            </a:solidFill>
            <a:prstDash val="solid"/>
          </a:ln>
        </p:spPr>
      </p:sp>
      <p:sp>
        <p:nvSpPr>
          <p:cNvPr id="24" name="Text 20"/>
          <p:cNvSpPr txBox="1"/>
          <p:nvPr/>
        </p:nvSpPr>
        <p:spPr>
          <a:xfrm>
            <a:off x="5074920" y="460057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1"/>
          <p:cNvSpPr txBox="1"/>
          <p:nvPr/>
        </p:nvSpPr>
        <p:spPr>
          <a:xfrm>
            <a:off x="5715000" y="4446270"/>
            <a:ext cx="5790895" cy="765810"/>
          </a:xfrm>
          <a:prstGeom prst="rect">
            <a:avLst/>
          </a:prstGeom>
          <a:noFill/>
          <a:ln/>
        </p:spPr>
        <p:txBody>
          <a:bodyPr wrap="square" lIns="0" tIns="0" rIns="0" bIns="0" rtlCol="0" anchor="ctr"/>
          <a:lstStyle/>
          <a:p>
            <a:pPr indent="0" marL="0">
              <a:buNone/>
            </a:pPr>
            <a:r>
              <a:rPr lang="en-US" sz="1650" dirty="0">
                <a:solidFill>
                  <a:srgbClr val="1F2937"/>
                </a:solidFill>
                <a:latin typeface="Calibri" pitchFamily="34" charset="0"/>
                <a:ea typeface="Calibri" pitchFamily="34" charset="-122"/>
                <a:cs typeface="Calibri" pitchFamily="34" charset="-120"/>
              </a:rPr>
              <a:t>Modelo general: nube híbrida, con contratación por suscripción y bajo demanda.</a:t>
            </a:r>
            <a:endParaRPr lang="en-US" sz="1650" dirty="0"/>
          </a:p>
        </p:txBody>
      </p:sp>
      <p:sp>
        <p:nvSpPr>
          <p:cNvPr id="26" name="Shape 22"/>
          <p:cNvSpPr/>
          <p:nvPr/>
        </p:nvSpPr>
        <p:spPr>
          <a:xfrm>
            <a:off x="548640" y="5440680"/>
            <a:ext cx="11094415" cy="731520"/>
          </a:xfrm>
          <a:prstGeom prst="roundRect">
            <a:avLst>
              <a:gd name="adj" fmla="val 12500"/>
            </a:avLst>
          </a:prstGeom>
          <a:solidFill>
            <a:srgbClr val="FDF1E7"/>
          </a:solidFill>
          <a:ln w="12700">
            <a:solidFill>
              <a:srgbClr val="FDF1E7"/>
            </a:solidFill>
            <a:prstDash val="solid"/>
          </a:ln>
        </p:spPr>
      </p:sp>
      <p:sp>
        <p:nvSpPr>
          <p:cNvPr id="27" name="Shape 23"/>
          <p:cNvSpPr/>
          <p:nvPr/>
        </p:nvSpPr>
        <p:spPr>
          <a:xfrm>
            <a:off x="731520" y="5532120"/>
            <a:ext cx="548640" cy="548640"/>
          </a:xfrm>
          <a:prstGeom prst="ellipse">
            <a:avLst/>
          </a:prstGeom>
          <a:solidFill>
            <a:srgbClr val="F4A261"/>
          </a:solidFill>
          <a:ln w="12700">
            <a:solidFill>
              <a:srgbClr val="F4A261"/>
            </a:solidFill>
            <a:prstDash val="solid"/>
          </a:ln>
        </p:spPr>
      </p:sp>
      <p:pic>
        <p:nvPicPr>
          <p:cNvPr id="28" name="Image 2" descr="preencoded.png">    </p:cNvPr>
          <p:cNvPicPr>
            <a:picLocks noChangeAspect="1"/>
          </p:cNvPicPr>
          <p:nvPr/>
        </p:nvPicPr>
        <p:blipFill>
          <a:blip r:embed="rId3"/>
          <a:stretch>
            <a:fillRect/>
          </a:stretch>
        </p:blipFill>
        <p:spPr>
          <a:xfrm>
            <a:off x="874166" y="5674766"/>
            <a:ext cx="263347" cy="263347"/>
          </a:xfrm>
          <a:prstGeom prst="rect">
            <a:avLst/>
          </a:prstGeom>
        </p:spPr>
      </p:pic>
      <p:sp>
        <p:nvSpPr>
          <p:cNvPr id="29" name="Text 24"/>
          <p:cNvSpPr txBox="1"/>
          <p:nvPr/>
        </p:nvSpPr>
        <p:spPr>
          <a:xfrm>
            <a:off x="1463040" y="5440680"/>
            <a:ext cx="9997135" cy="73152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Este es el tipo de análisis que harán en el Cotidiano N.º 2 y en el proyecto CloudSegura CR.</a:t>
            </a:r>
            <a:endParaRPr lang="en-US" sz="1600" dirty="0"/>
          </a:p>
        </p:txBody>
      </p:sp>
      <p:sp>
        <p:nvSpPr>
          <p:cNvPr id="30" name="Text 25"/>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RA1 · Nube y virtualización  ·  55</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F4A261"/>
          </a:solidFill>
          <a:ln w="12700">
            <a:solidFill>
              <a:srgbClr val="F4A261"/>
            </a:solidFill>
            <a:prstDash val="solid"/>
          </a:ln>
        </p:spPr>
      </p:sp>
      <p:pic>
        <p:nvPicPr>
          <p:cNvPr id="3" name="Image 0" descr="preencoded.png">    </p:cNvPr>
          <p:cNvPicPr>
            <a:picLocks noChangeAspect="1"/>
          </p:cNvPicPr>
          <p:nvPr/>
        </p:nvPicPr>
        <p:blipFill>
          <a:blip r:embed="rId1"/>
          <a:stretch>
            <a:fillRect/>
          </a:stretch>
        </p:blipFill>
        <p:spPr>
          <a:xfrm>
            <a:off x="726948" y="589788"/>
            <a:ext cx="329184" cy="329184"/>
          </a:xfrm>
          <a:prstGeom prst="rect">
            <a:avLst/>
          </a:prstGeom>
        </p:spPr>
      </p:pic>
      <p:sp>
        <p:nvSpPr>
          <p:cNvPr id="4" name="Text 1"/>
          <p:cNvSpPr txBox="1"/>
          <p:nvPr/>
        </p:nvSpPr>
        <p:spPr>
          <a:xfrm>
            <a:off x="1417320" y="411480"/>
            <a:ext cx="91440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Repaso rápido</a:t>
            </a:r>
            <a:endParaRPr lang="en-US" sz="3200" dirty="0"/>
          </a:p>
        </p:txBody>
      </p:sp>
      <p:sp>
        <p:nvSpPr>
          <p:cNvPr id="5" name="Shape 2"/>
          <p:cNvSpPr/>
          <p:nvPr/>
        </p:nvSpPr>
        <p:spPr>
          <a:xfrm>
            <a:off x="548640" y="1417320"/>
            <a:ext cx="5410048" cy="1417320"/>
          </a:xfrm>
          <a:prstGeom prst="roundRect">
            <a:avLst>
              <a:gd name="adj" fmla="val 6452"/>
            </a:avLst>
          </a:prstGeom>
          <a:solidFill>
            <a:srgbClr val="13315C"/>
          </a:solidFill>
          <a:ln w="9525">
            <a:solidFill>
              <a:srgbClr val="2A4A78"/>
            </a:solidFill>
            <a:prstDash val="solid"/>
          </a:ln>
        </p:spPr>
      </p:sp>
      <p:sp>
        <p:nvSpPr>
          <p:cNvPr id="6" name="Text 3"/>
          <p:cNvSpPr txBox="1"/>
          <p:nvPr/>
        </p:nvSpPr>
        <p:spPr>
          <a:xfrm>
            <a:off x="731520" y="1554480"/>
            <a:ext cx="457200" cy="1143000"/>
          </a:xfrm>
          <a:prstGeom prst="rect">
            <a:avLst/>
          </a:prstGeom>
          <a:noFill/>
          <a:ln/>
        </p:spPr>
        <p:txBody>
          <a:bodyPr wrap="square" lIns="0" tIns="0" rIns="0" bIns="0" rtlCol="0" anchor="ctr"/>
          <a:lstStyle/>
          <a:p>
            <a:pPr indent="0" marL="0">
              <a:buNone/>
            </a:pPr>
            <a:r>
              <a:rPr lang="en-US" sz="2600" b="1" dirty="0">
                <a:solidFill>
                  <a:srgbClr val="F4A261"/>
                </a:solidFill>
                <a:latin typeface="Cambria" pitchFamily="34" charset="0"/>
                <a:ea typeface="Cambria" pitchFamily="34" charset="-122"/>
                <a:cs typeface="Cambria" pitchFamily="34" charset="-120"/>
              </a:rPr>
              <a:t>1</a:t>
            </a:r>
            <a:endParaRPr lang="en-US" sz="2600" dirty="0"/>
          </a:p>
        </p:txBody>
      </p:sp>
      <p:sp>
        <p:nvSpPr>
          <p:cNvPr id="7" name="Text 4"/>
          <p:cNvSpPr txBox="1"/>
          <p:nvPr/>
        </p:nvSpPr>
        <p:spPr>
          <a:xfrm>
            <a:off x="1280160" y="1527048"/>
            <a:ext cx="4495648" cy="11978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¿Qué diferencia a un hipervisor tipo 1 de uno tipo 2? Dé un ejemplo de cada uno.</a:t>
            </a:r>
            <a:endParaRPr lang="en-US" sz="1700" dirty="0"/>
          </a:p>
        </p:txBody>
      </p:sp>
      <p:sp>
        <p:nvSpPr>
          <p:cNvPr id="8" name="Shape 5"/>
          <p:cNvSpPr/>
          <p:nvPr/>
        </p:nvSpPr>
        <p:spPr>
          <a:xfrm>
            <a:off x="6233008" y="1417320"/>
            <a:ext cx="5410048" cy="1417320"/>
          </a:xfrm>
          <a:prstGeom prst="roundRect">
            <a:avLst>
              <a:gd name="adj" fmla="val 6452"/>
            </a:avLst>
          </a:prstGeom>
          <a:solidFill>
            <a:srgbClr val="13315C"/>
          </a:solidFill>
          <a:ln w="9525">
            <a:solidFill>
              <a:srgbClr val="2A4A78"/>
            </a:solidFill>
            <a:prstDash val="solid"/>
          </a:ln>
        </p:spPr>
      </p:sp>
      <p:sp>
        <p:nvSpPr>
          <p:cNvPr id="9" name="Text 6"/>
          <p:cNvSpPr txBox="1"/>
          <p:nvPr/>
        </p:nvSpPr>
        <p:spPr>
          <a:xfrm>
            <a:off x="6415888" y="1554480"/>
            <a:ext cx="457200" cy="1143000"/>
          </a:xfrm>
          <a:prstGeom prst="rect">
            <a:avLst/>
          </a:prstGeom>
          <a:noFill/>
          <a:ln/>
        </p:spPr>
        <p:txBody>
          <a:bodyPr wrap="square" lIns="0" tIns="0" rIns="0" bIns="0" rtlCol="0" anchor="ctr"/>
          <a:lstStyle/>
          <a:p>
            <a:pPr indent="0" marL="0">
              <a:buNone/>
            </a:pPr>
            <a:r>
              <a:rPr lang="en-US" sz="2600" b="1" dirty="0">
                <a:solidFill>
                  <a:srgbClr val="F4A261"/>
                </a:solidFill>
                <a:latin typeface="Cambria" pitchFamily="34" charset="0"/>
                <a:ea typeface="Cambria" pitchFamily="34" charset="-122"/>
                <a:cs typeface="Cambria" pitchFamily="34" charset="-120"/>
              </a:rPr>
              <a:t>2</a:t>
            </a:r>
            <a:endParaRPr lang="en-US" sz="2600" dirty="0"/>
          </a:p>
        </p:txBody>
      </p:sp>
      <p:sp>
        <p:nvSpPr>
          <p:cNvPr id="10" name="Text 7"/>
          <p:cNvSpPr txBox="1"/>
          <p:nvPr/>
        </p:nvSpPr>
        <p:spPr>
          <a:xfrm>
            <a:off x="6964528" y="1527048"/>
            <a:ext cx="4495648" cy="11978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¿Por qué un contenedor arranca más rápido que una VM?</a:t>
            </a:r>
            <a:endParaRPr lang="en-US" sz="1700" dirty="0"/>
          </a:p>
        </p:txBody>
      </p:sp>
      <p:sp>
        <p:nvSpPr>
          <p:cNvPr id="11" name="Shape 8"/>
          <p:cNvSpPr/>
          <p:nvPr/>
        </p:nvSpPr>
        <p:spPr>
          <a:xfrm>
            <a:off x="548640" y="3108960"/>
            <a:ext cx="5410048" cy="1417320"/>
          </a:xfrm>
          <a:prstGeom prst="roundRect">
            <a:avLst>
              <a:gd name="adj" fmla="val 6452"/>
            </a:avLst>
          </a:prstGeom>
          <a:solidFill>
            <a:srgbClr val="13315C"/>
          </a:solidFill>
          <a:ln w="9525">
            <a:solidFill>
              <a:srgbClr val="2A4A78"/>
            </a:solidFill>
            <a:prstDash val="solid"/>
          </a:ln>
        </p:spPr>
      </p:sp>
      <p:sp>
        <p:nvSpPr>
          <p:cNvPr id="12" name="Text 9"/>
          <p:cNvSpPr txBox="1"/>
          <p:nvPr/>
        </p:nvSpPr>
        <p:spPr>
          <a:xfrm>
            <a:off x="731520" y="3246120"/>
            <a:ext cx="457200" cy="1143000"/>
          </a:xfrm>
          <a:prstGeom prst="rect">
            <a:avLst/>
          </a:prstGeom>
          <a:noFill/>
          <a:ln/>
        </p:spPr>
        <p:txBody>
          <a:bodyPr wrap="square" lIns="0" tIns="0" rIns="0" bIns="0" rtlCol="0" anchor="ctr"/>
          <a:lstStyle/>
          <a:p>
            <a:pPr indent="0" marL="0">
              <a:buNone/>
            </a:pPr>
            <a:r>
              <a:rPr lang="en-US" sz="2600" b="1" dirty="0">
                <a:solidFill>
                  <a:srgbClr val="F4A261"/>
                </a:solidFill>
                <a:latin typeface="Cambria" pitchFamily="34" charset="0"/>
                <a:ea typeface="Cambria" pitchFamily="34" charset="-122"/>
                <a:cs typeface="Cambria" pitchFamily="34" charset="-120"/>
              </a:rPr>
              <a:t>3</a:t>
            </a:r>
            <a:endParaRPr lang="en-US" sz="2600" dirty="0"/>
          </a:p>
        </p:txBody>
      </p:sp>
      <p:sp>
        <p:nvSpPr>
          <p:cNvPr id="13" name="Text 10"/>
          <p:cNvSpPr txBox="1"/>
          <p:nvPr/>
        </p:nvSpPr>
        <p:spPr>
          <a:xfrm>
            <a:off x="1280160" y="3218688"/>
            <a:ext cx="4495648" cy="11978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Mencione las 5 características esenciales de la nube con un ejemplo.</a:t>
            </a:r>
            <a:endParaRPr lang="en-US" sz="1700" dirty="0"/>
          </a:p>
        </p:txBody>
      </p:sp>
      <p:sp>
        <p:nvSpPr>
          <p:cNvPr id="14" name="Shape 11"/>
          <p:cNvSpPr/>
          <p:nvPr/>
        </p:nvSpPr>
        <p:spPr>
          <a:xfrm>
            <a:off x="6233008" y="3108960"/>
            <a:ext cx="5410048" cy="1417320"/>
          </a:xfrm>
          <a:prstGeom prst="roundRect">
            <a:avLst>
              <a:gd name="adj" fmla="val 6452"/>
            </a:avLst>
          </a:prstGeom>
          <a:solidFill>
            <a:srgbClr val="13315C"/>
          </a:solidFill>
          <a:ln w="9525">
            <a:solidFill>
              <a:srgbClr val="2A4A78"/>
            </a:solidFill>
            <a:prstDash val="solid"/>
          </a:ln>
        </p:spPr>
      </p:sp>
      <p:sp>
        <p:nvSpPr>
          <p:cNvPr id="15" name="Text 12"/>
          <p:cNvSpPr txBox="1"/>
          <p:nvPr/>
        </p:nvSpPr>
        <p:spPr>
          <a:xfrm>
            <a:off x="6415888" y="3246120"/>
            <a:ext cx="457200" cy="1143000"/>
          </a:xfrm>
          <a:prstGeom prst="rect">
            <a:avLst/>
          </a:prstGeom>
          <a:noFill/>
          <a:ln/>
        </p:spPr>
        <p:txBody>
          <a:bodyPr wrap="square" lIns="0" tIns="0" rIns="0" bIns="0" rtlCol="0" anchor="ctr"/>
          <a:lstStyle/>
          <a:p>
            <a:pPr indent="0" marL="0">
              <a:buNone/>
            </a:pPr>
            <a:r>
              <a:rPr lang="en-US" sz="2600" b="1" dirty="0">
                <a:solidFill>
                  <a:srgbClr val="F4A261"/>
                </a:solidFill>
                <a:latin typeface="Cambria" pitchFamily="34" charset="0"/>
                <a:ea typeface="Cambria" pitchFamily="34" charset="-122"/>
                <a:cs typeface="Cambria" pitchFamily="34" charset="-120"/>
              </a:rPr>
              <a:t>4</a:t>
            </a:r>
            <a:endParaRPr lang="en-US" sz="2600" dirty="0"/>
          </a:p>
        </p:txBody>
      </p:sp>
      <p:sp>
        <p:nvSpPr>
          <p:cNvPr id="16" name="Text 13"/>
          <p:cNvSpPr txBox="1"/>
          <p:nvPr/>
        </p:nvSpPr>
        <p:spPr>
          <a:xfrm>
            <a:off x="6964528" y="3218688"/>
            <a:ext cx="4495648" cy="11978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¿Qué es un CPD y qué es un clúster?</a:t>
            </a:r>
            <a:endParaRPr lang="en-US" sz="1700" dirty="0"/>
          </a:p>
        </p:txBody>
      </p:sp>
      <p:sp>
        <p:nvSpPr>
          <p:cNvPr id="17" name="Shape 14"/>
          <p:cNvSpPr/>
          <p:nvPr/>
        </p:nvSpPr>
        <p:spPr>
          <a:xfrm>
            <a:off x="548640" y="4800600"/>
            <a:ext cx="5410048" cy="1417320"/>
          </a:xfrm>
          <a:prstGeom prst="roundRect">
            <a:avLst>
              <a:gd name="adj" fmla="val 6452"/>
            </a:avLst>
          </a:prstGeom>
          <a:solidFill>
            <a:srgbClr val="13315C"/>
          </a:solidFill>
          <a:ln w="9525">
            <a:solidFill>
              <a:srgbClr val="2A4A78"/>
            </a:solidFill>
            <a:prstDash val="solid"/>
          </a:ln>
        </p:spPr>
      </p:sp>
      <p:sp>
        <p:nvSpPr>
          <p:cNvPr id="18" name="Text 15"/>
          <p:cNvSpPr txBox="1"/>
          <p:nvPr/>
        </p:nvSpPr>
        <p:spPr>
          <a:xfrm>
            <a:off x="731520" y="4937760"/>
            <a:ext cx="457200" cy="1143000"/>
          </a:xfrm>
          <a:prstGeom prst="rect">
            <a:avLst/>
          </a:prstGeom>
          <a:noFill/>
          <a:ln/>
        </p:spPr>
        <p:txBody>
          <a:bodyPr wrap="square" lIns="0" tIns="0" rIns="0" bIns="0" rtlCol="0" anchor="ctr"/>
          <a:lstStyle/>
          <a:p>
            <a:pPr indent="0" marL="0">
              <a:buNone/>
            </a:pPr>
            <a:r>
              <a:rPr lang="en-US" sz="2600" b="1" dirty="0">
                <a:solidFill>
                  <a:srgbClr val="F4A261"/>
                </a:solidFill>
                <a:latin typeface="Cambria" pitchFamily="34" charset="0"/>
                <a:ea typeface="Cambria" pitchFamily="34" charset="-122"/>
                <a:cs typeface="Cambria" pitchFamily="34" charset="-120"/>
              </a:rPr>
              <a:t>5</a:t>
            </a:r>
            <a:endParaRPr lang="en-US" sz="2600" dirty="0"/>
          </a:p>
        </p:txBody>
      </p:sp>
      <p:sp>
        <p:nvSpPr>
          <p:cNvPr id="19" name="Text 16"/>
          <p:cNvSpPr txBox="1"/>
          <p:nvPr/>
        </p:nvSpPr>
        <p:spPr>
          <a:xfrm>
            <a:off x="1280160" y="4910328"/>
            <a:ext cx="4495648" cy="11978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¿Qué protege el proveedor y qué protege el cliente?</a:t>
            </a:r>
            <a:endParaRPr lang="en-US" sz="1700" dirty="0"/>
          </a:p>
        </p:txBody>
      </p:sp>
      <p:sp>
        <p:nvSpPr>
          <p:cNvPr id="20" name="Shape 17"/>
          <p:cNvSpPr/>
          <p:nvPr/>
        </p:nvSpPr>
        <p:spPr>
          <a:xfrm>
            <a:off x="6233008" y="4800600"/>
            <a:ext cx="5410048" cy="1417320"/>
          </a:xfrm>
          <a:prstGeom prst="roundRect">
            <a:avLst>
              <a:gd name="adj" fmla="val 6452"/>
            </a:avLst>
          </a:prstGeom>
          <a:solidFill>
            <a:srgbClr val="13315C"/>
          </a:solidFill>
          <a:ln w="9525">
            <a:solidFill>
              <a:srgbClr val="2A4A78"/>
            </a:solidFill>
            <a:prstDash val="solid"/>
          </a:ln>
        </p:spPr>
      </p:sp>
      <p:sp>
        <p:nvSpPr>
          <p:cNvPr id="21" name="Text 18"/>
          <p:cNvSpPr txBox="1"/>
          <p:nvPr/>
        </p:nvSpPr>
        <p:spPr>
          <a:xfrm>
            <a:off x="6415888" y="4937760"/>
            <a:ext cx="457200" cy="1143000"/>
          </a:xfrm>
          <a:prstGeom prst="rect">
            <a:avLst/>
          </a:prstGeom>
          <a:noFill/>
          <a:ln/>
        </p:spPr>
        <p:txBody>
          <a:bodyPr wrap="square" lIns="0" tIns="0" rIns="0" bIns="0" rtlCol="0" anchor="ctr"/>
          <a:lstStyle/>
          <a:p>
            <a:pPr indent="0" marL="0">
              <a:buNone/>
            </a:pPr>
            <a:r>
              <a:rPr lang="en-US" sz="2600" b="1" dirty="0">
                <a:solidFill>
                  <a:srgbClr val="F4A261"/>
                </a:solidFill>
                <a:latin typeface="Cambria" pitchFamily="34" charset="0"/>
                <a:ea typeface="Cambria" pitchFamily="34" charset="-122"/>
                <a:cs typeface="Cambria" pitchFamily="34" charset="-120"/>
              </a:rPr>
              <a:t>6</a:t>
            </a:r>
            <a:endParaRPr lang="en-US" sz="2600" dirty="0"/>
          </a:p>
        </p:txBody>
      </p:sp>
      <p:sp>
        <p:nvSpPr>
          <p:cNvPr id="22" name="Text 19"/>
          <p:cNvSpPr txBox="1"/>
          <p:nvPr/>
        </p:nvSpPr>
        <p:spPr>
          <a:xfrm>
            <a:off x="6964528" y="4910328"/>
            <a:ext cx="4495648" cy="11978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¿Qué modelo de despliegue recomendaría a un hospital? ¿Por qué?</a:t>
            </a:r>
            <a:endParaRPr lang="en-US" sz="1700" dirty="0"/>
          </a:p>
        </p:txBody>
      </p:sp>
      <p:sp>
        <p:nvSpPr>
          <p:cNvPr id="23" name="Text 20"/>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9FB3C8"/>
                </a:solidFill>
                <a:latin typeface="Calibri" pitchFamily="34" charset="0"/>
                <a:ea typeface="Calibri" pitchFamily="34" charset="-122"/>
                <a:cs typeface="Calibri" pitchFamily="34" charset="-120"/>
              </a:rPr>
              <a:t>RA1 · Nube y virtualización  ·  56</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412480" y="1097280"/>
            <a:ext cx="5029200" cy="5029200"/>
          </a:xfrm>
          <a:prstGeom prst="ellipse">
            <a:avLst/>
          </a:prstGeom>
          <a:solidFill>
            <a:srgbClr val="13315C"/>
          </a:solidFill>
          <a:ln w="12700">
            <a:solidFill>
              <a:srgbClr val="13315C"/>
            </a:solidFill>
            <a:prstDash val="solid"/>
          </a:ln>
        </p:spPr>
      </p:sp>
      <p:pic>
        <p:nvPicPr>
          <p:cNvPr id="3" name="Image 0" descr="preencoded.png">    </p:cNvPr>
          <p:cNvPicPr>
            <a:picLocks noChangeAspect="1"/>
          </p:cNvPicPr>
          <p:nvPr/>
        </p:nvPicPr>
        <p:blipFill>
          <a:blip r:embed="rId1"/>
          <a:stretch>
            <a:fillRect/>
          </a:stretch>
        </p:blipFill>
        <p:spPr>
          <a:xfrm>
            <a:off x="9464040" y="2377440"/>
            <a:ext cx="2377440" cy="2377440"/>
          </a:xfrm>
          <a:prstGeom prst="rect">
            <a:avLst/>
          </a:prstGeom>
        </p:spPr>
      </p:pic>
      <p:sp>
        <p:nvSpPr>
          <p:cNvPr id="4" name="Text 1"/>
          <p:cNvSpPr txBox="1"/>
          <p:nvPr/>
        </p:nvSpPr>
        <p:spPr>
          <a:xfrm>
            <a:off x="548640" y="914400"/>
            <a:ext cx="7772400" cy="9144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Para recordar</a:t>
            </a:r>
            <a:endParaRPr lang="en-US" sz="3800" dirty="0"/>
          </a:p>
        </p:txBody>
      </p:sp>
      <p:sp>
        <p:nvSpPr>
          <p:cNvPr id="5" name="Text 2"/>
          <p:cNvSpPr txBox="1"/>
          <p:nvPr/>
        </p:nvSpPr>
        <p:spPr>
          <a:xfrm>
            <a:off x="548640" y="2103120"/>
            <a:ext cx="7498080" cy="40233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E6F2F4"/>
                </a:solidFill>
                <a:latin typeface="Calibri" pitchFamily="34" charset="0"/>
                <a:ea typeface="Calibri" pitchFamily="34" charset="-122"/>
                <a:cs typeface="Calibri" pitchFamily="34" charset="-120"/>
              </a:rPr>
              <a:t>La nube = recursos por Internet, bajo demanda y con pago por uso.</a:t>
            </a:r>
            <a:endParaRPr lang="en-US" sz="2000" dirty="0"/>
          </a:p>
          <a:p>
            <a:pPr marL="228600" indent="-228600">
              <a:spcAft>
                <a:spcPts val="1000"/>
              </a:spcAft>
              <a:buSzPct val="100000"/>
              <a:buChar char="•"/>
            </a:pPr>
            <a:r>
              <a:rPr lang="en-US" sz="2000" dirty="0">
                <a:solidFill>
                  <a:srgbClr val="E6F2F4"/>
                </a:solidFill>
                <a:latin typeface="Calibri" pitchFamily="34" charset="0"/>
                <a:ea typeface="Calibri" pitchFamily="34" charset="-122"/>
                <a:cs typeface="Calibri" pitchFamily="34" charset="-120"/>
              </a:rPr>
              <a:t>La virtualización (hipervisor) es el cimiento de la nube.</a:t>
            </a:r>
            <a:endParaRPr lang="en-US" sz="2000" dirty="0"/>
          </a:p>
          <a:p>
            <a:pPr marL="228600" indent="-228600">
              <a:spcAft>
                <a:spcPts val="1000"/>
              </a:spcAft>
              <a:buSzPct val="100000"/>
              <a:buChar char="•"/>
            </a:pPr>
            <a:r>
              <a:rPr lang="en-US" sz="2000" dirty="0">
                <a:solidFill>
                  <a:srgbClr val="E6F2F4"/>
                </a:solidFill>
                <a:latin typeface="Calibri" pitchFamily="34" charset="0"/>
                <a:ea typeface="Calibri" pitchFamily="34" charset="-122"/>
                <a:cs typeface="Calibri" pitchFamily="34" charset="-120"/>
              </a:rPr>
              <a:t>IaaS, PaaS y SaaS definen cuánto administra cada parte.</a:t>
            </a:r>
            <a:endParaRPr lang="en-US" sz="2000" dirty="0"/>
          </a:p>
          <a:p>
            <a:pPr marL="228600" indent="-228600">
              <a:spcAft>
                <a:spcPts val="1000"/>
              </a:spcAft>
              <a:buSzPct val="100000"/>
              <a:buChar char="•"/>
            </a:pPr>
            <a:r>
              <a:rPr lang="en-US" sz="2000" dirty="0">
                <a:solidFill>
                  <a:srgbClr val="E6F2F4"/>
                </a:solidFill>
                <a:latin typeface="Calibri" pitchFamily="34" charset="0"/>
                <a:ea typeface="Calibri" pitchFamily="34" charset="-122"/>
                <a:cs typeface="Calibri" pitchFamily="34" charset="-120"/>
              </a:rPr>
              <a:t>Pública, privada e híbrida: se elige según control, costo y datos.</a:t>
            </a:r>
            <a:endParaRPr lang="en-US" sz="2000" dirty="0"/>
          </a:p>
          <a:p>
            <a:pPr marL="228600" indent="-228600">
              <a:spcAft>
                <a:spcPts val="1000"/>
              </a:spcAft>
              <a:buSzPct val="100000"/>
              <a:buChar char="•"/>
            </a:pPr>
            <a:r>
              <a:rPr lang="en-US" sz="2000" dirty="0">
                <a:solidFill>
                  <a:srgbClr val="E6F2F4"/>
                </a:solidFill>
                <a:latin typeface="Calibri" pitchFamily="34" charset="0"/>
                <a:ea typeface="Calibri" pitchFamily="34" charset="-122"/>
                <a:cs typeface="Calibri" pitchFamily="34" charset="-120"/>
              </a:rPr>
              <a:t>Seguridad: responsabilidad compartida entre cliente y proveedor.</a:t>
            </a:r>
            <a:endParaRPr lang="en-US" sz="2000" dirty="0"/>
          </a:p>
        </p:txBody>
      </p:sp>
      <p:sp>
        <p:nvSpPr>
          <p:cNvPr id="6" name="Text 3"/>
          <p:cNvSpPr txBox="1"/>
          <p:nvPr/>
        </p:nvSpPr>
        <p:spPr>
          <a:xfrm>
            <a:off x="7985455" y="6446520"/>
            <a:ext cx="3657600" cy="274320"/>
          </a:xfrm>
          <a:prstGeom prst="rect">
            <a:avLst/>
          </a:prstGeom>
          <a:noFill/>
          <a:ln/>
        </p:spPr>
        <p:txBody>
          <a:bodyPr wrap="square" lIns="0" tIns="0" rIns="0" bIns="0" rtlCol="0" anchor="t"/>
          <a:lstStyle/>
          <a:p>
            <a:pPr algn="r" indent="0" marL="0">
              <a:buNone/>
            </a:pPr>
            <a:r>
              <a:rPr lang="en-US" sz="1000" dirty="0">
                <a:solidFill>
                  <a:srgbClr val="9FB3C8"/>
                </a:solidFill>
                <a:latin typeface="Calibri" pitchFamily="34" charset="0"/>
                <a:ea typeface="Calibri" pitchFamily="34" charset="-122"/>
                <a:cs typeface="Calibri" pitchFamily="34" charset="-120"/>
              </a:rPr>
              <a:t>RA1 · Nube y virtualización  ·  57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RA1 Nube y virtualización</dc:title>
  <dc:subject>PptxGenJS Presentation</dc:subject>
  <dc:creator>Ciberseguridad 11°-3</dc:creator>
  <cp:lastModifiedBy>Ciberseguridad 11°-3</cp:lastModifiedBy>
  <cp:revision>1</cp:revision>
  <dcterms:created xsi:type="dcterms:W3CDTF">2026-09-29T14:48:56Z</dcterms:created>
  <dcterms:modified xsi:type="dcterms:W3CDTF">2026-09-29T14:48:56Z</dcterms:modified>
</cp:coreProperties>
</file>